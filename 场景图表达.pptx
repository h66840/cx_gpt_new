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69" r:id="rId3"/>
    <p:sldMasterId id="2147483672" r:id="rId4"/>
  </p:sldMasterIdLst>
  <p:notesMasterIdLst>
    <p:notesMasterId r:id="rId18"/>
  </p:notesMasterIdLst>
  <p:handoutMasterIdLst>
    <p:handoutMasterId r:id="rId19"/>
  </p:handoutMasterIdLst>
  <p:sldIdLst>
    <p:sldId id="3902" r:id="rId5"/>
    <p:sldId id="3901" r:id="rId6"/>
    <p:sldId id="3916" r:id="rId7"/>
    <p:sldId id="3923" r:id="rId8"/>
    <p:sldId id="3911" r:id="rId9"/>
    <p:sldId id="3912" r:id="rId10"/>
    <p:sldId id="3914" r:id="rId11"/>
    <p:sldId id="3913" r:id="rId12"/>
    <p:sldId id="3915" r:id="rId13"/>
    <p:sldId id="3917" r:id="rId14"/>
    <p:sldId id="3924" r:id="rId15"/>
    <p:sldId id="3925" r:id="rId16"/>
    <p:sldId id="3918" r:id="rId17"/>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 userDrawn="1">
          <p15:clr>
            <a:srgbClr val="A4A3A4"/>
          </p15:clr>
        </p15:guide>
        <p15:guide id="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ndows 用户" initials="W用" lastIdx="3" clrIdx="0"/>
  <p:cmAuthor id="1" name="wwz" initials="w" lastIdx="3" clrIdx="0"/>
  <p:cmAuthor id="2" name="wang weizhi" initials="ww" lastIdx="1" clrIdx="1"/>
  <p:cmAuthor id="3" name="gaoyy" initials="g" lastIdx="1" clrIdx="2"/>
  <p:cmAuthor id="4" name="曹 云飞" initials="曹" lastIdx="7" clrIdx="3"/>
  <p:cmAuthor id="5" name="Hua Wang" initials="HW" lastIdx="2" clrIdx="4"/>
  <p:cmAuthor id="6" name="Qualcomm" initials="QC" lastIdx="40" clrIdx="5"/>
  <p:cmAuthor id="7" name="Liangming" initials="QU" lastIdx="1" clrIdx="6"/>
  <p:cmAuthor id="8" name="艾 陌" initials="艾" lastIdx="4" clrIdx="7"/>
  <p:cmAuthor id="9" name="张艺檬" initials="张艺檬" lastIdx="16" clrIdx="8"/>
  <p:cmAuthor id="10" name="Liu chenyao" initials="Lc" lastIdx="2" clrIdx="9"/>
  <p:cmAuthor id="11" name="tu san" initials="ts" lastIdx="2" clrIdx="10"/>
  <p:cmAuthor id="12" name="晋瑶 周" initials="晋周" lastIdx="1" clrIdx="11">
    <p:extLst>
      <p:ext uri="{19B8F6BF-5375-455C-9EA6-DF929625EA0E}">
        <p15:presenceInfo xmlns:p15="http://schemas.microsoft.com/office/powerpoint/2012/main" userId="8b9d4a522d51576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a:srgbClr val="FF00FF"/>
    <a:srgbClr val="C21817"/>
    <a:srgbClr val="C21818"/>
    <a:srgbClr val="D07317"/>
    <a:srgbClr val="CF7317"/>
    <a:srgbClr val="FFFFFF"/>
    <a:srgbClr val="FFBA75"/>
    <a:srgbClr val="FFB974"/>
    <a:srgbClr val="E6BC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70722" autoAdjust="0"/>
  </p:normalViewPr>
  <p:slideViewPr>
    <p:cSldViewPr showGuides="1">
      <p:cViewPr varScale="1">
        <p:scale>
          <a:sx n="57" d="100"/>
          <a:sy n="57" d="100"/>
        </p:scale>
        <p:origin x="1978" y="43"/>
      </p:cViewPr>
      <p:guideLst>
        <p:guide orient="horz" pos="28"/>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ADA4B2-4B19-4D1D-B4AE-6A91B6A81295}" type="datetimeFigureOut">
              <a:rPr lang="zh-CN" altLang="en-US" smtClean="0"/>
              <a:t>2025/8/11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08E350-5C93-4EAC-A51A-977431E686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AE7ACA-BD9F-4D77-AB6E-315ACCA41D52}" type="datetimeFigureOut">
              <a:rPr lang="zh-CN" altLang="en-US" smtClean="0"/>
              <a:t>2025/8/11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4CDF23-0B28-487F-BDAF-0EE70AEF8EE9}"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E00E-23C1-0119-D53D-97F4C40C33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8E3EDC-C1F4-CA7D-8BF1-3279DADC047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1263CEE-7B39-9456-7934-B1E33D829392}"/>
              </a:ext>
            </a:extLst>
          </p:cNvPr>
          <p:cNvSpPr>
            <a:spLocks noGrp="1"/>
          </p:cNvSpPr>
          <p:nvPr>
            <p:ph type="body" idx="3"/>
          </p:nvPr>
        </p:nvSpPr>
        <p:spPr/>
        <p:txBody>
          <a:bodyPr/>
          <a:lstStyle/>
          <a:p>
            <a:r>
              <a:rPr lang="zh-CN" altLang="en-US" dirty="0"/>
              <a:t>同学们，大家好。这节课我们要学习的主题是视觉场景图生成，它是视觉推理中一个非常重要的概念。</a:t>
            </a:r>
          </a:p>
        </p:txBody>
      </p:sp>
      <p:sp>
        <p:nvSpPr>
          <p:cNvPr id="4" name="灯片编号占位符 3">
            <a:extLst>
              <a:ext uri="{FF2B5EF4-FFF2-40B4-BE49-F238E27FC236}">
                <a16:creationId xmlns:a16="http://schemas.microsoft.com/office/drawing/2014/main" id="{050B7A0E-8018-97AE-C286-ACDF97658CD8}"/>
              </a:ext>
            </a:extLst>
          </p:cNvPr>
          <p:cNvSpPr>
            <a:spLocks noGrp="1"/>
          </p:cNvSpPr>
          <p:nvPr>
            <p:ph type="sldNum" sz="quarter" idx="5"/>
          </p:nvPr>
        </p:nvSpPr>
        <p:spPr/>
        <p:txBody>
          <a:bodyPr/>
          <a:lstStyle/>
          <a:p>
            <a:fld id="{F74CDF23-0B28-487F-BDAF-0EE70AEF8EE9}" type="slidenum">
              <a:rPr lang="zh-CN" altLang="en-US" smtClean="0"/>
              <a:t>1</a:t>
            </a:fld>
            <a:endParaRPr lang="zh-CN" altLang="en-US"/>
          </a:p>
        </p:txBody>
      </p:sp>
    </p:spTree>
    <p:extLst>
      <p:ext uri="{BB962C8B-B14F-4D97-AF65-F5344CB8AC3E}">
        <p14:creationId xmlns:p14="http://schemas.microsoft.com/office/powerpoint/2010/main" val="1405680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们这门课要做的是视觉推理实验，视觉推理是指让机器在理解视觉内容的基础上，结合逻辑、语义和常识进行推理，以完成复杂任务，如视觉问答、图像检索、场景理解等。它是人工智能中视觉与语言交叉领域的重要研究方向，要求系统不仅“看见”图像，还要“理解”图像，并基于理解做出推断。</a:t>
            </a:r>
          </a:p>
          <a:p>
            <a:r>
              <a:rPr lang="zh-CN" altLang="en-US" dirty="0"/>
              <a:t>近年来，随着大模型技术的发展，视觉推理能力显著提升，但仍然面临着语义表达不清晰、推理路径不可解释等挑战。其中，如何构建结构化的图像表达，成为提升视觉推理性能的关键。</a:t>
            </a:r>
          </a:p>
        </p:txBody>
      </p:sp>
      <p:sp>
        <p:nvSpPr>
          <p:cNvPr id="4" name="灯片编号占位符 3"/>
          <p:cNvSpPr>
            <a:spLocks noGrp="1"/>
          </p:cNvSpPr>
          <p:nvPr>
            <p:ph type="sldNum" sz="quarter" idx="5"/>
          </p:nvPr>
        </p:nvSpPr>
        <p:spPr/>
        <p:txBody>
          <a:bodyPr/>
          <a:lstStyle/>
          <a:p>
            <a:fld id="{F74CDF23-0B28-487F-BDAF-0EE70AEF8EE9}" type="slidenum">
              <a:rPr lang="zh-CN" altLang="en-US" smtClean="0"/>
              <a:t>2</a:t>
            </a:fld>
            <a:endParaRPr lang="zh-CN" altLang="en-US"/>
          </a:p>
        </p:txBody>
      </p:sp>
    </p:spTree>
    <p:extLst>
      <p:ext uri="{BB962C8B-B14F-4D97-AF65-F5344CB8AC3E}">
        <p14:creationId xmlns:p14="http://schemas.microsoft.com/office/powerpoint/2010/main" val="1984248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F128-4E90-B690-14AC-F3EACFBF69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E2689A-F463-96B7-CE59-1CCC90A835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8E8D78-7F61-19B8-8C81-AF89E22A5F7E}"/>
              </a:ext>
            </a:extLst>
          </p:cNvPr>
          <p:cNvSpPr>
            <a:spLocks noGrp="1"/>
          </p:cNvSpPr>
          <p:nvPr>
            <p:ph type="body" idx="1"/>
          </p:nvPr>
        </p:nvSpPr>
        <p:spPr/>
        <p:txBody>
          <a:bodyPr/>
          <a:lstStyle/>
          <a:p>
            <a:r>
              <a:rPr lang="zh-CN" altLang="en-US" dirty="0"/>
              <a:t>在视觉推理中，图像表达决定了模型能否准确捕捉对象及其关系。传统的目标检测或图像分类表达缺乏结构化语义，难以支持复杂推理与多模态交互。为此，研究者提出了场景图这一概念，它以图结构的形式表示图像中的对象、属性和关系，是连接视觉感知与语言推理的桥梁。场景图能够清晰地表达图像语义，为视觉推理提供了结构化、可解释的基础，成为当前研究的热点之一。</a:t>
            </a:r>
          </a:p>
        </p:txBody>
      </p:sp>
      <p:sp>
        <p:nvSpPr>
          <p:cNvPr id="4" name="灯片编号占位符 3">
            <a:extLst>
              <a:ext uri="{FF2B5EF4-FFF2-40B4-BE49-F238E27FC236}">
                <a16:creationId xmlns:a16="http://schemas.microsoft.com/office/drawing/2014/main" id="{DDD90E8F-43D3-0AEA-5AD6-D83BCFE346C1}"/>
              </a:ext>
            </a:extLst>
          </p:cNvPr>
          <p:cNvSpPr>
            <a:spLocks noGrp="1"/>
          </p:cNvSpPr>
          <p:nvPr>
            <p:ph type="sldNum" sz="quarter" idx="5"/>
          </p:nvPr>
        </p:nvSpPr>
        <p:spPr/>
        <p:txBody>
          <a:bodyPr/>
          <a:lstStyle/>
          <a:p>
            <a:fld id="{F74CDF23-0B28-487F-BDAF-0EE70AEF8EE9}" type="slidenum">
              <a:rPr lang="zh-CN" altLang="en-US" smtClean="0"/>
              <a:t>3</a:t>
            </a:fld>
            <a:endParaRPr lang="zh-CN" altLang="en-US"/>
          </a:p>
        </p:txBody>
      </p:sp>
    </p:spTree>
    <p:extLst>
      <p:ext uri="{BB962C8B-B14F-4D97-AF65-F5344CB8AC3E}">
        <p14:creationId xmlns:p14="http://schemas.microsoft.com/office/powerpoint/2010/main" val="3787685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9351F-C54E-8802-0341-5BA673F4B0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B33210-FDDF-28DE-7D06-DA097B12CD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AB5E05-8197-3B9E-F154-476CD6D2CA47}"/>
              </a:ext>
            </a:extLst>
          </p:cNvPr>
          <p:cNvSpPr>
            <a:spLocks noGrp="1"/>
          </p:cNvSpPr>
          <p:nvPr>
            <p:ph type="body" idx="1"/>
          </p:nvPr>
        </p:nvSpPr>
        <p:spPr/>
        <p:txBody>
          <a:bodyPr/>
          <a:lstStyle/>
          <a:p>
            <a:r>
              <a:rPr lang="zh-CN" altLang="en-US" dirty="0"/>
              <a:t>场景图究竟是什么？场景图是一种结构化的视觉语义表示形式，它将图像抽象成由节点和边组成的图结构，通常由对象 、属性 和关系三部分组成。具体来说，场景图中的节点代表图像中的实体对象（如</a:t>
            </a:r>
            <a:r>
              <a:rPr lang="zh-CN" altLang="en-US" sz="1200" i="0" dirty="0">
                <a:solidFill>
                  <a:srgbClr val="404040"/>
                </a:solidFill>
                <a:effectLst/>
                <a:latin typeface="Microsoft YaHei" panose="020B0503020204020204" pitchFamily="34" charset="-122"/>
                <a:ea typeface="Microsoft YaHei" panose="020B0503020204020204" pitchFamily="34" charset="-122"/>
              </a:rPr>
              <a:t>“小女孩”、“汉堡包”</a:t>
            </a:r>
            <a:r>
              <a:rPr lang="zh-CN" altLang="en-US" dirty="0"/>
              <a:t>），边表示对象之间的语义关系（如</a:t>
            </a:r>
            <a:r>
              <a:rPr lang="zh-CN" altLang="en-US" sz="1200" i="0" dirty="0">
                <a:solidFill>
                  <a:srgbClr val="404040"/>
                </a:solidFill>
                <a:effectLst/>
                <a:latin typeface="Microsoft YaHei" panose="020B0503020204020204" pitchFamily="34" charset="-122"/>
                <a:ea typeface="Microsoft YaHei" panose="020B0503020204020204" pitchFamily="34" charset="-122"/>
              </a:rPr>
              <a:t>“在</a:t>
            </a:r>
            <a:r>
              <a:rPr lang="en-US" altLang="zh-CN" sz="1200" i="0" dirty="0">
                <a:solidFill>
                  <a:srgbClr val="404040"/>
                </a:solidFill>
                <a:effectLst/>
                <a:latin typeface="Microsoft YaHei" panose="020B0503020204020204" pitchFamily="34" charset="-122"/>
                <a:ea typeface="Microsoft YaHei" panose="020B0503020204020204" pitchFamily="34" charset="-122"/>
              </a:rPr>
              <a:t>…</a:t>
            </a:r>
            <a:r>
              <a:rPr lang="zh-CN" altLang="en-US" sz="1200" i="0" dirty="0">
                <a:solidFill>
                  <a:srgbClr val="404040"/>
                </a:solidFill>
                <a:effectLst/>
                <a:latin typeface="Microsoft YaHei" panose="020B0503020204020204" pitchFamily="34" charset="-122"/>
                <a:ea typeface="Microsoft YaHei" panose="020B0503020204020204" pitchFamily="34" charset="-122"/>
              </a:rPr>
              <a:t>左</a:t>
            </a:r>
            <a:r>
              <a:rPr lang="zh-CN" altLang="en-US" sz="1200" dirty="0">
                <a:solidFill>
                  <a:srgbClr val="404040"/>
                </a:solidFill>
                <a:latin typeface="Microsoft YaHei" panose="020B0503020204020204" pitchFamily="34" charset="-122"/>
                <a:ea typeface="Microsoft YaHei" panose="020B0503020204020204" pitchFamily="34" charset="-122"/>
              </a:rPr>
              <a:t>边</a:t>
            </a:r>
            <a:r>
              <a:rPr lang="zh-CN" altLang="en-US" sz="1200" i="0" dirty="0">
                <a:solidFill>
                  <a:srgbClr val="404040"/>
                </a:solidFill>
                <a:effectLst/>
                <a:latin typeface="Microsoft YaHei" panose="020B0503020204020204" pitchFamily="34" charset="-122"/>
                <a:ea typeface="Microsoft YaHei" panose="020B0503020204020204" pitchFamily="34" charset="-122"/>
              </a:rPr>
              <a:t>”、“拿着”</a:t>
            </a:r>
            <a:r>
              <a:rPr lang="zh-CN" altLang="en-US" dirty="0"/>
              <a:t>），节点属性则描述对象的外观或状态（如</a:t>
            </a:r>
            <a:r>
              <a:rPr lang="zh-CN" altLang="en-US" sz="1200" i="0" dirty="0">
                <a:solidFill>
                  <a:srgbClr val="404040"/>
                </a:solidFill>
                <a:effectLst/>
                <a:latin typeface="Microsoft YaHei" panose="020B0503020204020204" pitchFamily="34" charset="-122"/>
                <a:ea typeface="Microsoft YaHei" panose="020B0503020204020204" pitchFamily="34" charset="-122"/>
              </a:rPr>
              <a:t>“红色的”、“塑料的”、“正在看”</a:t>
            </a:r>
            <a:r>
              <a:rPr lang="zh-CN" altLang="en-US" dirty="0"/>
              <a:t>）。</a:t>
            </a:r>
          </a:p>
        </p:txBody>
      </p:sp>
      <p:sp>
        <p:nvSpPr>
          <p:cNvPr id="4" name="灯片编号占位符 3">
            <a:extLst>
              <a:ext uri="{FF2B5EF4-FFF2-40B4-BE49-F238E27FC236}">
                <a16:creationId xmlns:a16="http://schemas.microsoft.com/office/drawing/2014/main" id="{2DF9B836-CC5F-27E7-2810-F6B222510209}"/>
              </a:ext>
            </a:extLst>
          </p:cNvPr>
          <p:cNvSpPr>
            <a:spLocks noGrp="1"/>
          </p:cNvSpPr>
          <p:nvPr>
            <p:ph type="sldNum" sz="quarter" idx="5"/>
          </p:nvPr>
        </p:nvSpPr>
        <p:spPr/>
        <p:txBody>
          <a:bodyPr/>
          <a:lstStyle/>
          <a:p>
            <a:fld id="{F74CDF23-0B28-487F-BDAF-0EE70AEF8EE9}" type="slidenum">
              <a:rPr lang="zh-CN" altLang="en-US" smtClean="0"/>
              <a:t>4</a:t>
            </a:fld>
            <a:endParaRPr lang="zh-CN" altLang="en-US"/>
          </a:p>
        </p:txBody>
      </p:sp>
    </p:spTree>
    <p:extLst>
      <p:ext uri="{BB962C8B-B14F-4D97-AF65-F5344CB8AC3E}">
        <p14:creationId xmlns:p14="http://schemas.microsoft.com/office/powerpoint/2010/main" val="3971783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E112-6A7D-20E2-90F2-1710A13599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7281C-738F-6A5D-4217-F88D0F894C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D00CB2-EE94-75F5-20A4-6F62046DB8E5}"/>
              </a:ext>
            </a:extLst>
          </p:cNvPr>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dirty="0">
                <a:solidFill>
                  <a:srgbClr val="404040"/>
                </a:solidFill>
                <a:effectLst/>
                <a:latin typeface="Microsoft YaHei" panose="020B0503020204020204" pitchFamily="34" charset="-122"/>
                <a:ea typeface="Microsoft YaHei" panose="020B0503020204020204" pitchFamily="34" charset="-122"/>
              </a:rPr>
              <a:t>传统的目标检测、物体分类模型只识别物体“是什么”，而不能表达图像中物体之间的语义关系。</a:t>
            </a:r>
            <a:endParaRPr lang="en-US" altLang="zh-CN" sz="1200" i="0" dirty="0">
              <a:solidFill>
                <a:srgbClr val="404040"/>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dirty="0">
                <a:solidFill>
                  <a:srgbClr val="404040"/>
                </a:solidFill>
                <a:effectLst/>
                <a:latin typeface="Microsoft YaHei" panose="020B0503020204020204" pitchFamily="34" charset="-122"/>
                <a:ea typeface="Microsoft YaHei" panose="020B0503020204020204" pitchFamily="34" charset="-122"/>
              </a:rPr>
              <a:t>真正的图像理解需要捕捉“实体对象和他们之间的不同关系”，例如图中“小女孩”是“拿着”“汉堡”，而不是在“吃”“汉堡”，“奶昔” 放在“餐盘” 上。</a:t>
            </a:r>
            <a:endParaRPr lang="en-US" altLang="zh-CN" sz="1200" i="0" dirty="0">
              <a:solidFill>
                <a:srgbClr val="404040"/>
              </a:solidFill>
              <a:effectLst/>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i="0" dirty="0">
                <a:solidFill>
                  <a:srgbClr val="404040"/>
                </a:solidFill>
                <a:effectLst/>
                <a:latin typeface="Microsoft YaHei" panose="020B0503020204020204" pitchFamily="34" charset="-122"/>
                <a:ea typeface="Microsoft YaHei" panose="020B0503020204020204" pitchFamily="34" charset="-122"/>
              </a:rPr>
              <a:t>通过这种结构化的表达，场景图能够清晰地捕捉图像中的语义信息，提升图像理解的能力，为视觉推理、图像生成、视觉问答等下游任务提供可解释、可操作的知识基础。</a:t>
            </a:r>
          </a:p>
        </p:txBody>
      </p:sp>
      <p:sp>
        <p:nvSpPr>
          <p:cNvPr id="4" name="灯片编号占位符 3">
            <a:extLst>
              <a:ext uri="{FF2B5EF4-FFF2-40B4-BE49-F238E27FC236}">
                <a16:creationId xmlns:a16="http://schemas.microsoft.com/office/drawing/2014/main" id="{FD45CF06-A4F3-AA45-949A-9C26F70F1474}"/>
              </a:ext>
            </a:extLst>
          </p:cNvPr>
          <p:cNvSpPr>
            <a:spLocks noGrp="1"/>
          </p:cNvSpPr>
          <p:nvPr>
            <p:ph type="sldNum" sz="quarter" idx="5"/>
          </p:nvPr>
        </p:nvSpPr>
        <p:spPr/>
        <p:txBody>
          <a:bodyPr/>
          <a:lstStyle/>
          <a:p>
            <a:fld id="{F74CDF23-0B28-487F-BDAF-0EE70AEF8EE9}" type="slidenum">
              <a:rPr lang="zh-CN" altLang="en-US" smtClean="0"/>
              <a:t>5</a:t>
            </a:fld>
            <a:endParaRPr lang="zh-CN" altLang="en-US"/>
          </a:p>
        </p:txBody>
      </p:sp>
    </p:spTree>
    <p:extLst>
      <p:ext uri="{BB962C8B-B14F-4D97-AF65-F5344CB8AC3E}">
        <p14:creationId xmlns:p14="http://schemas.microsoft.com/office/powerpoint/2010/main" val="3200000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54EEA-836F-954F-09A5-05608B320A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F3DF34-4034-C8BE-1401-71BF5CD56C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402148-28AE-94A1-1F04-0ED387E52AEE}"/>
              </a:ext>
            </a:extLst>
          </p:cNvPr>
          <p:cNvSpPr>
            <a:spLocks noGrp="1"/>
          </p:cNvSpPr>
          <p:nvPr>
            <p:ph type="body" idx="1"/>
          </p:nvPr>
        </p:nvSpPr>
        <p:spPr/>
        <p:txBody>
          <a:bodyPr/>
          <a:lstStyle/>
          <a:p>
            <a:r>
              <a:rPr lang="zh-CN" altLang="en-US" dirty="0"/>
              <a:t>场景图是如何生成的？我们可以按照由整体到局部再到细节的顺序生成场景图。</a:t>
            </a:r>
            <a:endParaRPr lang="en-US" altLang="zh-CN" dirty="0"/>
          </a:p>
          <a:p>
            <a:r>
              <a:rPr lang="zh-CN" altLang="en-US" sz="1200" dirty="0">
                <a:latin typeface="Microsoft YaHei" panose="020B0503020204020204" pitchFamily="34" charset="-122"/>
                <a:ea typeface="Microsoft YaHei" panose="020B0503020204020204" pitchFamily="34" charset="-122"/>
              </a:rPr>
              <a:t>第一步：</a:t>
            </a:r>
            <a:r>
              <a:rPr lang="zh-CN" altLang="en-US" sz="1200" b="1" dirty="0">
                <a:latin typeface="Microsoft YaHei" panose="020B0503020204020204" pitchFamily="34" charset="-122"/>
                <a:ea typeface="Microsoft YaHei" panose="020B0503020204020204" pitchFamily="34" charset="-122"/>
              </a:rPr>
              <a:t>宏观概述</a:t>
            </a:r>
            <a:r>
              <a:rPr lang="zh-CN" altLang="en-US" sz="1200" dirty="0">
                <a:latin typeface="Microsoft YaHei" panose="020B0503020204020204" pitchFamily="34" charset="-122"/>
                <a:ea typeface="Microsoft YaHei" panose="020B0503020204020204" pitchFamily="34" charset="-122"/>
              </a:rPr>
              <a:t>。先识别图像或场景中最顶层的空间结构，描述一个封闭或开放的物理空间背景，作为所有对象的“容器”。比如“这是一个在公园拍摄的照片”，那么顶层就是“公园”，表示图片整体都在“公园”这个背景之下。</a:t>
            </a:r>
            <a:endParaRPr lang="en-US" altLang="zh-CN" sz="1200" dirty="0">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第二步：</a:t>
            </a:r>
            <a:r>
              <a:rPr lang="zh-CN" altLang="en-US" sz="1200" b="1" dirty="0">
                <a:latin typeface="Microsoft YaHei" panose="020B0503020204020204" pitchFamily="34" charset="-122"/>
                <a:ea typeface="Microsoft YaHei" panose="020B0503020204020204" pitchFamily="34" charset="-122"/>
              </a:rPr>
              <a:t>核心描述</a:t>
            </a:r>
            <a:r>
              <a:rPr lang="zh-CN" altLang="en-US" sz="1200" dirty="0">
                <a:latin typeface="Microsoft YaHei" panose="020B0503020204020204" pitchFamily="34" charset="-122"/>
                <a:ea typeface="Microsoft YaHei" panose="020B0503020204020204" pitchFamily="34" charset="-122"/>
              </a:rPr>
              <a:t>。描述在当前空间内，占据显著空间、功能上起结构性支撑作用的实体或者称为图片想要表达的核心区域实体。比如“长凳上坐着一个女人，她在读一本杂志，腿上放着一个手提包”。</a:t>
            </a:r>
            <a:endParaRPr lang="en-US" altLang="zh-CN" sz="1200" dirty="0">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panose="020B0503020204020204" pitchFamily="34" charset="-122"/>
                <a:ea typeface="Microsoft YaHei" panose="020B0503020204020204" pitchFamily="34" charset="-122"/>
              </a:rPr>
              <a:t>第三步：</a:t>
            </a:r>
            <a:r>
              <a:rPr lang="zh-CN" altLang="en-US" sz="1200" b="1" dirty="0">
                <a:latin typeface="Microsoft YaHei" panose="020B0503020204020204" pitchFamily="34" charset="-122"/>
                <a:ea typeface="Microsoft YaHei" panose="020B0503020204020204" pitchFamily="34" charset="-122"/>
              </a:rPr>
              <a:t>细节补充</a:t>
            </a:r>
            <a:r>
              <a:rPr lang="zh-CN" altLang="en-US" sz="1200" dirty="0">
                <a:latin typeface="Microsoft YaHei" panose="020B0503020204020204" pitchFamily="34" charset="-122"/>
                <a:ea typeface="Microsoft YaHei" panose="020B0503020204020204" pitchFamily="34" charset="-122"/>
              </a:rPr>
              <a:t>。补充图片中的背景信息，例如“有一片草地”，以及补充一些依附于大物体或存在于空间中体积相对较小的实体，通常是人与环境交互的直接对象，包括中实体的属性，例如“这个女人穿着一双棕色的靴子”。</a:t>
            </a:r>
          </a:p>
        </p:txBody>
      </p:sp>
      <p:sp>
        <p:nvSpPr>
          <p:cNvPr id="4" name="灯片编号占位符 3">
            <a:extLst>
              <a:ext uri="{FF2B5EF4-FFF2-40B4-BE49-F238E27FC236}">
                <a16:creationId xmlns:a16="http://schemas.microsoft.com/office/drawing/2014/main" id="{491C84F3-0175-DAE7-C26D-D1C34F02B2D6}"/>
              </a:ext>
            </a:extLst>
          </p:cNvPr>
          <p:cNvSpPr>
            <a:spLocks noGrp="1"/>
          </p:cNvSpPr>
          <p:nvPr>
            <p:ph type="sldNum" sz="quarter" idx="5"/>
          </p:nvPr>
        </p:nvSpPr>
        <p:spPr/>
        <p:txBody>
          <a:bodyPr/>
          <a:lstStyle/>
          <a:p>
            <a:fld id="{F74CDF23-0B28-487F-BDAF-0EE70AEF8EE9}" type="slidenum">
              <a:rPr lang="zh-CN" altLang="en-US" smtClean="0"/>
              <a:t>6</a:t>
            </a:fld>
            <a:endParaRPr lang="zh-CN" altLang="en-US"/>
          </a:p>
        </p:txBody>
      </p:sp>
    </p:spTree>
    <p:extLst>
      <p:ext uri="{BB962C8B-B14F-4D97-AF65-F5344CB8AC3E}">
        <p14:creationId xmlns:p14="http://schemas.microsoft.com/office/powerpoint/2010/main" val="1640084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14CC9-DFFB-6777-A6C9-BE52AD8189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E51196-226D-A53C-6D3C-E77792C545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8BE7E8-6EAA-5265-9799-4CC22FF38D82}"/>
              </a:ext>
            </a:extLst>
          </p:cNvPr>
          <p:cNvSpPr>
            <a:spLocks noGrp="1"/>
          </p:cNvSpPr>
          <p:nvPr>
            <p:ph type="body" idx="1"/>
          </p:nvPr>
        </p:nvSpPr>
        <p:spPr/>
        <p:txBody>
          <a:bodyPr/>
          <a:lstStyle/>
          <a:p>
            <a:r>
              <a:rPr lang="zh-CN" altLang="en-US" dirty="0"/>
              <a:t>有了场景图之后，场景图中的节点和边构成逻辑路径，当有语言进来交互时，智能体能够直观清晰地通过这些路径进行语义推理，帮助智能体更好地理解场景中的对象和关系。</a:t>
            </a:r>
          </a:p>
          <a:p>
            <a:r>
              <a:rPr lang="zh-CN" altLang="en-US" dirty="0"/>
              <a:t>例如，我们向智能体提出一个问题：图中的女人在看什么？智能体就能沿着场景图的边找到“女人 </a:t>
            </a:r>
            <a:r>
              <a:rPr lang="en-US" altLang="zh-CN" dirty="0"/>
              <a:t>– </a:t>
            </a:r>
            <a:r>
              <a:rPr lang="zh-CN" altLang="en-US" dirty="0"/>
              <a:t>看 </a:t>
            </a:r>
            <a:r>
              <a:rPr lang="en-US" altLang="zh-CN" dirty="0"/>
              <a:t>– </a:t>
            </a:r>
            <a:r>
              <a:rPr lang="zh-CN" altLang="en-US" dirty="0"/>
              <a:t>杂志”这样的关系，即按照示意图中标红的路径进行搜索，最后给出答案：“这个女人在看一本杂志”。</a:t>
            </a:r>
          </a:p>
        </p:txBody>
      </p:sp>
      <p:sp>
        <p:nvSpPr>
          <p:cNvPr id="4" name="灯片编号占位符 3">
            <a:extLst>
              <a:ext uri="{FF2B5EF4-FFF2-40B4-BE49-F238E27FC236}">
                <a16:creationId xmlns:a16="http://schemas.microsoft.com/office/drawing/2014/main" id="{205BB7B4-3155-85F2-3FA6-626695729B3B}"/>
              </a:ext>
            </a:extLst>
          </p:cNvPr>
          <p:cNvSpPr>
            <a:spLocks noGrp="1"/>
          </p:cNvSpPr>
          <p:nvPr>
            <p:ph type="sldNum" sz="quarter" idx="5"/>
          </p:nvPr>
        </p:nvSpPr>
        <p:spPr/>
        <p:txBody>
          <a:bodyPr/>
          <a:lstStyle/>
          <a:p>
            <a:fld id="{F74CDF23-0B28-487F-BDAF-0EE70AEF8EE9}" type="slidenum">
              <a:rPr lang="zh-CN" altLang="en-US" smtClean="0"/>
              <a:t>7</a:t>
            </a:fld>
            <a:endParaRPr lang="zh-CN" altLang="en-US"/>
          </a:p>
        </p:txBody>
      </p:sp>
    </p:spTree>
    <p:extLst>
      <p:ext uri="{BB962C8B-B14F-4D97-AF65-F5344CB8AC3E}">
        <p14:creationId xmlns:p14="http://schemas.microsoft.com/office/powerpoint/2010/main" val="129499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1C8BD-0887-84C2-816E-084BA92B5D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BE2B8A-35AE-2DD2-ACFF-5C2BDC5E4D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06F92C-D583-9196-FD75-959FFF0459AC}"/>
              </a:ext>
            </a:extLst>
          </p:cNvPr>
          <p:cNvSpPr>
            <a:spLocks noGrp="1"/>
          </p:cNvSpPr>
          <p:nvPr>
            <p:ph type="body" idx="1"/>
          </p:nvPr>
        </p:nvSpPr>
        <p:spPr/>
        <p:txBody>
          <a:bodyPr/>
          <a:lstStyle/>
          <a:p>
            <a:r>
              <a:rPr lang="zh-CN" altLang="en-US" dirty="0"/>
              <a:t>那么，生成一张场景图后，我们该如何判断场景图的质量？</a:t>
            </a:r>
          </a:p>
          <a:p>
            <a:r>
              <a:rPr lang="zh-CN" altLang="en-US" dirty="0"/>
              <a:t>主要有以下三个方面：</a:t>
            </a:r>
          </a:p>
          <a:p>
            <a:r>
              <a:rPr lang="en-US" altLang="zh-CN" dirty="0"/>
              <a:t>1.</a:t>
            </a:r>
            <a:r>
              <a:rPr lang="zh-CN" altLang="en-US" dirty="0"/>
              <a:t>语义准确性：判断场景图中的每个对象、属性和关系是否真实反映图像内容。</a:t>
            </a:r>
          </a:p>
          <a:p>
            <a:r>
              <a:rPr lang="zh-CN" altLang="en-US" dirty="0"/>
              <a:t>例如：图中是“狗</a:t>
            </a:r>
            <a:r>
              <a:rPr lang="en-US" altLang="zh-CN" dirty="0"/>
              <a:t>-</a:t>
            </a:r>
            <a:r>
              <a:rPr lang="zh-CN" altLang="en-US" dirty="0"/>
              <a:t>在</a:t>
            </a:r>
            <a:r>
              <a:rPr lang="en-US" altLang="zh-CN" dirty="0"/>
              <a:t>-</a:t>
            </a:r>
            <a:r>
              <a:rPr lang="zh-CN" altLang="en-US" dirty="0"/>
              <a:t>睡觉”，而场景图标为“狗</a:t>
            </a:r>
            <a:r>
              <a:rPr lang="en-US" altLang="zh-CN" dirty="0"/>
              <a:t>-</a:t>
            </a:r>
            <a:r>
              <a:rPr lang="zh-CN" altLang="en-US" dirty="0"/>
              <a:t>在</a:t>
            </a:r>
            <a:r>
              <a:rPr lang="en-US" altLang="zh-CN" dirty="0"/>
              <a:t>-</a:t>
            </a:r>
            <a:r>
              <a:rPr lang="zh-CN" altLang="en-US" dirty="0"/>
              <a:t>车上”，该场景关系判定为语义错误。</a:t>
            </a:r>
          </a:p>
          <a:p>
            <a:r>
              <a:rPr lang="en-US" altLang="zh-CN" dirty="0"/>
              <a:t>2.</a:t>
            </a:r>
            <a:r>
              <a:rPr lang="zh-CN" altLang="en-US" dirty="0"/>
              <a:t>结构合理性：场景图的层级组织是否清晰，是否存在冗余连接或缺失层次。</a:t>
            </a:r>
          </a:p>
          <a:p>
            <a:r>
              <a:rPr lang="zh-CN" altLang="en-US" dirty="0"/>
              <a:t>例如：场景图中应有“婚礼→前景区→蛋糕”，而非“婚礼↔蛋糕↔天空”。</a:t>
            </a:r>
          </a:p>
          <a:p>
            <a:r>
              <a:rPr lang="en-US" altLang="zh-CN" dirty="0"/>
              <a:t>3.</a:t>
            </a:r>
            <a:r>
              <a:rPr lang="zh-CN" altLang="en-US" dirty="0"/>
              <a:t>推理支持性：场景图是否能有效支持下游任务，如视觉问答、对话、交互。</a:t>
            </a:r>
          </a:p>
          <a:p>
            <a:r>
              <a:rPr lang="zh-CN" altLang="en-US" dirty="0"/>
              <a:t>例如：如果问“小男孩手上拿着什么颜色的小熊？”，而图中没有“人</a:t>
            </a:r>
            <a:r>
              <a:rPr lang="en-US" altLang="zh-CN" dirty="0"/>
              <a:t>-</a:t>
            </a:r>
            <a:r>
              <a:rPr lang="zh-CN" altLang="en-US" dirty="0"/>
              <a:t>拿着</a:t>
            </a:r>
            <a:r>
              <a:rPr lang="en-US" altLang="zh-CN" dirty="0"/>
              <a:t>-</a:t>
            </a:r>
            <a:r>
              <a:rPr lang="zh-CN" altLang="en-US" dirty="0"/>
              <a:t>小熊”的连接，则推理失败</a:t>
            </a:r>
          </a:p>
        </p:txBody>
      </p:sp>
      <p:sp>
        <p:nvSpPr>
          <p:cNvPr id="4" name="灯片编号占位符 3">
            <a:extLst>
              <a:ext uri="{FF2B5EF4-FFF2-40B4-BE49-F238E27FC236}">
                <a16:creationId xmlns:a16="http://schemas.microsoft.com/office/drawing/2014/main" id="{E82383B8-DAFE-28E7-011C-51D6ABB8C697}"/>
              </a:ext>
            </a:extLst>
          </p:cNvPr>
          <p:cNvSpPr>
            <a:spLocks noGrp="1"/>
          </p:cNvSpPr>
          <p:nvPr>
            <p:ph type="sldNum" sz="quarter" idx="5"/>
          </p:nvPr>
        </p:nvSpPr>
        <p:spPr/>
        <p:txBody>
          <a:bodyPr/>
          <a:lstStyle/>
          <a:p>
            <a:fld id="{F74CDF23-0B28-487F-BDAF-0EE70AEF8EE9}" type="slidenum">
              <a:rPr lang="zh-CN" altLang="en-US" smtClean="0"/>
              <a:t>8</a:t>
            </a:fld>
            <a:endParaRPr lang="zh-CN" altLang="en-US"/>
          </a:p>
        </p:txBody>
      </p:sp>
    </p:spTree>
    <p:extLst>
      <p:ext uri="{BB962C8B-B14F-4D97-AF65-F5344CB8AC3E}">
        <p14:creationId xmlns:p14="http://schemas.microsoft.com/office/powerpoint/2010/main" val="2476994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C77A-5721-3173-B79D-A84D24B022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4308D1-BB89-138C-DC2F-20E4668B72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16F7A8-151F-1F00-BBE2-74949EC565D0}"/>
              </a:ext>
            </a:extLst>
          </p:cNvPr>
          <p:cNvSpPr>
            <a:spLocks noGrp="1"/>
          </p:cNvSpPr>
          <p:nvPr>
            <p:ph type="body" idx="1"/>
          </p:nvPr>
        </p:nvSpPr>
        <p:spPr/>
        <p:txBody>
          <a:bodyPr/>
          <a:lstStyle/>
          <a:p>
            <a:r>
              <a:rPr lang="zh-CN" altLang="en-US" dirty="0"/>
              <a:t>场景图的本质，是将复杂的视觉信息转化为结构化、可解释、可推理的知识图谱，掌握场景图的构建方法，能帮助我们思考如何提升模型的推理能力。最后，让我们通过两个实际任务来巩固所学的知识。请同学们根据前面学习的“场景图生成”流程，亲自动手完成场景图的构建，并且在场景图构建完成后，根据之前学到的标准，评价自己构建的场景图质量，并思考如何改进。</a:t>
            </a:r>
            <a:endParaRPr lang="en-US" altLang="zh-CN" dirty="0"/>
          </a:p>
          <a:p>
            <a:r>
              <a:rPr lang="zh-CN" altLang="en-US" dirty="0"/>
              <a:t>请仔细观察任务一的图片，考虑生成它的场景图。</a:t>
            </a:r>
            <a:endParaRPr lang="en-US" altLang="zh-CN" dirty="0"/>
          </a:p>
        </p:txBody>
      </p:sp>
      <p:sp>
        <p:nvSpPr>
          <p:cNvPr id="4" name="灯片编号占位符 3">
            <a:extLst>
              <a:ext uri="{FF2B5EF4-FFF2-40B4-BE49-F238E27FC236}">
                <a16:creationId xmlns:a16="http://schemas.microsoft.com/office/drawing/2014/main" id="{4BF3B165-0E00-5944-0A79-ED71A623247C}"/>
              </a:ext>
            </a:extLst>
          </p:cNvPr>
          <p:cNvSpPr>
            <a:spLocks noGrp="1"/>
          </p:cNvSpPr>
          <p:nvPr>
            <p:ph type="sldNum" sz="quarter" idx="5"/>
          </p:nvPr>
        </p:nvSpPr>
        <p:spPr/>
        <p:txBody>
          <a:bodyPr/>
          <a:lstStyle/>
          <a:p>
            <a:fld id="{F74CDF23-0B28-487F-BDAF-0EE70AEF8EE9}" type="slidenum">
              <a:rPr lang="zh-CN" altLang="en-US" smtClean="0"/>
              <a:t>9</a:t>
            </a:fld>
            <a:endParaRPr lang="zh-CN" altLang="en-US"/>
          </a:p>
        </p:txBody>
      </p:sp>
    </p:spTree>
    <p:extLst>
      <p:ext uri="{BB962C8B-B14F-4D97-AF65-F5344CB8AC3E}">
        <p14:creationId xmlns:p14="http://schemas.microsoft.com/office/powerpoint/2010/main" val="3906803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73899-6E6A-3BD5-A475-950A146461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C43F9B-BF13-A6C6-95B3-579C2B2BFD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6969F2-453C-1A4F-4BE3-9F0CBB0B6193}"/>
              </a:ext>
            </a:extLst>
          </p:cNvPr>
          <p:cNvSpPr>
            <a:spLocks noGrp="1"/>
          </p:cNvSpPr>
          <p:nvPr>
            <p:ph type="body" idx="1"/>
          </p:nvPr>
        </p:nvSpPr>
        <p:spPr/>
        <p:txBody>
          <a:bodyPr/>
          <a:lstStyle/>
          <a:p>
            <a:r>
              <a:rPr lang="zh-CN" altLang="en-US" dirty="0"/>
              <a:t>本页给出参考答案。首先我们对它进行一个宏观描述，这是一个在城市街道拍摄的照片。第二步，核心描述。由于这张图片整体是远景，没有表达的重心，我们在这里把路上的行车和行人作为核心</a:t>
            </a:r>
            <a:r>
              <a:rPr lang="zh-CN" altLang="en-US"/>
              <a:t>描述。</a:t>
            </a:r>
            <a:endParaRPr lang="en-US" altLang="zh-CN" dirty="0"/>
          </a:p>
        </p:txBody>
      </p:sp>
      <p:sp>
        <p:nvSpPr>
          <p:cNvPr id="4" name="灯片编号占位符 3">
            <a:extLst>
              <a:ext uri="{FF2B5EF4-FFF2-40B4-BE49-F238E27FC236}">
                <a16:creationId xmlns:a16="http://schemas.microsoft.com/office/drawing/2014/main" id="{73D2AAF5-2F23-B495-E352-4146BB766E71}"/>
              </a:ext>
            </a:extLst>
          </p:cNvPr>
          <p:cNvSpPr>
            <a:spLocks noGrp="1"/>
          </p:cNvSpPr>
          <p:nvPr>
            <p:ph type="sldNum" sz="quarter" idx="5"/>
          </p:nvPr>
        </p:nvSpPr>
        <p:spPr/>
        <p:txBody>
          <a:bodyPr/>
          <a:lstStyle/>
          <a:p>
            <a:fld id="{F74CDF23-0B28-487F-BDAF-0EE70AEF8EE9}" type="slidenum">
              <a:rPr lang="zh-CN" altLang="en-US" smtClean="0"/>
              <a:t>10</a:t>
            </a:fld>
            <a:endParaRPr lang="zh-CN" altLang="en-US"/>
          </a:p>
        </p:txBody>
      </p:sp>
    </p:spTree>
    <p:extLst>
      <p:ext uri="{BB962C8B-B14F-4D97-AF65-F5344CB8AC3E}">
        <p14:creationId xmlns:p14="http://schemas.microsoft.com/office/powerpoint/2010/main" val="2958034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EC01-C600-6137-9802-99A3F263FE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1B843B-3066-A155-0C18-5B97ED9C09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F5093F-239D-5728-8E53-BA68BF0F2387}"/>
              </a:ext>
            </a:extLst>
          </p:cNvPr>
          <p:cNvSpPr>
            <a:spLocks noGrp="1"/>
          </p:cNvSpPr>
          <p:nvPr>
            <p:ph type="body" idx="1"/>
          </p:nvPr>
        </p:nvSpPr>
        <p:spPr/>
        <p:txBody>
          <a:bodyPr/>
          <a:lstStyle/>
          <a:p>
            <a:r>
              <a:rPr lang="zh-CN" altLang="en-US" dirty="0"/>
              <a:t>请仔细观察任务二的图片，考虑生成它的场景图。</a:t>
            </a:r>
            <a:endParaRPr lang="en-US" altLang="zh-CN" dirty="0"/>
          </a:p>
        </p:txBody>
      </p:sp>
      <p:sp>
        <p:nvSpPr>
          <p:cNvPr id="4" name="灯片编号占位符 3">
            <a:extLst>
              <a:ext uri="{FF2B5EF4-FFF2-40B4-BE49-F238E27FC236}">
                <a16:creationId xmlns:a16="http://schemas.microsoft.com/office/drawing/2014/main" id="{0DC396F0-B9A4-C404-2D48-470061CB606B}"/>
              </a:ext>
            </a:extLst>
          </p:cNvPr>
          <p:cNvSpPr>
            <a:spLocks noGrp="1"/>
          </p:cNvSpPr>
          <p:nvPr>
            <p:ph type="sldNum" sz="quarter" idx="5"/>
          </p:nvPr>
        </p:nvSpPr>
        <p:spPr/>
        <p:txBody>
          <a:bodyPr/>
          <a:lstStyle/>
          <a:p>
            <a:fld id="{F74CDF23-0B28-487F-BDAF-0EE70AEF8EE9}" type="slidenum">
              <a:rPr lang="zh-CN" altLang="en-US" smtClean="0"/>
              <a:t>11</a:t>
            </a:fld>
            <a:endParaRPr lang="zh-CN" altLang="en-US"/>
          </a:p>
        </p:txBody>
      </p:sp>
    </p:spTree>
    <p:extLst>
      <p:ext uri="{BB962C8B-B14F-4D97-AF65-F5344CB8AC3E}">
        <p14:creationId xmlns:p14="http://schemas.microsoft.com/office/powerpoint/2010/main" val="2096647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1556-91BA-A1F7-9539-87E1B6F2ED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64D8D1-220F-BE87-40FF-C877A04777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E91440-895A-8A26-A0FA-AA8807E17792}"/>
              </a:ext>
            </a:extLst>
          </p:cNvPr>
          <p:cNvSpPr>
            <a:spLocks noGrp="1"/>
          </p:cNvSpPr>
          <p:nvPr>
            <p:ph type="body" idx="1"/>
          </p:nvPr>
        </p:nvSpPr>
        <p:spPr/>
        <p:txBody>
          <a:bodyPr/>
          <a:lstStyle/>
          <a:p>
            <a:r>
              <a:rPr lang="zh-CN" altLang="en-US" dirty="0"/>
              <a:t>本页给出参考答案。</a:t>
            </a:r>
          </a:p>
        </p:txBody>
      </p:sp>
      <p:sp>
        <p:nvSpPr>
          <p:cNvPr id="4" name="灯片编号占位符 3">
            <a:extLst>
              <a:ext uri="{FF2B5EF4-FFF2-40B4-BE49-F238E27FC236}">
                <a16:creationId xmlns:a16="http://schemas.microsoft.com/office/drawing/2014/main" id="{972DECA8-FFAA-E6A6-7317-CABDEE9D9228}"/>
              </a:ext>
            </a:extLst>
          </p:cNvPr>
          <p:cNvSpPr>
            <a:spLocks noGrp="1"/>
          </p:cNvSpPr>
          <p:nvPr>
            <p:ph type="sldNum" sz="quarter" idx="5"/>
          </p:nvPr>
        </p:nvSpPr>
        <p:spPr/>
        <p:txBody>
          <a:bodyPr/>
          <a:lstStyle/>
          <a:p>
            <a:fld id="{F74CDF23-0B28-487F-BDAF-0EE70AEF8EE9}" type="slidenum">
              <a:rPr lang="zh-CN" altLang="en-US" smtClean="0"/>
              <a:t>12</a:t>
            </a:fld>
            <a:endParaRPr lang="zh-CN" altLang="en-US"/>
          </a:p>
        </p:txBody>
      </p:sp>
    </p:spTree>
    <p:extLst>
      <p:ext uri="{BB962C8B-B14F-4D97-AF65-F5344CB8AC3E}">
        <p14:creationId xmlns:p14="http://schemas.microsoft.com/office/powerpoint/2010/main" val="691070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53D4-466C-7CA9-2C3D-9C15AD9FDA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E5C393-3271-5B40-BFE6-875A58776D2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5EFB395-B15E-23E6-CA78-621F0DED09EB}"/>
              </a:ext>
            </a:extLst>
          </p:cNvPr>
          <p:cNvSpPr>
            <a:spLocks noGrp="1"/>
          </p:cNvSpPr>
          <p:nvPr>
            <p:ph type="body" idx="3"/>
          </p:nvPr>
        </p:nvSpPr>
        <p:spPr/>
        <p:txBody>
          <a:bodyPr/>
          <a:lstStyle/>
          <a:p>
            <a:r>
              <a:rPr lang="zh-CN" altLang="en-US"/>
              <a:t>感谢同学们观看</a:t>
            </a:r>
          </a:p>
          <a:p>
            <a:endParaRPr lang="zh-CN" altLang="en-US" dirty="0"/>
          </a:p>
        </p:txBody>
      </p:sp>
      <p:sp>
        <p:nvSpPr>
          <p:cNvPr id="4" name="灯片编号占位符 3">
            <a:extLst>
              <a:ext uri="{FF2B5EF4-FFF2-40B4-BE49-F238E27FC236}">
                <a16:creationId xmlns:a16="http://schemas.microsoft.com/office/drawing/2014/main" id="{BFF5CC79-51F5-6012-54DA-5C15FDDD7074}"/>
              </a:ext>
            </a:extLst>
          </p:cNvPr>
          <p:cNvSpPr>
            <a:spLocks noGrp="1"/>
          </p:cNvSpPr>
          <p:nvPr>
            <p:ph type="sldNum" sz="quarter" idx="5"/>
          </p:nvPr>
        </p:nvSpPr>
        <p:spPr/>
        <p:txBody>
          <a:bodyPr/>
          <a:lstStyle/>
          <a:p>
            <a:fld id="{F74CDF23-0B28-487F-BDAF-0EE70AEF8EE9}" type="slidenum">
              <a:rPr lang="zh-CN" altLang="en-US" smtClean="0"/>
              <a:t>13</a:t>
            </a:fld>
            <a:endParaRPr lang="zh-CN" altLang="en-US"/>
          </a:p>
        </p:txBody>
      </p:sp>
    </p:spTree>
    <p:extLst>
      <p:ext uri="{BB962C8B-B14F-4D97-AF65-F5344CB8AC3E}">
        <p14:creationId xmlns:p14="http://schemas.microsoft.com/office/powerpoint/2010/main" val="360425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30"/>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6D60E6B-99CE-1A44-8D4B-BCADB5E674B4}" type="datetime1">
              <a:rPr lang="zh-CN" altLang="en-US" smtClean="0"/>
              <a:t>2025/8/11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3DB57B3-A98E-4007-8E3D-4A02D471521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lvl1pPr>
              <a:defRPr/>
            </a:lvl1pPr>
          </a:lstStyle>
          <a:p>
            <a:pPr>
              <a:defRPr/>
            </a:pPr>
            <a:fld id="{50989DD2-9680-41F8-B060-76F2DD7032CE}"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fld id="{19569D3F-3D17-264D-ADC5-A8AAE9A28B38}" type="datetime1">
              <a:rPr lang="zh-CN" altLang="en-US" sz="1400" smtClean="0">
                <a:solidFill>
                  <a:schemeClr val="tx1"/>
                </a:solidFill>
                <a:latin typeface="Arial" panose="020B0604020202020204" pitchFamily="34" charset="0"/>
              </a:rPr>
              <a:t>2025/8/11</a:t>
            </a:fld>
            <a:endParaRPr lang="en-US" altLang="zh-CN" sz="1400">
              <a:solidFill>
                <a:schemeClr val="tx1"/>
              </a:solidFill>
              <a:latin typeface="Arial" panose="020B0604020202020204" pitchFamily="34" charset="0"/>
            </a:endParaRPr>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en-US" altLang="zh-CN" sz="1400">
              <a:solidFill>
                <a:schemeClr val="tx1"/>
              </a:solidFill>
              <a:latin typeface="Arial" panose="020B0604020202020204" pitchFamily="34" charset="0"/>
            </a:endParaRPr>
          </a:p>
        </p:txBody>
      </p:sp>
      <p:sp>
        <p:nvSpPr>
          <p:cNvPr id="4" name="灯片编号占位符 3"/>
          <p:cNvSpPr>
            <a:spLocks noGrp="1"/>
          </p:cNvSpPr>
          <p:nvPr>
            <p:ph type="sldNum" sz="quarter" idx="12"/>
          </p:nvPr>
        </p:nvSpPr>
        <p:spPr/>
        <p:txBody>
          <a:bodyPr/>
          <a:lstStyle/>
          <a:p>
            <a:pPr fontAlgn="base">
              <a:spcBef>
                <a:spcPct val="0"/>
              </a:spcBef>
              <a:spcAft>
                <a:spcPct val="0"/>
              </a:spcAft>
              <a:defRPr/>
            </a:pPr>
            <a:fld id="{60AA300C-5100-4E9B-B634-DBB834BC0CF1}" type="slidenum">
              <a:rPr lang="en-US" altLang="zh-CN" sz="1400" smtClean="0">
                <a:solidFill>
                  <a:schemeClr val="tx1"/>
                </a:solidFill>
                <a:latin typeface="Arial" panose="020B0604020202020204" pitchFamily="34" charset="0"/>
              </a:rPr>
              <a:t>‹#›</a:t>
            </a:fld>
            <a:endParaRPr lang="en-US" altLang="zh-CN" sz="1400">
              <a:solidFill>
                <a:schemeClr val="tx1"/>
              </a:solidFill>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913A0F7-3BB5-F440-97B9-4D817BC94C2E}"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F693D0C-DDDA-2842-BF24-63B0D92C83EA}"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C3794A4-6F27-AA4D-83B1-2012E3FC6139}"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F3C6564-8F1E-EA47-A490-72DA92B0E0C3}"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1AB09D-36A2-F544-91B9-45A47ADC7866}"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B67B713-C294-1F4C-8B56-DA5EA5E6A3F8}"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636CB9-8DE1-554B-A35F-DFA3D3DD5EAE}"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7FE95B6-E0D1-B84D-8E89-9666380E5801}"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CC0843B-F8E8-4944-BFCA-830E07B4D890}"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EC09A6D-3807-0442-B8E2-F3C899CC74A6}"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7B5390C-C2B8-5549-82B9-9DB3A0D24670}"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3EDB31F-3C5B-EF40-9FCE-53E1BD799712}"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52"/>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1"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D0395F1-AB2C-D248-A8A4-D7FF1BB59026}"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6CC0A71-4152-724E-98A7-A2594CC67B9C}"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B8F9165-E4F7-2544-A8CE-16C200E62793}"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23984B7-29DA-F849-853F-43170569A4FA}" type="datetime1">
              <a:rPr lang="zh-CN" altLang="en-US" smtClean="0"/>
              <a:t>2025/8/11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D66EB2F-9E59-6E43-A468-B9AF2D6F84B9}" type="datetime1">
              <a:rPr lang="zh-CN" altLang="en-US" smtClean="0"/>
              <a:t>2025/8/11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044CDCC-06E8-1B4B-A711-381EB78FC415}" type="datetime1">
              <a:rPr lang="zh-CN" altLang="en-US" smtClean="0"/>
              <a:t>2025/8/11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base">
              <a:spcBef>
                <a:spcPct val="0"/>
              </a:spcBef>
              <a:spcAft>
                <a:spcPct val="0"/>
              </a:spcAft>
              <a:defRPr/>
            </a:pPr>
            <a:fld id="{22D57A3B-7197-CD4E-8C2C-9580C2475E9F}" type="datetime1">
              <a:rPr lang="zh-CN" altLang="en-US" sz="1400" smtClean="0">
                <a:solidFill>
                  <a:schemeClr val="tx1"/>
                </a:solidFill>
                <a:latin typeface="Arial" panose="020B0604020202020204" pitchFamily="34" charset="0"/>
              </a:rPr>
              <a:t>2025/8/11</a:t>
            </a:fld>
            <a:endParaRPr lang="en-US" altLang="zh-CN" sz="1400">
              <a:solidFill>
                <a:schemeClr val="tx1"/>
              </a:solidFill>
              <a:latin typeface="Arial" panose="020B0604020202020204" pitchFamily="34" charset="0"/>
            </a:endParaRPr>
          </a:p>
        </p:txBody>
      </p:sp>
      <p:sp>
        <p:nvSpPr>
          <p:cNvPr id="3" name="Footer Placeholder 2"/>
          <p:cNvSpPr>
            <a:spLocks noGrp="1"/>
          </p:cNvSpPr>
          <p:nvPr>
            <p:ph type="ftr" sz="quarter" idx="11"/>
          </p:nvPr>
        </p:nvSpPr>
        <p:spPr/>
        <p:txBody>
          <a:bodyPr/>
          <a:lstStyle/>
          <a:p>
            <a:pPr fontAlgn="base">
              <a:spcBef>
                <a:spcPct val="0"/>
              </a:spcBef>
              <a:spcAft>
                <a:spcPct val="0"/>
              </a:spcAft>
              <a:defRPr/>
            </a:pPr>
            <a:endParaRPr lang="en-US" altLang="zh-CN" sz="1400">
              <a:solidFill>
                <a:schemeClr val="tx1"/>
              </a:solidFill>
              <a:latin typeface="Arial" panose="020B0604020202020204" pitchFamily="34" charset="0"/>
            </a:endParaRPr>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60AA300C-5100-4E9B-B634-DBB834BC0CF1}" type="slidenum">
              <a:rPr lang="en-US" altLang="zh-CN" sz="1400" smtClean="0">
                <a:solidFill>
                  <a:schemeClr val="tx1"/>
                </a:solidFill>
                <a:latin typeface="Arial" panose="020B0604020202020204" pitchFamily="34" charset="0"/>
              </a:rPr>
              <a:t>‹#›</a:t>
            </a:fld>
            <a:endParaRPr lang="en-US" altLang="zh-CN" sz="1400">
              <a:solidFill>
                <a:schemeClr val="tx1"/>
              </a:solidFill>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24D7BD0-830E-8D40-9092-222021890EF4}" type="datetime1">
              <a:rPr lang="zh-CN" altLang="en-US" smtClean="0"/>
              <a:t>2025/8/11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772CFA2C-3E4F-D841-A8CE-F0CE35BE05EC}" type="datetime1">
              <a:rPr lang="zh-CN" altLang="en-US" smtClean="0"/>
              <a:t>2025/8/11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0BDA6CE-797F-9C42-A4C5-B54605BDD068}"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71FAB4-4428-DF4D-AE65-48089853AFC2}"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7CC45A7-4F19-EB4D-B82F-91AD8D593619}"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CFAB83E-1033-3748-99D4-D84C9395944C}"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3C93F20-E508-0C43-89DA-29981F2F5AE6}"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0C1585D-7E02-784E-8D8E-0AED9DED5319}"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2927608-E002-B946-9150-BDEAF78C303A}"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B6C86B3-B340-5545-95B0-063F4EB510C0}"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88F8EEB-494B-9041-99F4-EDC0A6ED3637}"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3E4CFC8-E3C2-D74E-9FA4-AFFC31CA0BEB}"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AFA5305-F5B3-114F-BB79-84A81D9C41DE}"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4DB629D-70F4-AB46-9F3E-55F6D203D36C}"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43420BA-3BEF-8249-BB42-34E5ACA89996}"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B3EDE4D-EC33-9A43-89F6-1A6BB9114A38}"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43DF29D-5D8E-5843-9D93-0A44D41AE7B3}"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aseline="0">
                <a:latin typeface="Arial" panose="020B0604020202020204" pitchFamily="34" charset="0"/>
                <a:ea typeface="黑体" panose="02010609060101010101" pitchFamily="49" charset="-122"/>
              </a:defRPr>
            </a:lvl1pPr>
            <a:lvl2pPr>
              <a:defRPr baseline="0">
                <a:latin typeface="Arial" panose="020B0604020202020204" pitchFamily="34" charset="0"/>
                <a:ea typeface="黑体" panose="02010609060101010101" pitchFamily="49" charset="-122"/>
              </a:defRPr>
            </a:lvl2pPr>
            <a:lvl3pPr>
              <a:defRPr baseline="0">
                <a:latin typeface="Arial" panose="020B0604020202020204" pitchFamily="34" charset="0"/>
                <a:ea typeface="黑体" panose="02010609060101010101" pitchFamily="49" charset="-122"/>
              </a:defRPr>
            </a:lvl3pPr>
            <a:lvl4pPr>
              <a:defRPr baseline="0">
                <a:latin typeface="Arial" panose="020B0604020202020204" pitchFamily="34" charset="0"/>
                <a:ea typeface="黑体" panose="02010609060101010101" pitchFamily="49" charset="-122"/>
              </a:defRPr>
            </a:lvl4pPr>
            <a:lvl5pPr>
              <a:defRPr baseline="0">
                <a:latin typeface="Arial" panose="020B0604020202020204" pitchFamily="34" charset="0"/>
                <a:ea typeface="黑体" panose="02010609060101010101" pitchFamily="49"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5E0E950-577F-3C43-A7AA-5F0091F59E31}" type="datetime1">
              <a:rPr lang="zh-CN" altLang="en-US" smtClean="0"/>
              <a:t>2025/8/11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10498375" y="6360348"/>
            <a:ext cx="588980" cy="365125"/>
          </a:xfrm>
        </p:spPr>
        <p:txBody>
          <a:bodyPr/>
          <a:lstStyle>
            <a:lvl1pPr>
              <a:defRPr sz="1600">
                <a:latin typeface="Arial" panose="020B0604020202020204" pitchFamily="34" charset="0"/>
                <a:cs typeface="Arial" panose="020B0604020202020204" pitchFamily="34" charset="0"/>
              </a:defRPr>
            </a:lvl1pPr>
          </a:lstStyle>
          <a:p>
            <a:fld id="{110EAE47-F370-4DB0-81B0-3BBC603F08BE}" type="slidenum">
              <a:rPr lang="zh-CN" altLang="en-US" smtClean="0"/>
              <a:t>‹#›</a:t>
            </a:fld>
            <a:endParaRPr lang="zh-CN" altLang="en-US" sz="1600" dirty="0"/>
          </a:p>
        </p:txBody>
      </p:sp>
      <p:sp>
        <p:nvSpPr>
          <p:cNvPr id="10" name="文本占位符 9"/>
          <p:cNvSpPr>
            <a:spLocks noGrp="1"/>
          </p:cNvSpPr>
          <p:nvPr>
            <p:ph type="body" sz="quarter" idx="13"/>
          </p:nvPr>
        </p:nvSpPr>
        <p:spPr>
          <a:xfrm>
            <a:off x="3779520" y="136524"/>
            <a:ext cx="8365067" cy="488316"/>
          </a:xfrm>
        </p:spPr>
        <p:txBody>
          <a:bodyPr/>
          <a:lstStyle>
            <a:lvl1pPr marL="0" indent="0" algn="ctr">
              <a:buNone/>
              <a:defRPr baseline="0">
                <a:solidFill>
                  <a:schemeClr val="bg1"/>
                </a:solidFill>
                <a:latin typeface="Arial" panose="020B0604020202020204" pitchFamily="34" charset="0"/>
                <a:ea typeface="黑体" panose="02010609060101010101" pitchFamily="49" charset="-122"/>
              </a:defRPr>
            </a:lvl1pPr>
            <a:lvl2pPr>
              <a:defRPr baseline="0">
                <a:solidFill>
                  <a:schemeClr val="bg1"/>
                </a:solidFill>
                <a:latin typeface="Arial" panose="020B0604020202020204" pitchFamily="34" charset="0"/>
                <a:ea typeface="黑体" panose="02010609060101010101" pitchFamily="49" charset="-122"/>
              </a:defRPr>
            </a:lvl2pPr>
            <a:lvl3pPr>
              <a:defRPr baseline="0">
                <a:solidFill>
                  <a:schemeClr val="bg1"/>
                </a:solidFill>
                <a:latin typeface="Arial" panose="020B0604020202020204" pitchFamily="34" charset="0"/>
                <a:ea typeface="黑体" panose="02010609060101010101" pitchFamily="49" charset="-122"/>
              </a:defRPr>
            </a:lvl3pPr>
            <a:lvl4pPr>
              <a:defRPr baseline="0">
                <a:solidFill>
                  <a:schemeClr val="bg1"/>
                </a:solidFill>
                <a:latin typeface="Arial" panose="020B0604020202020204" pitchFamily="34" charset="0"/>
                <a:ea typeface="黑体" panose="02010609060101010101" pitchFamily="49" charset="-122"/>
              </a:defRPr>
            </a:lvl4pPr>
            <a:lvl5pPr>
              <a:defRPr baseline="0">
                <a:solidFill>
                  <a:schemeClr val="bg1"/>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文本框 1"/>
          <p:cNvSpPr txBox="1"/>
          <p:nvPr userDrawn="1"/>
        </p:nvSpPr>
        <p:spPr>
          <a:xfrm>
            <a:off x="10917793" y="6360347"/>
            <a:ext cx="274434" cy="369332"/>
          </a:xfrm>
          <a:prstGeom prst="rect">
            <a:avLst/>
          </a:prstGeom>
          <a:noFill/>
        </p:spPr>
        <p:txBody>
          <a:bodyPr wrap="none" rtlCol="0">
            <a:spAutoFit/>
          </a:bodyPr>
          <a:lstStyle/>
          <a:p>
            <a:r>
              <a:rPr lang="en-US" altLang="zh-CN" sz="1800" dirty="0">
                <a:solidFill>
                  <a:schemeClr val="bg1">
                    <a:lumMod val="50000"/>
                  </a:schemeClr>
                </a:solidFill>
              </a:rPr>
              <a:t>/</a:t>
            </a:r>
            <a:endParaRPr lang="zh-CN" altLang="en-US" sz="1800" dirty="0">
              <a:solidFill>
                <a:schemeClr val="bg1">
                  <a:lumMod val="50000"/>
                </a:scheme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内容 标题缩减_无正文">
    <p:spTree>
      <p:nvGrpSpPr>
        <p:cNvPr id="1" name=""/>
        <p:cNvGrpSpPr/>
        <p:nvPr/>
      </p:nvGrpSpPr>
      <p:grpSpPr>
        <a:xfrm>
          <a:off x="0" y="0"/>
          <a:ext cx="0" cy="0"/>
          <a:chOff x="0" y="0"/>
          <a:chExt cx="0" cy="0"/>
        </a:xfrm>
      </p:grpSpPr>
      <p:sp>
        <p:nvSpPr>
          <p:cNvPr id="4" name="Rectangle 8"/>
          <p:cNvSpPr>
            <a:spLocks noChangeArrowheads="1"/>
          </p:cNvSpPr>
          <p:nvPr/>
        </p:nvSpPr>
        <p:spPr bwMode="auto">
          <a:xfrm>
            <a:off x="12315088" y="3388809"/>
            <a:ext cx="1814032" cy="1693545"/>
          </a:xfrm>
          <a:prstGeom prst="rect">
            <a:avLst/>
          </a:prstGeom>
          <a:noFill/>
          <a:ln w="9525">
            <a:noFill/>
            <a:miter lim="800000"/>
          </a:ln>
        </p:spPr>
        <p:txBody>
          <a:bodyPr lIns="124553" tIns="62281" rIns="124553" bIns="62281" anchor="b" anchorCtr="1">
            <a:spAutoFit/>
          </a:bodyPr>
          <a:lstStyle/>
          <a:p>
            <a:pPr defTabSz="1246505">
              <a:defRPr/>
            </a:pPr>
            <a:r>
              <a:rPr lang="en-US" sz="1200" noProof="1">
                <a:solidFill>
                  <a:schemeClr val="bg1"/>
                </a:solidFill>
                <a:latin typeface="Arial" panose="020B0604020202020204" pitchFamily="34" charset="0"/>
                <a:ea typeface="Heiti SC Light"/>
                <a:cs typeface="Arial" panose="020B0604020202020204" pitchFamily="34" charset="0"/>
              </a:rPr>
              <a:t>T</a:t>
            </a:r>
            <a:r>
              <a:rPr lang="en-US" altLang="zh-CN" sz="1200" noProof="1">
                <a:solidFill>
                  <a:schemeClr val="bg1"/>
                </a:solidFill>
                <a:latin typeface="Arial" panose="020B0604020202020204" pitchFamily="34" charset="0"/>
                <a:ea typeface="Heiti SC Light"/>
                <a:cs typeface="Arial" panose="020B0604020202020204" pitchFamily="34" charset="0"/>
              </a:rPr>
              <a:t>itle:</a:t>
            </a:r>
            <a:endParaRPr lang="en-US" altLang="ja-JP" sz="1200" noProof="1">
              <a:solidFill>
                <a:schemeClr val="bg1"/>
              </a:solidFill>
              <a:latin typeface="Arial" panose="020B0604020202020204" pitchFamily="34" charset="0"/>
              <a:ea typeface="Heiti SC Light"/>
              <a:cs typeface="Arial" panose="020B0604020202020204" pitchFamily="34" charset="0"/>
            </a:endParaRPr>
          </a:p>
          <a:p>
            <a:pPr defTabSz="1246505">
              <a:defRPr/>
            </a:pPr>
            <a:r>
              <a:rPr lang="en-US" altLang="zh-CN" sz="1100" noProof="1">
                <a:solidFill>
                  <a:schemeClr val="bg1"/>
                </a:solidFill>
                <a:latin typeface="Arial" panose="020B0604020202020204" pitchFamily="34" charset="0"/>
                <a:ea typeface="Heiti SC Light"/>
                <a:cs typeface="Arial" panose="020B0604020202020204" pitchFamily="34" charset="0"/>
              </a:rPr>
              <a:t>Type</a:t>
            </a:r>
            <a:r>
              <a:rPr lang="en-US" altLang="ja-JP" sz="1100" noProof="1">
                <a:solidFill>
                  <a:schemeClr val="bg1"/>
                </a:solidFill>
                <a:latin typeface="Arial" panose="020B0604020202020204" pitchFamily="34" charset="0"/>
                <a:ea typeface="Heiti SC Light"/>
                <a:cs typeface="Arial" panose="020B0604020202020204" pitchFamily="34" charset="0"/>
              </a:rPr>
              <a:t>: </a:t>
            </a:r>
            <a:r>
              <a:rPr lang="en-US" altLang="ja-JP" sz="1100" noProof="1">
                <a:solidFill>
                  <a:schemeClr val="bg1"/>
                </a:solidFill>
                <a:latin typeface="Arial" panose="020B0604020202020204" pitchFamily="34" charset="0"/>
                <a:ea typeface="MS PGothic" panose="020B0600070205080204" pitchFamily="34" charset="-128"/>
                <a:cs typeface="Arial" panose="020B0604020202020204" pitchFamily="34" charset="0"/>
              </a:rPr>
              <a:t>Arial</a:t>
            </a:r>
            <a:endParaRPr lang="en-US" sz="1100" dirty="0">
              <a:solidFill>
                <a:schemeClr val="bg1"/>
              </a:solidFill>
              <a:latin typeface="Arial" panose="020B0604020202020204" pitchFamily="34" charset="0"/>
              <a:ea typeface="Heiti SC Light"/>
              <a:cs typeface="Arial" panose="020B0604020202020204" pitchFamily="34" charset="0"/>
            </a:endParaRPr>
          </a:p>
          <a:p>
            <a:pPr defTabSz="1246505">
              <a:defRPr/>
            </a:pPr>
            <a:r>
              <a:rPr lang="en-US" sz="1100" noProof="1">
                <a:solidFill>
                  <a:schemeClr val="bg1"/>
                </a:solidFill>
                <a:latin typeface="Arial" panose="020B0604020202020204" pitchFamily="34" charset="0"/>
                <a:ea typeface="Heiti SC Light"/>
                <a:cs typeface="Heiti SC Light"/>
              </a:rPr>
              <a:t>S</a:t>
            </a:r>
            <a:r>
              <a:rPr lang="en-US" altLang="zh-CN" sz="1100" noProof="1">
                <a:solidFill>
                  <a:schemeClr val="bg1"/>
                </a:solidFill>
                <a:latin typeface="Arial" panose="020B0604020202020204" pitchFamily="34" charset="0"/>
                <a:ea typeface="Heiti SC Light"/>
                <a:cs typeface="Heiti SC Light"/>
              </a:rPr>
              <a:t>ize</a:t>
            </a:r>
            <a:r>
              <a:rPr lang="en-US" sz="1100" noProof="1">
                <a:solidFill>
                  <a:schemeClr val="bg1"/>
                </a:solidFill>
                <a:latin typeface="Arial" panose="020B0604020202020204" pitchFamily="34" charset="0"/>
                <a:ea typeface="Heiti SC Light"/>
                <a:cs typeface="Heiti SC Light"/>
              </a:rPr>
              <a:t>：</a:t>
            </a:r>
            <a:r>
              <a:rPr lang="en-US" altLang="ja-JP" sz="1100" noProof="1">
                <a:solidFill>
                  <a:schemeClr val="bg1"/>
                </a:solidFill>
                <a:latin typeface="Arial" panose="020B0604020202020204" pitchFamily="34" charset="0"/>
                <a:ea typeface="Heiti SC Light"/>
                <a:cs typeface="Heiti SC Light"/>
              </a:rPr>
              <a:t>22-24</a:t>
            </a:r>
            <a:r>
              <a:rPr lang="en-US" altLang="zh-CN" sz="1100" noProof="1">
                <a:solidFill>
                  <a:schemeClr val="bg1"/>
                </a:solidFill>
                <a:latin typeface="Arial" panose="020B0604020202020204" pitchFamily="34" charset="0"/>
                <a:ea typeface="Heiti SC Light"/>
                <a:cs typeface="Heiti SC Light"/>
              </a:rPr>
              <a:t>pt</a:t>
            </a:r>
            <a:endParaRPr lang="en-US" altLang="ja-JP" sz="1100" noProof="1">
              <a:solidFill>
                <a:schemeClr val="bg1"/>
              </a:solidFill>
              <a:latin typeface="Arial" panose="020B0604020202020204" pitchFamily="34" charset="0"/>
              <a:ea typeface="Heiti SC Light"/>
              <a:cs typeface="Heiti SC Light"/>
            </a:endParaRPr>
          </a:p>
          <a:p>
            <a:pPr defTabSz="1246505">
              <a:defRPr/>
            </a:pPr>
            <a:r>
              <a:rPr lang="en-US" sz="1100" noProof="1">
                <a:solidFill>
                  <a:schemeClr val="bg1"/>
                </a:solidFill>
                <a:latin typeface="Arial" panose="020B0604020202020204" pitchFamily="34" charset="0"/>
                <a:ea typeface="Heiti SC Light"/>
                <a:cs typeface="Heiti SC Light"/>
              </a:rPr>
              <a:t>C</a:t>
            </a:r>
            <a:r>
              <a:rPr lang="en-US" altLang="zh-CN" sz="1100" noProof="1">
                <a:solidFill>
                  <a:schemeClr val="bg1"/>
                </a:solidFill>
                <a:latin typeface="Arial" panose="020B0604020202020204" pitchFamily="34" charset="0"/>
                <a:ea typeface="Heiti SC Light"/>
                <a:cs typeface="Heiti SC Light"/>
              </a:rPr>
              <a:t>olor</a:t>
            </a:r>
            <a:r>
              <a:rPr lang="en-US" sz="1100" noProof="1">
                <a:solidFill>
                  <a:schemeClr val="bg1"/>
                </a:solidFill>
                <a:latin typeface="Arial" panose="020B0604020202020204" pitchFamily="34" charset="0"/>
                <a:ea typeface="Heiti SC Light"/>
                <a:cs typeface="Heiti SC Light"/>
              </a:rPr>
              <a:t>：T</a:t>
            </a:r>
            <a:r>
              <a:rPr lang="en-US" altLang="zh-CN" sz="1100" noProof="1">
                <a:solidFill>
                  <a:schemeClr val="bg1"/>
                </a:solidFill>
                <a:latin typeface="Arial" panose="020B0604020202020204" pitchFamily="34" charset="0"/>
                <a:ea typeface="Heiti SC Light"/>
                <a:cs typeface="Heiti SC Light"/>
              </a:rPr>
              <a:t>he ZTE blue</a:t>
            </a:r>
            <a:r>
              <a:rPr lang="en-US" altLang="ja-JP" sz="1100" noProof="1">
                <a:solidFill>
                  <a:schemeClr val="bg1"/>
                </a:solidFill>
                <a:latin typeface="Arial" panose="020B0604020202020204" pitchFamily="34" charset="0"/>
                <a:ea typeface="Heiti SC Light"/>
                <a:cs typeface="Heiti SC Light"/>
              </a:rPr>
              <a:t> </a:t>
            </a:r>
          </a:p>
          <a:p>
            <a:pPr defTabSz="1246505">
              <a:defRPr/>
            </a:pPr>
            <a:endParaRPr lang="en-US" altLang="zh-CN" sz="1200" noProof="1">
              <a:solidFill>
                <a:schemeClr val="bg1"/>
              </a:solidFill>
              <a:latin typeface="Arial" panose="020B0604020202020204" pitchFamily="34" charset="0"/>
              <a:ea typeface="Heiti SC Light"/>
              <a:cs typeface="Heiti SC Light"/>
            </a:endParaRPr>
          </a:p>
          <a:p>
            <a:pPr defTabSz="1246505">
              <a:defRPr/>
            </a:pPr>
            <a:r>
              <a:rPr lang="en-US" altLang="zh-CN" sz="1200" noProof="1">
                <a:solidFill>
                  <a:schemeClr val="bg1"/>
                </a:solidFill>
                <a:latin typeface="Arial" panose="020B0604020202020204" pitchFamily="34" charset="0"/>
                <a:ea typeface="Heiti SC Light"/>
                <a:cs typeface="Heiti SC Light"/>
              </a:rPr>
              <a:t>Subtitle:</a:t>
            </a:r>
            <a:endParaRPr lang="en-US" altLang="ja-JP" sz="1200" noProof="1">
              <a:solidFill>
                <a:schemeClr val="bg1"/>
              </a:solidFill>
              <a:latin typeface="Arial" panose="020B0604020202020204" pitchFamily="34" charset="0"/>
              <a:ea typeface="Heiti SC Light"/>
              <a:cs typeface="Heiti SC Light"/>
            </a:endParaRPr>
          </a:p>
          <a:p>
            <a:pPr defTabSz="1246505">
              <a:defRPr/>
            </a:pPr>
            <a:r>
              <a:rPr lang="en-US" sz="1100" noProof="1">
                <a:solidFill>
                  <a:schemeClr val="bg1"/>
                </a:solidFill>
                <a:latin typeface="Arial" panose="020B0604020202020204" pitchFamily="34" charset="0"/>
                <a:ea typeface="Heiti SC Light"/>
                <a:cs typeface="Heiti SC Light"/>
              </a:rPr>
              <a:t>T</a:t>
            </a:r>
            <a:r>
              <a:rPr lang="en-US" altLang="zh-CN" sz="1100" noProof="1">
                <a:solidFill>
                  <a:schemeClr val="bg1"/>
                </a:solidFill>
                <a:latin typeface="Arial" panose="020B0604020202020204" pitchFamily="34" charset="0"/>
                <a:ea typeface="Heiti SC Light"/>
                <a:cs typeface="Heiti SC Light"/>
              </a:rPr>
              <a:t>ype: </a:t>
            </a:r>
            <a:r>
              <a:rPr lang="en-US" altLang="ja-JP" sz="1100" noProof="1">
                <a:solidFill>
                  <a:schemeClr val="bg1"/>
                </a:solidFill>
                <a:latin typeface="Arial" panose="020B0604020202020204" pitchFamily="34" charset="0"/>
                <a:ea typeface="MS PGothic" panose="020B0600070205080204" pitchFamily="34" charset="-128"/>
                <a:cs typeface="Arial" panose="020B0604020202020204" pitchFamily="34" charset="0"/>
              </a:rPr>
              <a:t>Arial</a:t>
            </a:r>
            <a:endParaRPr lang="en-US" sz="1100" dirty="0">
              <a:solidFill>
                <a:schemeClr val="bg1"/>
              </a:solidFill>
              <a:latin typeface="Arial" panose="020B0604020202020204" pitchFamily="34" charset="0"/>
              <a:cs typeface="Arial" panose="020B0604020202020204" pitchFamily="34" charset="0"/>
            </a:endParaRPr>
          </a:p>
          <a:p>
            <a:pPr defTabSz="1246505">
              <a:defRPr/>
            </a:pPr>
            <a:r>
              <a:rPr lang="en-US" sz="1100" noProof="1">
                <a:solidFill>
                  <a:schemeClr val="bg1"/>
                </a:solidFill>
                <a:latin typeface="Arial" panose="020B0604020202020204" pitchFamily="34" charset="0"/>
                <a:ea typeface="Heiti SC Light"/>
                <a:cs typeface="Heiti SC Light"/>
              </a:rPr>
              <a:t>S</a:t>
            </a:r>
            <a:r>
              <a:rPr lang="en-US" altLang="zh-CN" sz="1100" noProof="1">
                <a:solidFill>
                  <a:schemeClr val="bg1"/>
                </a:solidFill>
                <a:latin typeface="Arial" panose="020B0604020202020204" pitchFamily="34" charset="0"/>
                <a:ea typeface="Heiti SC Light"/>
                <a:cs typeface="Heiti SC Light"/>
              </a:rPr>
              <a:t>ize</a:t>
            </a:r>
            <a:r>
              <a:rPr lang="en-US" sz="1100" noProof="1">
                <a:solidFill>
                  <a:schemeClr val="bg1"/>
                </a:solidFill>
                <a:latin typeface="Arial" panose="020B0604020202020204" pitchFamily="34" charset="0"/>
                <a:ea typeface="Heiti SC Light"/>
                <a:cs typeface="Heiti SC Light"/>
              </a:rPr>
              <a:t>：14-</a:t>
            </a:r>
            <a:r>
              <a:rPr lang="en-US" altLang="ja-JP" sz="1100" noProof="1">
                <a:solidFill>
                  <a:schemeClr val="bg1"/>
                </a:solidFill>
                <a:latin typeface="Arial" panose="020B0604020202020204" pitchFamily="34" charset="0"/>
                <a:ea typeface="Heiti SC Light"/>
                <a:cs typeface="Heiti SC Light"/>
              </a:rPr>
              <a:t>18pt</a:t>
            </a:r>
          </a:p>
          <a:p>
            <a:pPr defTabSz="1246505">
              <a:defRPr/>
            </a:pPr>
            <a:r>
              <a:rPr lang="en-US" sz="1100" noProof="1">
                <a:solidFill>
                  <a:schemeClr val="bg1"/>
                </a:solidFill>
                <a:latin typeface="Arial" panose="020B0604020202020204" pitchFamily="34" charset="0"/>
                <a:ea typeface="Heiti SC Light"/>
                <a:cs typeface="Heiti SC Light"/>
              </a:rPr>
              <a:t>Color: The </a:t>
            </a:r>
            <a:r>
              <a:rPr lang="en-US" altLang="zh-CN" sz="1100" noProof="1">
                <a:solidFill>
                  <a:schemeClr val="bg1"/>
                </a:solidFill>
                <a:latin typeface="Arial" panose="020B0604020202020204" pitchFamily="34" charset="0"/>
                <a:ea typeface="Heiti SC Light"/>
                <a:cs typeface="Heiti SC Light"/>
              </a:rPr>
              <a:t>ZTE green</a:t>
            </a:r>
            <a:endParaRPr lang="en-US" altLang="ja-JP" sz="1100" noProof="1">
              <a:solidFill>
                <a:schemeClr val="bg1"/>
              </a:solidFill>
              <a:latin typeface="Arial" panose="020B0604020202020204" pitchFamily="34" charset="0"/>
              <a:ea typeface="Heiti SC Light"/>
              <a:cs typeface="Heiti SC Light"/>
            </a:endParaRPr>
          </a:p>
        </p:txBody>
      </p:sp>
      <p:grpSp>
        <p:nvGrpSpPr>
          <p:cNvPr id="2" name="组 5"/>
          <p:cNvGrpSpPr/>
          <p:nvPr/>
        </p:nvGrpSpPr>
        <p:grpSpPr bwMode="auto">
          <a:xfrm>
            <a:off x="12486544" y="5135272"/>
            <a:ext cx="1856364" cy="1318745"/>
            <a:chOff x="9286278" y="1725515"/>
            <a:chExt cx="1392554" cy="989008"/>
          </a:xfrm>
        </p:grpSpPr>
        <p:grpSp>
          <p:nvGrpSpPr>
            <p:cNvPr id="3" name="组 6"/>
            <p:cNvGrpSpPr/>
            <p:nvPr/>
          </p:nvGrpSpPr>
          <p:grpSpPr bwMode="auto">
            <a:xfrm>
              <a:off x="9286278" y="1725515"/>
              <a:ext cx="935250" cy="253999"/>
              <a:chOff x="9286278" y="1725515"/>
              <a:chExt cx="935250" cy="253999"/>
            </a:xfrm>
          </p:grpSpPr>
          <p:sp>
            <p:nvSpPr>
              <p:cNvPr id="12" name="矩形 18"/>
              <p:cNvSpPr/>
              <p:nvPr/>
            </p:nvSpPr>
            <p:spPr>
              <a:xfrm>
                <a:off x="9286278" y="1725515"/>
                <a:ext cx="254058" cy="253999"/>
              </a:xfrm>
              <a:prstGeom prst="rect">
                <a:avLst/>
              </a:prstGeom>
              <a:solidFill>
                <a:srgbClr val="008FD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dirty="0">
                  <a:latin typeface="Arial" panose="020B0604020202020204" pitchFamily="34" charset="0"/>
                  <a:cs typeface="Arial" panose="020B0604020202020204" pitchFamily="34" charset="0"/>
                </a:endParaRPr>
              </a:p>
            </p:txBody>
          </p:sp>
          <p:sp>
            <p:nvSpPr>
              <p:cNvPr id="13" name="文本框 19"/>
              <p:cNvSpPr txBox="1">
                <a:spLocks noChangeArrowheads="1"/>
              </p:cNvSpPr>
              <p:nvPr/>
            </p:nvSpPr>
            <p:spPr bwMode="auto">
              <a:xfrm>
                <a:off x="9503815" y="1757265"/>
                <a:ext cx="717713" cy="172394"/>
              </a:xfrm>
              <a:prstGeom prst="rect">
                <a:avLst/>
              </a:prstGeom>
              <a:noFill/>
              <a:ln w="9525">
                <a:noFill/>
                <a:miter lim="800000"/>
              </a:ln>
            </p:spPr>
            <p:txBody>
              <a:bodyPr>
                <a:spAutoFit/>
              </a:bodyPr>
              <a:lstStyle/>
              <a:p>
                <a:pPr>
                  <a:defRPr/>
                </a:pPr>
                <a:r>
                  <a:rPr kumimoji="1" lang="en-US" altLang="zh-CN" sz="900" i="1" dirty="0">
                    <a:solidFill>
                      <a:schemeClr val="bg1"/>
                    </a:solidFill>
                    <a:latin typeface="Arial" panose="020B0604020202020204" pitchFamily="34" charset="0"/>
                    <a:cs typeface="Arial" panose="020B0604020202020204" pitchFamily="34" charset="0"/>
                  </a:rPr>
                  <a:t>G143, B212</a:t>
                </a:r>
                <a:endParaRPr kumimoji="1" lang="zh-CN" altLang="en-US" sz="900" i="1" dirty="0">
                  <a:solidFill>
                    <a:schemeClr val="bg1"/>
                  </a:solidFill>
                  <a:latin typeface="Arial" panose="020B0604020202020204" pitchFamily="34" charset="0"/>
                  <a:cs typeface="Arial" panose="020B0604020202020204" pitchFamily="34" charset="0"/>
                </a:endParaRPr>
              </a:p>
            </p:txBody>
          </p:sp>
        </p:grpSp>
        <p:grpSp>
          <p:nvGrpSpPr>
            <p:cNvPr id="5" name="组 9"/>
            <p:cNvGrpSpPr/>
            <p:nvPr/>
          </p:nvGrpSpPr>
          <p:grpSpPr bwMode="auto">
            <a:xfrm>
              <a:off x="9286278" y="2098576"/>
              <a:ext cx="1198835" cy="253999"/>
              <a:chOff x="9286278" y="2098576"/>
              <a:chExt cx="1198835" cy="253999"/>
            </a:xfrm>
          </p:grpSpPr>
          <p:sp>
            <p:nvSpPr>
              <p:cNvPr id="10" name="矩形 14"/>
              <p:cNvSpPr/>
              <p:nvPr/>
            </p:nvSpPr>
            <p:spPr>
              <a:xfrm>
                <a:off x="9286278" y="2098576"/>
                <a:ext cx="254058" cy="253999"/>
              </a:xfrm>
              <a:prstGeom prst="rect">
                <a:avLst/>
              </a:prstGeom>
              <a:solidFill>
                <a:srgbClr val="8CC63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dirty="0">
                  <a:latin typeface="Arial" panose="020B0604020202020204" pitchFamily="34" charset="0"/>
                  <a:cs typeface="Arial" panose="020B0604020202020204" pitchFamily="34" charset="0"/>
                </a:endParaRPr>
              </a:p>
            </p:txBody>
          </p:sp>
          <p:sp>
            <p:nvSpPr>
              <p:cNvPr id="11" name="文本框 15"/>
              <p:cNvSpPr txBox="1">
                <a:spLocks noChangeArrowheads="1"/>
              </p:cNvSpPr>
              <p:nvPr/>
            </p:nvSpPr>
            <p:spPr bwMode="auto">
              <a:xfrm>
                <a:off x="9503815" y="2130326"/>
                <a:ext cx="981298" cy="172394"/>
              </a:xfrm>
              <a:prstGeom prst="rect">
                <a:avLst/>
              </a:prstGeom>
              <a:noFill/>
              <a:ln w="9525">
                <a:noFill/>
                <a:miter lim="800000"/>
              </a:ln>
            </p:spPr>
            <p:txBody>
              <a:bodyPr>
                <a:spAutoFit/>
              </a:bodyPr>
              <a:lstStyle/>
              <a:p>
                <a:pPr>
                  <a:defRPr/>
                </a:pPr>
                <a:r>
                  <a:rPr kumimoji="1" lang="en-US" altLang="zh-CN" sz="900" i="1" dirty="0">
                    <a:solidFill>
                      <a:schemeClr val="bg1"/>
                    </a:solidFill>
                    <a:latin typeface="Arial" panose="020B0604020202020204" pitchFamily="34" charset="0"/>
                    <a:cs typeface="Arial" panose="020B0604020202020204" pitchFamily="34" charset="0"/>
                  </a:rPr>
                  <a:t>R140,G198, B62</a:t>
                </a:r>
                <a:endParaRPr kumimoji="1" lang="zh-CN" altLang="en-US" sz="900" i="1" dirty="0">
                  <a:solidFill>
                    <a:schemeClr val="bg1"/>
                  </a:solidFill>
                  <a:latin typeface="Arial" panose="020B0604020202020204" pitchFamily="34" charset="0"/>
                  <a:cs typeface="Arial" panose="020B0604020202020204" pitchFamily="34" charset="0"/>
                </a:endParaRPr>
              </a:p>
            </p:txBody>
          </p:sp>
        </p:grpSp>
        <p:sp>
          <p:nvSpPr>
            <p:cNvPr id="8" name="矩形 10"/>
            <p:cNvSpPr/>
            <p:nvPr/>
          </p:nvSpPr>
          <p:spPr>
            <a:xfrm>
              <a:off x="9286278" y="2460524"/>
              <a:ext cx="254058" cy="253999"/>
            </a:xfrm>
            <a:prstGeom prst="rect">
              <a:avLst/>
            </a:prstGeom>
            <a:solidFill>
              <a:srgbClr val="5ACBF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1" lang="zh-CN" altLang="en-US" dirty="0">
                <a:latin typeface="Arial" panose="020B0604020202020204" pitchFamily="34" charset="0"/>
                <a:cs typeface="Arial" panose="020B0604020202020204" pitchFamily="34" charset="0"/>
              </a:endParaRPr>
            </a:p>
          </p:txBody>
        </p:sp>
        <p:sp>
          <p:nvSpPr>
            <p:cNvPr id="9" name="文本框 12"/>
            <p:cNvSpPr txBox="1">
              <a:spLocks noChangeArrowheads="1"/>
            </p:cNvSpPr>
            <p:nvPr/>
          </p:nvSpPr>
          <p:spPr bwMode="auto">
            <a:xfrm>
              <a:off x="9503815" y="2490686"/>
              <a:ext cx="1175017" cy="172394"/>
            </a:xfrm>
            <a:prstGeom prst="rect">
              <a:avLst/>
            </a:prstGeom>
            <a:noFill/>
            <a:ln w="9525">
              <a:noFill/>
              <a:miter lim="800000"/>
            </a:ln>
          </p:spPr>
          <p:txBody>
            <a:bodyPr>
              <a:spAutoFit/>
            </a:bodyPr>
            <a:lstStyle/>
            <a:p>
              <a:pPr>
                <a:defRPr/>
              </a:pPr>
              <a:r>
                <a:rPr kumimoji="1" lang="en-US" altLang="zh-CN" sz="900" i="1" dirty="0">
                  <a:solidFill>
                    <a:schemeClr val="bg1"/>
                  </a:solidFill>
                  <a:latin typeface="Arial" panose="020B0604020202020204" pitchFamily="34" charset="0"/>
                  <a:cs typeface="Arial" panose="020B0604020202020204" pitchFamily="34" charset="0"/>
                </a:rPr>
                <a:t>R90,G203, B245</a:t>
              </a:r>
              <a:endParaRPr kumimoji="1" lang="zh-CN" altLang="en-US" sz="900" i="1" dirty="0">
                <a:solidFill>
                  <a:schemeClr val="bg1"/>
                </a:solidFill>
                <a:latin typeface="Arial" panose="020B0604020202020204" pitchFamily="34" charset="0"/>
                <a:cs typeface="Arial" panose="020B0604020202020204" pitchFamily="34" charset="0"/>
              </a:endParaRPr>
            </a:p>
          </p:txBody>
        </p:sp>
      </p:grpSp>
      <p:sp>
        <p:nvSpPr>
          <p:cNvPr id="33" name="标题 13"/>
          <p:cNvSpPr>
            <a:spLocks noGrp="1"/>
          </p:cNvSpPr>
          <p:nvPr>
            <p:ph type="title"/>
          </p:nvPr>
        </p:nvSpPr>
        <p:spPr>
          <a:xfrm>
            <a:off x="173270" y="149371"/>
            <a:ext cx="11351979" cy="520027"/>
          </a:xfrm>
        </p:spPr>
        <p:txBody>
          <a:bodyPr rtlCol="0">
            <a:noAutofit/>
          </a:bodyPr>
          <a:lstStyle>
            <a:lvl1pPr>
              <a:defRPr lang="zh-CN" altLang="en-US" b="1" dirty="0">
                <a:solidFill>
                  <a:srgbClr val="008FD4"/>
                </a:solidFill>
                <a:latin typeface="Arial" panose="020B0604020202020204" pitchFamily="34" charset="0"/>
                <a:cs typeface="Arial" panose="020B0604020202020204" pitchFamily="34" charset="0"/>
              </a:defRPr>
            </a:lvl1pPr>
          </a:lstStyle>
          <a:p>
            <a:pPr lvl="0"/>
            <a:r>
              <a:rPr lang="zh-CN" altLang="en-US" dirty="0"/>
              <a:t>单击此处编辑母版标题样式</a:t>
            </a:r>
          </a:p>
        </p:txBody>
      </p:sp>
    </p:spTree>
  </p:cSld>
  <p:clrMapOvr>
    <a:masterClrMapping/>
  </p:clrMapOvr>
  <p:transition spd="slow" advClick="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710" y="86735"/>
            <a:ext cx="11416490" cy="601883"/>
          </a:xfrm>
          <a:noFill/>
        </p:spPr>
        <p:txBody>
          <a:bodyPr/>
          <a:lstStyle>
            <a:lvl1pPr>
              <a:defRPr sz="3200" b="1">
                <a:solidFill>
                  <a:schemeClr val="accent3"/>
                </a:solidFill>
                <a:latin typeface="微软雅黑" panose="020B0503020204020204" charset="-122"/>
                <a:ea typeface="微软雅黑" panose="020B0503020204020204" charset="-122"/>
                <a:cs typeface="Calibri" panose="020F0502020204030204" pitchFamily="34" charset="0"/>
              </a:defRPr>
            </a:lvl1pPr>
          </a:lstStyle>
          <a:p>
            <a:r>
              <a:rPr lang="en-US" dirty="0"/>
              <a:t>Click to edit Master title style                 </a:t>
            </a:r>
          </a:p>
        </p:txBody>
      </p:sp>
      <p:sp>
        <p:nvSpPr>
          <p:cNvPr id="3" name="Content Placeholder 2"/>
          <p:cNvSpPr>
            <a:spLocks noGrp="1"/>
          </p:cNvSpPr>
          <p:nvPr>
            <p:ph idx="1"/>
          </p:nvPr>
        </p:nvSpPr>
        <p:spPr>
          <a:xfrm>
            <a:off x="199557" y="870858"/>
            <a:ext cx="11514662" cy="1787797"/>
          </a:xfrm>
        </p:spPr>
        <p:txBody>
          <a:bodyPr/>
          <a:lstStyle>
            <a:lvl1pPr marL="342900" indent="-342900">
              <a:lnSpc>
                <a:spcPct val="130000"/>
              </a:lnSpc>
              <a:buFont typeface="Wingdings" panose="05000000000000000000" pitchFamily="2" charset="2"/>
              <a:buChar char="p"/>
              <a:defRPr b="1">
                <a:solidFill>
                  <a:schemeClr val="accent3"/>
                </a:solidFill>
                <a:latin typeface="微软雅黑" panose="020B0503020204020204" charset="-122"/>
                <a:ea typeface="微软雅黑" panose="020B0503020204020204" charset="-122"/>
                <a:cs typeface="Calibri" panose="020F0502020204030204" pitchFamily="34" charset="0"/>
              </a:defRPr>
            </a:lvl1pPr>
            <a:lvl2pPr marL="742950" indent="-342900">
              <a:lnSpc>
                <a:spcPct val="130000"/>
              </a:lnSpc>
              <a:buClr>
                <a:schemeClr val="tx1"/>
              </a:buClr>
              <a:buFont typeface="Wingdings" panose="05000000000000000000" pitchFamily="2" charset="2"/>
              <a:buChar char="p"/>
              <a:defRPr>
                <a:solidFill>
                  <a:schemeClr val="tx1"/>
                </a:solidFill>
                <a:latin typeface="微软雅黑" panose="020B0503020204020204" charset="-122"/>
                <a:ea typeface="微软雅黑" panose="020B0503020204020204" charset="-122"/>
                <a:cs typeface="Calibri" panose="020F0502020204030204" pitchFamily="34" charset="0"/>
              </a:defRPr>
            </a:lvl2pPr>
            <a:lvl3pPr marL="1028700" indent="-342900">
              <a:lnSpc>
                <a:spcPct val="130000"/>
              </a:lnSpc>
              <a:buClr>
                <a:schemeClr val="tx1"/>
              </a:buClr>
              <a:buFont typeface="Wingdings" panose="05000000000000000000" pitchFamily="2" charset="2"/>
              <a:buChar char="p"/>
              <a:defRPr>
                <a:solidFill>
                  <a:schemeClr val="tx1"/>
                </a:solidFill>
                <a:latin typeface="微软雅黑" panose="020B0503020204020204" charset="-122"/>
                <a:ea typeface="微软雅黑" panose="020B0503020204020204" charset="-122"/>
                <a:cs typeface="Calibri" panose="020F0502020204030204" pitchFamily="34" charset="0"/>
              </a:defRPr>
            </a:lvl3pPr>
            <a:lvl4pPr marL="1314450" indent="-342900">
              <a:lnSpc>
                <a:spcPct val="130000"/>
              </a:lnSpc>
              <a:buClr>
                <a:schemeClr val="tx1"/>
              </a:buClr>
              <a:buFont typeface="Wingdings" panose="05000000000000000000" pitchFamily="2" charset="2"/>
              <a:buChar char="p"/>
              <a:defRPr lang="en-US" sz="1600" kern="1200" baseline="0" dirty="0">
                <a:solidFill>
                  <a:schemeClr val="tx1"/>
                </a:solidFill>
                <a:latin typeface="微软雅黑" panose="020B0503020204020204" charset="-122"/>
                <a:ea typeface="微软雅黑" panose="020B0503020204020204" charset="-122"/>
                <a:cs typeface="Calibri" panose="020F0502020204030204" pitchFamily="34" charset="0"/>
              </a:defRPr>
            </a:lvl4pPr>
            <a:lvl5pPr marL="1600200" indent="-347345">
              <a:buFont typeface="Qualcomm Office Regular" pitchFamily="34" charset="0"/>
              <a:buChar char="−"/>
              <a:defRPr/>
            </a:lvl5pPr>
            <a:lvl6pPr marL="2171700" indent="0">
              <a:buNone/>
              <a:defRPr sz="1600"/>
            </a:lvl6pPr>
          </a:lstStyle>
          <a:p>
            <a:pPr lvl="0"/>
            <a:r>
              <a:rPr lang="en-US" dirty="0"/>
              <a:t>Edit Master text styles</a:t>
            </a:r>
          </a:p>
          <a:p>
            <a:pPr lvl="1"/>
            <a:r>
              <a:rPr lang="en-US" dirty="0"/>
              <a:t>Second level</a:t>
            </a:r>
          </a:p>
          <a:p>
            <a:pPr lvl="2"/>
            <a:r>
              <a:rPr lang="en-US" dirty="0"/>
              <a:t>Third level</a:t>
            </a:r>
          </a:p>
          <a:p>
            <a:pPr lvl="3"/>
            <a:r>
              <a:rPr lang="en-US" dirty="0"/>
              <a:t>Fourth level</a:t>
            </a:r>
          </a:p>
        </p:txBody>
      </p:sp>
      <p:cxnSp>
        <p:nvCxnSpPr>
          <p:cNvPr id="5" name="Straight Connector 4"/>
          <p:cNvCxnSpPr/>
          <p:nvPr userDrawn="1"/>
        </p:nvCxnSpPr>
        <p:spPr>
          <a:xfrm flipH="1" flipV="1">
            <a:off x="-2" y="728867"/>
            <a:ext cx="12192002" cy="16551"/>
          </a:xfrm>
          <a:prstGeom prst="line">
            <a:avLst/>
          </a:prstGeom>
          <a:ln w="4762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userDrawn="1"/>
        </p:nvSpPr>
        <p:spPr bwMode="gray">
          <a:xfrm>
            <a:off x="11567723" y="6539537"/>
            <a:ext cx="295671" cy="223138"/>
          </a:xfrm>
          <a:prstGeom prst="rect">
            <a:avLst/>
          </a:prstGeom>
          <a:noFill/>
        </p:spPr>
        <p:txBody>
          <a:bodyPr wrap="none" lIns="68580" tIns="34290" rIns="68580" bIns="34290" rtlCol="0">
            <a:spAutoFit/>
          </a:bodyPr>
          <a:lstStyle/>
          <a:p>
            <a:pPr marL="0" algn="l" defTabSz="685800" rtl="0" eaLnBrk="1" latinLnBrk="0" hangingPunct="1"/>
            <a:fld id="{0A607DED-8B1E-49A6-A07A-F6DE68304C82}" type="slidenum">
              <a:rPr lang="en-US" sz="1000" b="1" kern="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en-US" sz="1000" b="1" kern="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
        <p:nvSpPr>
          <p:cNvPr id="17" name="等腰三角形 16"/>
          <p:cNvSpPr/>
          <p:nvPr userDrawn="1"/>
        </p:nvSpPr>
        <p:spPr bwMode="auto">
          <a:xfrm>
            <a:off x="11760085" y="254001"/>
            <a:ext cx="431915" cy="482600"/>
          </a:xfrm>
          <a:prstGeom prst="triangle">
            <a:avLst>
              <a:gd name="adj" fmla="val 100000"/>
            </a:avLst>
          </a:prstGeom>
          <a:solidFill>
            <a:schemeClr val="accent3">
              <a:lumMod val="75000"/>
            </a:schemeClr>
          </a:solidFill>
          <a:ln>
            <a:noFill/>
          </a:ln>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600" dirty="0" err="1">
              <a:solidFill>
                <a:schemeClr val="bg1"/>
              </a:solidFill>
            </a:endParaRPr>
          </a:p>
        </p:txBody>
      </p:sp>
      <p:sp>
        <p:nvSpPr>
          <p:cNvPr id="11" name="等腰三角形 10"/>
          <p:cNvSpPr/>
          <p:nvPr userDrawn="1"/>
        </p:nvSpPr>
        <p:spPr bwMode="auto">
          <a:xfrm rot="10800000">
            <a:off x="1" y="0"/>
            <a:ext cx="431915" cy="482600"/>
          </a:xfrm>
          <a:prstGeom prst="triangle">
            <a:avLst>
              <a:gd name="adj" fmla="val 100000"/>
            </a:avLst>
          </a:prstGeom>
          <a:solidFill>
            <a:schemeClr val="accent3">
              <a:lumMod val="40000"/>
              <a:lumOff val="60000"/>
            </a:schemeClr>
          </a:solidFill>
          <a:ln>
            <a:noFill/>
          </a:ln>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600" dirty="0" err="1">
              <a:solidFill>
                <a:schemeClr val="bg1"/>
              </a:solidFill>
            </a:endParaRPr>
          </a:p>
        </p:txBody>
      </p:sp>
      <p:pic>
        <p:nvPicPr>
          <p:cNvPr id="9" name="Picture 4" descr="http://www.logosj.com/wp-content/uploads/2013/11/1-1311131U443.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3949" t="21777" r="13611" b="21777"/>
          <a:stretch>
            <a:fillRect/>
          </a:stretch>
        </p:blipFill>
        <p:spPr bwMode="auto">
          <a:xfrm>
            <a:off x="10629802" y="-606"/>
            <a:ext cx="1097121" cy="7100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13_1_">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9382760" y="6629376"/>
            <a:ext cx="2743200" cy="246380"/>
          </a:xfrm>
        </p:spPr>
        <p:txBody>
          <a:bodyPr/>
          <a:lstStyle>
            <a:lvl1pPr>
              <a:defRPr>
                <a:solidFill>
                  <a:schemeClr val="tx1"/>
                </a:solidFill>
                <a:latin typeface="微软雅黑" panose="020B0503020204020204" charset="-122"/>
                <a:ea typeface="微软雅黑" panose="020B0503020204020204" charset="-122"/>
                <a:sym typeface="汉仪旗黑-55简" panose="00020600040101010101" charset="-128"/>
              </a:defRPr>
            </a:lvl1pPr>
          </a:lstStyle>
          <a:p>
            <a:fld id="{DA2025F5-56CD-47AA-9207-178EE14D9AB2}" type="slidenum">
              <a:rPr lang="zh-CN" altLang="en-US" smtClean="0"/>
              <a:t>‹#›</a:t>
            </a:fld>
            <a:endParaRPr lang="zh-CN" alt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9592" y="223548"/>
            <a:ext cx="2576163" cy="58427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image" Target="../media/image2.jpeg"/><Relationship Id="rId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image" Target="../media/image1.jpeg"/><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theme" Target="../theme/theme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44575B-27A4-6E4B-8226-61218A3F809D}" type="datetime1">
              <a:rPr lang="zh-CN" altLang="en-US" smtClean="0"/>
              <a:t>2025/8/11</a:t>
            </a:fld>
            <a:endParaRPr lang="zh-CN" altLang="en-US"/>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2050" name="Picture 2" descr="E:\PPT汇报\矢量文件\未命名 -12.jpg"/>
          <p:cNvPicPr>
            <a:picLocks noChangeAspect="1" noChangeArrowheads="1"/>
          </p:cNvPicPr>
          <p:nvPr/>
        </p:nvPicPr>
        <p:blipFill>
          <a:blip r:embed="rId20" cstate="print"/>
          <a:srcRect/>
          <a:stretch>
            <a:fillRect/>
          </a:stretch>
        </p:blipFill>
        <p:spPr bwMode="auto">
          <a:xfrm>
            <a:off x="0" y="-1"/>
            <a:ext cx="12192000" cy="6862273"/>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F347B1-67E4-5549-A540-53E151B62BC7}" type="datetime1">
              <a:rPr lang="zh-CN" altLang="en-US" smtClean="0">
                <a:solidFill>
                  <a:prstClr val="black">
                    <a:tint val="75000"/>
                  </a:prstClr>
                </a:solidFill>
              </a:rPr>
              <a:t>2025/8/11</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t>‹#›</a:t>
            </a:fld>
            <a:endParaRPr lang="zh-CN" altLang="en-US">
              <a:solidFill>
                <a:prstClr val="black">
                  <a:tint val="75000"/>
                </a:prstClr>
              </a:solidFill>
            </a:endParaRPr>
          </a:p>
        </p:txBody>
      </p:sp>
      <p:pic>
        <p:nvPicPr>
          <p:cNvPr id="2050" name="Picture 2" descr="E:\PPT汇报\矢量文件\未命名 -12.jpg"/>
          <p:cNvPicPr>
            <a:picLocks noChangeAspect="1" noChangeArrowheads="1"/>
          </p:cNvPicPr>
          <p:nvPr/>
        </p:nvPicPr>
        <p:blipFill>
          <a:blip r:embed="rId5" cstate="print"/>
          <a:srcRect/>
          <a:stretch>
            <a:fillRect/>
          </a:stretch>
        </p:blipFill>
        <p:spPr bwMode="auto">
          <a:xfrm>
            <a:off x="0" y="-1"/>
            <a:ext cx="12192000" cy="6862273"/>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850B2B-FA1F-074E-9B51-7D33F974EE74}" type="datetime1">
              <a:rPr lang="zh-CN" altLang="en-US" smtClean="0"/>
              <a:t>2025/8/11</a:t>
            </a:fld>
            <a:endParaRPr lang="zh-CN" altLang="en-US"/>
          </a:p>
        </p:txBody>
      </p:sp>
      <p:sp>
        <p:nvSpPr>
          <p:cNvPr id="5" name="页脚占位符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2050" name="Picture 2" descr="E:\PPT汇报\矢量文件\未命名 -12.jpg"/>
          <p:cNvPicPr>
            <a:picLocks noChangeAspect="1" noChangeArrowheads="1"/>
          </p:cNvPicPr>
          <p:nvPr/>
        </p:nvPicPr>
        <p:blipFill>
          <a:blip r:embed="rId5" cstate="print"/>
          <a:srcRect/>
          <a:stretch>
            <a:fillRect/>
          </a:stretch>
        </p:blipFill>
        <p:spPr bwMode="auto">
          <a:xfrm>
            <a:off x="0" y="-1"/>
            <a:ext cx="12192000" cy="6862273"/>
          </a:xfrm>
          <a:prstGeom prst="rect">
            <a:avLst/>
          </a:prstGeom>
          <a:noFill/>
        </p:spPr>
      </p:pic>
    </p:spTree>
  </p:cSld>
  <p:clrMap bg1="lt1" tx1="dk1" bg2="lt2" tx2="dk2" accent1="accent1" accent2="accent2" accent3="accent3" accent4="accent4" accent5="accent5" accent6="accent6" hlink="hlink" folHlink="folHlink"/>
  <p:sldLayoutIdLst>
    <p:sldLayoutId id="2147483670" r:id="rId1"/>
    <p:sldLayoutId id="2147483671"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3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B2911C-530F-D442-AA6F-F6E0DD3F7F24}" type="datetime1">
              <a:rPr lang="zh-CN" altLang="en-US" smtClean="0"/>
              <a:t>2025/8/11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2229F-E008-3194-E4C3-77C9BDA76B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5A811A-C07D-6A98-F48C-4CDAE0E5AF2A}"/>
              </a:ext>
            </a:extLst>
          </p:cNvPr>
          <p:cNvSpPr>
            <a:spLocks noGrp="1"/>
          </p:cNvSpPr>
          <p:nvPr>
            <p:ph type="ctrTitle"/>
          </p:nvPr>
        </p:nvSpPr>
        <p:spPr>
          <a:xfrm>
            <a:off x="1739516" y="1844824"/>
            <a:ext cx="8712968" cy="2426206"/>
          </a:xfrm>
        </p:spPr>
        <p:txBody>
          <a:bodyPr>
            <a:noAutofit/>
          </a:bodyPr>
          <a:lstStyle/>
          <a:p>
            <a:pPr>
              <a:lnSpc>
                <a:spcPct val="200000"/>
              </a:lnSpc>
            </a:pPr>
            <a:r>
              <a:rPr lang="zh-CN" altLang="en-US" sz="4400" b="1" dirty="0">
                <a:latin typeface="微软雅黑" panose="020B0503020204020204" charset="-122"/>
                <a:ea typeface="微软雅黑" panose="020B0503020204020204" charset="-122"/>
              </a:rPr>
              <a:t>视觉场景图生成</a:t>
            </a:r>
            <a:br>
              <a:rPr lang="zh-CN" altLang="en-US" sz="4400" b="1" dirty="0">
                <a:latin typeface="微软雅黑" panose="020B0503020204020204" charset="-122"/>
                <a:ea typeface="微软雅黑" panose="020B0503020204020204" charset="-122"/>
              </a:rPr>
            </a:br>
            <a:endParaRPr lang="zh-CN" altLang="en-US" sz="4000" b="1" dirty="0">
              <a:solidFill>
                <a:srgbClr val="C00000"/>
              </a:solidFill>
              <a:latin typeface="微软雅黑" panose="020B0503020204020204" charset="-122"/>
              <a:ea typeface="微软雅黑" panose="020B0503020204020204" charset="-122"/>
            </a:endParaRPr>
          </a:p>
        </p:txBody>
      </p:sp>
      <p:sp>
        <p:nvSpPr>
          <p:cNvPr id="4" name="灯片编号占位符 1">
            <a:extLst>
              <a:ext uri="{FF2B5EF4-FFF2-40B4-BE49-F238E27FC236}">
                <a16:creationId xmlns:a16="http://schemas.microsoft.com/office/drawing/2014/main" id="{FCF4B495-395B-78DF-1106-946FD4A77567}"/>
              </a:ext>
            </a:extLst>
          </p:cNvPr>
          <p:cNvSpPr>
            <a:spLocks noGrp="1"/>
          </p:cNvSpPr>
          <p:nvPr>
            <p:ph type="sldNum" sz="quarter" idx="12"/>
          </p:nvPr>
        </p:nvSpPr>
        <p:spPr>
          <a:xfrm>
            <a:off x="8077200" y="6356355"/>
            <a:ext cx="2133600" cy="365125"/>
          </a:xfrm>
        </p:spPr>
        <p:txBody>
          <a:bodyPr/>
          <a:lstStyle/>
          <a:p>
            <a:fld id="{0C913308-F349-4B6D-A68A-DD1791B4A57B}" type="slidenum">
              <a:rPr lang="zh-CN" altLang="en-US" smtClean="0">
                <a:solidFill>
                  <a:prstClr val="black">
                    <a:tint val="75000"/>
                  </a:prstClr>
                </a:solidFill>
                <a:latin typeface="微软雅黑" panose="020B0503020204020204" charset="-122"/>
                <a:ea typeface="微软雅黑" panose="020B0503020204020204" charset="-122"/>
              </a:rPr>
              <a:t>1</a:t>
            </a:fld>
            <a:endParaRPr lang="zh-CN" altLang="en-US" dirty="0">
              <a:solidFill>
                <a:prstClr val="black">
                  <a:tint val="75000"/>
                </a:prstClr>
              </a:solidFill>
              <a:latin typeface="微软雅黑" panose="020B0503020204020204" charset="-122"/>
              <a:ea typeface="微软雅黑" panose="020B0503020204020204" charset="-122"/>
            </a:endParaRPr>
          </a:p>
        </p:txBody>
      </p:sp>
      <p:sp>
        <p:nvSpPr>
          <p:cNvPr id="5" name="矩形 4">
            <a:extLst>
              <a:ext uri="{FF2B5EF4-FFF2-40B4-BE49-F238E27FC236}">
                <a16:creationId xmlns:a16="http://schemas.microsoft.com/office/drawing/2014/main" id="{E84107C5-30F7-9D1B-6540-1BE6944FECFC}"/>
              </a:ext>
            </a:extLst>
          </p:cNvPr>
          <p:cNvSpPr/>
          <p:nvPr/>
        </p:nvSpPr>
        <p:spPr>
          <a:xfrm>
            <a:off x="0" y="6444044"/>
            <a:ext cx="12192000" cy="413956"/>
          </a:xfrm>
          <a:prstGeom prst="rect">
            <a:avLst/>
          </a:prstGeom>
          <a:solidFill>
            <a:srgbClr val="BA40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文本框 6">
            <a:extLst>
              <a:ext uri="{FF2B5EF4-FFF2-40B4-BE49-F238E27FC236}">
                <a16:creationId xmlns:a16="http://schemas.microsoft.com/office/drawing/2014/main" id="{69A1E299-2D5F-D290-B63D-A7C5B4F5F32A}"/>
              </a:ext>
            </a:extLst>
          </p:cNvPr>
          <p:cNvSpPr txBox="1"/>
          <p:nvPr/>
        </p:nvSpPr>
        <p:spPr>
          <a:xfrm>
            <a:off x="4003948" y="6484176"/>
            <a:ext cx="3715430" cy="368300"/>
          </a:xfrm>
          <a:prstGeom prst="rect">
            <a:avLst/>
          </a:prstGeom>
          <a:noFill/>
        </p:spPr>
        <p:txBody>
          <a:bodyPr wrap="square" rtlCol="0">
            <a:spAutoFit/>
          </a:bodyPr>
          <a:lstStyle/>
          <a:p>
            <a:pPr algn="ctr"/>
            <a:r>
              <a:rPr lang="zh-CN" altLang="en-US" b="1" dirty="0">
                <a:solidFill>
                  <a:schemeClr val="bg1"/>
                </a:solidFill>
                <a:latin typeface="微软雅黑" panose="020B0503020204020204" charset="-122"/>
                <a:ea typeface="微软雅黑" panose="020B0503020204020204" charset="-122"/>
              </a:rPr>
              <a:t>西安电子科技大学广州研究院</a:t>
            </a:r>
          </a:p>
        </p:txBody>
      </p:sp>
      <p:sp>
        <p:nvSpPr>
          <p:cNvPr id="3" name="文本框 2">
            <a:extLst>
              <a:ext uri="{FF2B5EF4-FFF2-40B4-BE49-F238E27FC236}">
                <a16:creationId xmlns:a16="http://schemas.microsoft.com/office/drawing/2014/main" id="{24B0E871-AA96-2E68-93BA-AFAF85F4758E}"/>
              </a:ext>
            </a:extLst>
          </p:cNvPr>
          <p:cNvSpPr txBox="1"/>
          <p:nvPr/>
        </p:nvSpPr>
        <p:spPr>
          <a:xfrm>
            <a:off x="5651006" y="4913582"/>
            <a:ext cx="889987" cy="400110"/>
          </a:xfrm>
          <a:prstGeom prst="rect">
            <a:avLst/>
          </a:prstGeom>
          <a:noFill/>
        </p:spPr>
        <p:txBody>
          <a:bodyPr wrap="none" rtlCol="0">
            <a:spAutoFit/>
          </a:bodyPr>
          <a:lstStyle/>
          <a:p>
            <a:r>
              <a:rPr kumimoji="1" lang="en-US" altLang="zh-CN" sz="2000" dirty="0">
                <a:latin typeface="Times New Roman" panose="02020603050405020304" pitchFamily="18" charset="0"/>
                <a:cs typeface="Times New Roman" panose="02020603050405020304" pitchFamily="18" charset="0"/>
              </a:rPr>
              <a:t>2025.5</a:t>
            </a:r>
            <a:endParaRPr kumimoji="1"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6599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60DB-9515-0F14-1966-81829D06D2E3}"/>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2198425F-15CC-1E61-F124-792A0023E3AA}"/>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1.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背景介绍</a:t>
            </a:r>
          </a:p>
        </p:txBody>
      </p:sp>
      <p:sp>
        <p:nvSpPr>
          <p:cNvPr id="15" name="文本框 14">
            <a:extLst>
              <a:ext uri="{FF2B5EF4-FFF2-40B4-BE49-F238E27FC236}">
                <a16:creationId xmlns:a16="http://schemas.microsoft.com/office/drawing/2014/main" id="{D75D7E8A-C5C6-5F4D-2F96-B401A5D2C020}"/>
              </a:ext>
            </a:extLst>
          </p:cNvPr>
          <p:cNvSpPr txBox="1"/>
          <p:nvPr/>
        </p:nvSpPr>
        <p:spPr>
          <a:xfrm>
            <a:off x="911423" y="2188853"/>
            <a:ext cx="10369154" cy="2480294"/>
          </a:xfrm>
          <a:prstGeom prst="rect">
            <a:avLst/>
          </a:prstGeom>
          <a:noFill/>
        </p:spPr>
        <p:txBody>
          <a:bodyPr wrap="square">
            <a:spAutoFit/>
          </a:bodyPr>
          <a:lstStyle/>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视觉推理（</a:t>
            </a:r>
            <a:r>
              <a:rPr lang="en-US" altLang="zh-CN" sz="1600" dirty="0">
                <a:solidFill>
                  <a:srgbClr val="404040"/>
                </a:solidFill>
                <a:latin typeface="Microsoft YaHei" panose="020B0503020204020204" pitchFamily="34" charset="-122"/>
                <a:ea typeface="Microsoft YaHei" panose="020B0503020204020204" pitchFamily="34" charset="-122"/>
              </a:rPr>
              <a:t>Visual Reasoning</a:t>
            </a:r>
            <a:r>
              <a:rPr lang="zh-CN" altLang="en-US" sz="1600" dirty="0">
                <a:solidFill>
                  <a:srgbClr val="404040"/>
                </a:solidFill>
                <a:latin typeface="Microsoft YaHei" panose="020B0503020204020204" pitchFamily="34" charset="-122"/>
                <a:ea typeface="Microsoft YaHei" panose="020B0503020204020204" pitchFamily="34" charset="-122"/>
              </a:rPr>
              <a:t>）是指让机器在理解视觉内容的基础上，结合逻辑、语义和常识进行推理，以完成复杂任务，如视觉问答（</a:t>
            </a:r>
            <a:r>
              <a:rPr lang="en-US" altLang="zh-CN" sz="1600" dirty="0">
                <a:solidFill>
                  <a:srgbClr val="404040"/>
                </a:solidFill>
                <a:latin typeface="Microsoft YaHei" panose="020B0503020204020204" pitchFamily="34" charset="-122"/>
                <a:ea typeface="Microsoft YaHei" panose="020B0503020204020204" pitchFamily="34" charset="-122"/>
              </a:rPr>
              <a:t>VQA</a:t>
            </a:r>
            <a:r>
              <a:rPr lang="zh-CN" altLang="en-US" sz="1600" dirty="0">
                <a:solidFill>
                  <a:srgbClr val="404040"/>
                </a:solidFill>
                <a:latin typeface="Microsoft YaHei" panose="020B0503020204020204" pitchFamily="34" charset="-122"/>
                <a:ea typeface="Microsoft YaHei" panose="020B0503020204020204" pitchFamily="34" charset="-122"/>
              </a:rPr>
              <a:t>）、图像检索、场景理解等。它是人工智能中视觉与语言交叉领域的重要研究方向，要求系统不仅“看见”图像，还要“理解”图像，并基于理解做出推断。</a:t>
            </a:r>
          </a:p>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近年来，随着大模型技术的发展，视觉推理能力显著提升，但仍然面临语义表达不清晰、推理路径不可解释等挑战。其中，如何构建结构化的图像表达，成为提升视觉推理性能的关键。</a:t>
            </a:r>
            <a:endParaRPr lang="zh-CN" altLang="en-US" sz="1600"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90BC4504-A3FD-788E-C460-8F8E9F1B1078}"/>
              </a:ext>
            </a:extLst>
          </p:cNvPr>
          <p:cNvSpPr txBox="1"/>
          <p:nvPr/>
        </p:nvSpPr>
        <p:spPr>
          <a:xfrm>
            <a:off x="945759" y="1628800"/>
            <a:ext cx="1800493" cy="369332"/>
          </a:xfrm>
          <a:prstGeom prst="rect">
            <a:avLst/>
          </a:prstGeom>
          <a:noFill/>
        </p:spPr>
        <p:txBody>
          <a:bodyPr wrap="none" rtlCol="0">
            <a:spAutoFit/>
          </a:bodyPr>
          <a:lstStyle/>
          <a:p>
            <a:r>
              <a:rPr kumimoji="1" lang="zh-CN" altLang="en-US" b="1" dirty="0"/>
              <a:t>视觉推理概述：</a:t>
            </a:r>
          </a:p>
        </p:txBody>
      </p:sp>
      <p:sp>
        <p:nvSpPr>
          <p:cNvPr id="3" name="日期占位符 2">
            <a:extLst>
              <a:ext uri="{FF2B5EF4-FFF2-40B4-BE49-F238E27FC236}">
                <a16:creationId xmlns:a16="http://schemas.microsoft.com/office/drawing/2014/main" id="{B9ABCF3E-D342-0ED2-9BF6-7050981DBD9F}"/>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538ADB41-13C6-5D7E-F1D9-922376F36DD8}"/>
              </a:ext>
            </a:extLst>
          </p:cNvPr>
          <p:cNvSpPr>
            <a:spLocks noGrp="1"/>
          </p:cNvSpPr>
          <p:nvPr>
            <p:ph type="sldNum" sz="quarter" idx="12"/>
          </p:nvPr>
        </p:nvSpPr>
        <p:spPr/>
        <p:txBody>
          <a:bodyPr/>
          <a:lstStyle/>
          <a:p>
            <a:fld id="{0C913308-F349-4B6D-A68A-DD1791B4A57B}" type="slidenum">
              <a:rPr lang="zh-CN" altLang="en-US" smtClean="0"/>
              <a:t>2</a:t>
            </a:fld>
            <a:endParaRPr lang="zh-CN" altLang="en-US"/>
          </a:p>
        </p:txBody>
      </p:sp>
    </p:spTree>
    <p:extLst>
      <p:ext uri="{BB962C8B-B14F-4D97-AF65-F5344CB8AC3E}">
        <p14:creationId xmlns:p14="http://schemas.microsoft.com/office/powerpoint/2010/main" val="45591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8E49B-AF45-EDC3-8B0D-156030B98786}"/>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FB4A877-63ED-06DF-596F-9FEADCEF075C}"/>
              </a:ext>
            </a:extLst>
          </p:cNvPr>
          <p:cNvPicPr>
            <a:picLocks noChangeAspect="1"/>
          </p:cNvPicPr>
          <p:nvPr/>
        </p:nvPicPr>
        <p:blipFill>
          <a:blip r:embed="rId3"/>
          <a:stretch>
            <a:fillRect/>
          </a:stretch>
        </p:blipFill>
        <p:spPr>
          <a:xfrm>
            <a:off x="1830629" y="3734962"/>
            <a:ext cx="3875267" cy="2146976"/>
          </a:xfrm>
          <a:prstGeom prst="rect">
            <a:avLst/>
          </a:prstGeom>
        </p:spPr>
      </p:pic>
      <p:sp>
        <p:nvSpPr>
          <p:cNvPr id="13" name="标题 2">
            <a:extLst>
              <a:ext uri="{FF2B5EF4-FFF2-40B4-BE49-F238E27FC236}">
                <a16:creationId xmlns:a16="http://schemas.microsoft.com/office/drawing/2014/main" id="{ACD8FBFE-E04B-9D36-B99F-1F4616113832}"/>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1.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背景介绍</a:t>
            </a:r>
          </a:p>
        </p:txBody>
      </p:sp>
      <p:sp>
        <p:nvSpPr>
          <p:cNvPr id="15" name="文本框 14">
            <a:extLst>
              <a:ext uri="{FF2B5EF4-FFF2-40B4-BE49-F238E27FC236}">
                <a16:creationId xmlns:a16="http://schemas.microsoft.com/office/drawing/2014/main" id="{7B686A98-CF59-F712-A2DC-5B18CAB4E7BC}"/>
              </a:ext>
            </a:extLst>
          </p:cNvPr>
          <p:cNvSpPr txBox="1"/>
          <p:nvPr/>
        </p:nvSpPr>
        <p:spPr>
          <a:xfrm>
            <a:off x="911423" y="1497474"/>
            <a:ext cx="10369154" cy="1987852"/>
          </a:xfrm>
          <a:prstGeom prst="rect">
            <a:avLst/>
          </a:prstGeom>
          <a:noFill/>
        </p:spPr>
        <p:txBody>
          <a:bodyPr wrap="square">
            <a:spAutoFit/>
          </a:bodyPr>
          <a:lstStyle/>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在视觉推理中，图像表达（</a:t>
            </a:r>
            <a:r>
              <a:rPr lang="en-US" altLang="zh-CN" sz="1600" dirty="0">
                <a:solidFill>
                  <a:srgbClr val="404040"/>
                </a:solidFill>
                <a:latin typeface="Microsoft YaHei" panose="020B0503020204020204" pitchFamily="34" charset="-122"/>
                <a:ea typeface="Microsoft YaHei" panose="020B0503020204020204" pitchFamily="34" charset="-122"/>
              </a:rPr>
              <a:t>Image Representation</a:t>
            </a:r>
            <a:r>
              <a:rPr lang="zh-CN" altLang="en-US" sz="1600" dirty="0">
                <a:solidFill>
                  <a:srgbClr val="404040"/>
                </a:solidFill>
                <a:latin typeface="Microsoft YaHei" panose="020B0503020204020204" pitchFamily="34" charset="-122"/>
                <a:ea typeface="Microsoft YaHei" panose="020B0503020204020204" pitchFamily="34" charset="-122"/>
              </a:rPr>
              <a:t>）决定了模型能否准确捕捉对象及其关系。传统方法多采用全局特征或检测框加属性的表示方式，但这些表达缺乏结构化语义，难以支持复杂推理。为此，研究者提出了场景图（</a:t>
            </a:r>
            <a:r>
              <a:rPr lang="en-US" altLang="zh-CN" sz="1600" dirty="0">
                <a:solidFill>
                  <a:srgbClr val="404040"/>
                </a:solidFill>
                <a:latin typeface="Microsoft YaHei" panose="020B0503020204020204" pitchFamily="34" charset="-122"/>
                <a:ea typeface="Microsoft YaHei" panose="020B0503020204020204" pitchFamily="34" charset="-122"/>
              </a:rPr>
              <a:t>Scene Graph</a:t>
            </a:r>
            <a:r>
              <a:rPr lang="zh-CN" altLang="en-US" sz="1600" dirty="0">
                <a:solidFill>
                  <a:srgbClr val="404040"/>
                </a:solidFill>
                <a:latin typeface="Microsoft YaHei" panose="020B0503020204020204" pitchFamily="34" charset="-122"/>
                <a:ea typeface="Microsoft YaHei" panose="020B0503020204020204" pitchFamily="34" charset="-122"/>
              </a:rPr>
              <a:t>），它以图结构形式表示图像中的对象、属性和关系，是连接视觉感知与语言推理的桥梁。场景图能够清晰表达图像语义，为视觉推理提供了结构化、可解释的基础，成为当前研究的热点之一。</a:t>
            </a:r>
            <a:endParaRPr lang="zh-CN" altLang="en-US" sz="1600" dirty="0">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8B6BA4CB-CECF-9A72-75EC-4E6016D2B33B}"/>
              </a:ext>
            </a:extLst>
          </p:cNvPr>
          <p:cNvSpPr txBox="1"/>
          <p:nvPr/>
        </p:nvSpPr>
        <p:spPr>
          <a:xfrm>
            <a:off x="911423" y="1128142"/>
            <a:ext cx="1338828" cy="369332"/>
          </a:xfrm>
          <a:prstGeom prst="rect">
            <a:avLst/>
          </a:prstGeom>
          <a:noFill/>
        </p:spPr>
        <p:txBody>
          <a:bodyPr wrap="none" rtlCol="0">
            <a:spAutoFit/>
          </a:bodyPr>
          <a:lstStyle/>
          <a:p>
            <a:r>
              <a:rPr kumimoji="1" lang="zh-CN" altLang="en-US" b="1" dirty="0"/>
              <a:t>图像表达：</a:t>
            </a:r>
          </a:p>
        </p:txBody>
      </p:sp>
      <p:sp>
        <p:nvSpPr>
          <p:cNvPr id="3" name="日期占位符 2">
            <a:extLst>
              <a:ext uri="{FF2B5EF4-FFF2-40B4-BE49-F238E27FC236}">
                <a16:creationId xmlns:a16="http://schemas.microsoft.com/office/drawing/2014/main" id="{66B28689-CF89-BC07-10CB-41D7AED1A8E2}"/>
              </a:ext>
            </a:extLst>
          </p:cNvPr>
          <p:cNvSpPr>
            <a:spLocks noGrp="1"/>
          </p:cNvSpPr>
          <p:nvPr>
            <p:ph type="dt" sz="half" idx="10"/>
          </p:nvPr>
        </p:nvSpPr>
        <p:spPr/>
        <p:txBody>
          <a:bodyPr/>
          <a:lstStyle/>
          <a:p>
            <a:fld id="{F6E9EDFA-D2BC-C047-8158-A2573099E1AD}" type="datetime1">
              <a:rPr lang="zh-CN" altLang="en-US" smtClean="0"/>
              <a:t>2025/8/11</a:t>
            </a:fld>
            <a:endParaRPr lang="zh-CN" altLang="en-US" dirty="0"/>
          </a:p>
        </p:txBody>
      </p:sp>
      <p:sp>
        <p:nvSpPr>
          <p:cNvPr id="4" name="灯片编号占位符 3">
            <a:extLst>
              <a:ext uri="{FF2B5EF4-FFF2-40B4-BE49-F238E27FC236}">
                <a16:creationId xmlns:a16="http://schemas.microsoft.com/office/drawing/2014/main" id="{2AC70566-2A1F-3DAF-9FD9-B459F34BA48A}"/>
              </a:ext>
            </a:extLst>
          </p:cNvPr>
          <p:cNvSpPr>
            <a:spLocks noGrp="1"/>
          </p:cNvSpPr>
          <p:nvPr>
            <p:ph type="sldNum" sz="quarter" idx="12"/>
          </p:nvPr>
        </p:nvSpPr>
        <p:spPr/>
        <p:txBody>
          <a:bodyPr/>
          <a:lstStyle/>
          <a:p>
            <a:fld id="{0C913308-F349-4B6D-A68A-DD1791B4A57B}" type="slidenum">
              <a:rPr lang="zh-CN" altLang="en-US" smtClean="0"/>
              <a:t>3</a:t>
            </a:fld>
            <a:endParaRPr lang="zh-CN" altLang="en-US"/>
          </a:p>
        </p:txBody>
      </p:sp>
      <p:grpSp>
        <p:nvGrpSpPr>
          <p:cNvPr id="17" name="组合 16">
            <a:extLst>
              <a:ext uri="{FF2B5EF4-FFF2-40B4-BE49-F238E27FC236}">
                <a16:creationId xmlns:a16="http://schemas.microsoft.com/office/drawing/2014/main" id="{48F64BAB-FC40-F547-F330-A30E2878B510}"/>
              </a:ext>
            </a:extLst>
          </p:cNvPr>
          <p:cNvGrpSpPr/>
          <p:nvPr/>
        </p:nvGrpSpPr>
        <p:grpSpPr>
          <a:xfrm>
            <a:off x="3820114" y="5080034"/>
            <a:ext cx="833782" cy="801904"/>
            <a:chOff x="2695564" y="4036625"/>
            <a:chExt cx="833782" cy="801904"/>
          </a:xfrm>
        </p:grpSpPr>
        <p:sp>
          <p:nvSpPr>
            <p:cNvPr id="6" name="矩形 5">
              <a:extLst>
                <a:ext uri="{FF2B5EF4-FFF2-40B4-BE49-F238E27FC236}">
                  <a16:creationId xmlns:a16="http://schemas.microsoft.com/office/drawing/2014/main" id="{E63605AA-A139-68BB-C097-99B26F6CA8CF}"/>
                </a:ext>
              </a:extLst>
            </p:cNvPr>
            <p:cNvSpPr/>
            <p:nvPr/>
          </p:nvSpPr>
          <p:spPr>
            <a:xfrm>
              <a:off x="2783632" y="4221088"/>
              <a:ext cx="745714" cy="61744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BB301DEF-87FB-525C-6C7D-B2B2131EA740}"/>
                </a:ext>
              </a:extLst>
            </p:cNvPr>
            <p:cNvSpPr txBox="1"/>
            <p:nvPr/>
          </p:nvSpPr>
          <p:spPr>
            <a:xfrm>
              <a:off x="2695564" y="4036625"/>
              <a:ext cx="739204" cy="25391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burger</a:t>
              </a:r>
              <a:endParaRPr lang="zh-CN" altLang="en-US" sz="1050" dirty="0">
                <a:latin typeface="Times New Roman" panose="02020603050405020304" pitchFamily="18" charset="0"/>
                <a:cs typeface="Times New Roman" panose="02020603050405020304" pitchFamily="18" charset="0"/>
              </a:endParaRPr>
            </a:p>
          </p:txBody>
        </p:sp>
      </p:grpSp>
      <p:sp>
        <p:nvSpPr>
          <p:cNvPr id="21" name="文本框 20">
            <a:extLst>
              <a:ext uri="{FF2B5EF4-FFF2-40B4-BE49-F238E27FC236}">
                <a16:creationId xmlns:a16="http://schemas.microsoft.com/office/drawing/2014/main" id="{20FF0A7F-B53D-D9AD-9C09-45B2676FE2C5}"/>
              </a:ext>
            </a:extLst>
          </p:cNvPr>
          <p:cNvSpPr txBox="1"/>
          <p:nvPr/>
        </p:nvSpPr>
        <p:spPr>
          <a:xfrm>
            <a:off x="3323538" y="5925843"/>
            <a:ext cx="936412" cy="276999"/>
          </a:xfrm>
          <a:prstGeom prst="rect">
            <a:avLst/>
          </a:prstGeom>
          <a:noFill/>
        </p:spPr>
        <p:txBody>
          <a:bodyPr wrap="square" rtlCol="0">
            <a:spAutoFit/>
          </a:bodyPr>
          <a:lstStyle/>
          <a:p>
            <a:r>
              <a:rPr lang="zh-CN" altLang="en-US" sz="1200" dirty="0">
                <a:latin typeface="Times New Roman" panose="02020603050405020304" pitchFamily="18" charset="0"/>
                <a:cs typeface="Times New Roman" panose="02020603050405020304" pitchFamily="18" charset="0"/>
              </a:rPr>
              <a:t>目标检测</a:t>
            </a:r>
          </a:p>
        </p:txBody>
      </p:sp>
      <p:sp>
        <p:nvSpPr>
          <p:cNvPr id="22" name="文本框 21">
            <a:extLst>
              <a:ext uri="{FF2B5EF4-FFF2-40B4-BE49-F238E27FC236}">
                <a16:creationId xmlns:a16="http://schemas.microsoft.com/office/drawing/2014/main" id="{5A493ADD-0378-04F3-B35F-F69A73957599}"/>
              </a:ext>
            </a:extLst>
          </p:cNvPr>
          <p:cNvSpPr txBox="1"/>
          <p:nvPr/>
        </p:nvSpPr>
        <p:spPr>
          <a:xfrm>
            <a:off x="7932812" y="6220662"/>
            <a:ext cx="1197776" cy="276999"/>
          </a:xfrm>
          <a:prstGeom prst="rect">
            <a:avLst/>
          </a:prstGeom>
          <a:noFill/>
        </p:spPr>
        <p:txBody>
          <a:bodyPr wrap="square" rtlCol="0">
            <a:spAutoFit/>
          </a:bodyPr>
          <a:lstStyle/>
          <a:p>
            <a:r>
              <a:rPr lang="zh-CN" altLang="en-US" sz="1200" dirty="0">
                <a:latin typeface="Times New Roman" panose="02020603050405020304" pitchFamily="18" charset="0"/>
                <a:cs typeface="Times New Roman" panose="02020603050405020304" pitchFamily="18" charset="0"/>
              </a:rPr>
              <a:t>场景图结构</a:t>
            </a:r>
          </a:p>
        </p:txBody>
      </p:sp>
      <p:grpSp>
        <p:nvGrpSpPr>
          <p:cNvPr id="11" name="组合 10">
            <a:extLst>
              <a:ext uri="{FF2B5EF4-FFF2-40B4-BE49-F238E27FC236}">
                <a16:creationId xmlns:a16="http://schemas.microsoft.com/office/drawing/2014/main" id="{382B1DD5-8209-EAFF-689E-2EC97F0E7A16}"/>
              </a:ext>
            </a:extLst>
          </p:cNvPr>
          <p:cNvGrpSpPr/>
          <p:nvPr/>
        </p:nvGrpSpPr>
        <p:grpSpPr>
          <a:xfrm>
            <a:off x="4006796" y="3597073"/>
            <a:ext cx="1601078" cy="2284865"/>
            <a:chOff x="6073856" y="3695124"/>
            <a:chExt cx="1601078" cy="2284865"/>
          </a:xfrm>
        </p:grpSpPr>
        <p:sp>
          <p:nvSpPr>
            <p:cNvPr id="7" name="矩形 6">
              <a:extLst>
                <a:ext uri="{FF2B5EF4-FFF2-40B4-BE49-F238E27FC236}">
                  <a16:creationId xmlns:a16="http://schemas.microsoft.com/office/drawing/2014/main" id="{2FEF9091-D556-4976-A97E-EC7CFDF096B3}"/>
                </a:ext>
              </a:extLst>
            </p:cNvPr>
            <p:cNvSpPr/>
            <p:nvPr/>
          </p:nvSpPr>
          <p:spPr>
            <a:xfrm>
              <a:off x="6144892" y="3898452"/>
              <a:ext cx="1530042" cy="2081537"/>
            </a:xfrm>
            <a:prstGeom prst="rect">
              <a:avLst/>
            </a:prstGeom>
            <a:no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0383C9B-F534-B765-C055-ED26896BB315}"/>
                </a:ext>
              </a:extLst>
            </p:cNvPr>
            <p:cNvSpPr txBox="1"/>
            <p:nvPr/>
          </p:nvSpPr>
          <p:spPr>
            <a:xfrm>
              <a:off x="6073856" y="3695124"/>
              <a:ext cx="647100" cy="37702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girl</a:t>
              </a:r>
            </a:p>
            <a:p>
              <a:endParaRPr lang="zh-CN" altLang="en-US" sz="800" dirty="0">
                <a:solidFill>
                  <a:srgbClr val="FF0000"/>
                </a:solidFill>
                <a:latin typeface="Times New Roman" panose="02020603050405020304" pitchFamily="18" charset="0"/>
                <a:cs typeface="Times New Roman" panose="02020603050405020304" pitchFamily="18" charset="0"/>
              </a:endParaRPr>
            </a:p>
          </p:txBody>
        </p:sp>
      </p:grpSp>
      <p:grpSp>
        <p:nvGrpSpPr>
          <p:cNvPr id="5" name="组合 4">
            <a:extLst>
              <a:ext uri="{FF2B5EF4-FFF2-40B4-BE49-F238E27FC236}">
                <a16:creationId xmlns:a16="http://schemas.microsoft.com/office/drawing/2014/main" id="{FEBBE4BE-AC50-9819-6E0B-FC6641D25630}"/>
              </a:ext>
            </a:extLst>
          </p:cNvPr>
          <p:cNvGrpSpPr/>
          <p:nvPr/>
        </p:nvGrpSpPr>
        <p:grpSpPr>
          <a:xfrm>
            <a:off x="2768640" y="5072191"/>
            <a:ext cx="916418" cy="662682"/>
            <a:chOff x="2713820" y="4027165"/>
            <a:chExt cx="916418" cy="662682"/>
          </a:xfrm>
        </p:grpSpPr>
        <p:sp>
          <p:nvSpPr>
            <p:cNvPr id="24" name="矩形 23">
              <a:extLst>
                <a:ext uri="{FF2B5EF4-FFF2-40B4-BE49-F238E27FC236}">
                  <a16:creationId xmlns:a16="http://schemas.microsoft.com/office/drawing/2014/main" id="{7F8DC1F2-74A6-5E69-6328-402585D16F81}"/>
                </a:ext>
              </a:extLst>
            </p:cNvPr>
            <p:cNvSpPr/>
            <p:nvPr/>
          </p:nvSpPr>
          <p:spPr>
            <a:xfrm>
              <a:off x="2783632" y="4221088"/>
              <a:ext cx="846606" cy="468759"/>
            </a:xfrm>
            <a:prstGeom prst="rect">
              <a:avLst/>
            </a:prstGeom>
            <a:no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336BDB21-F3F2-4D3F-BF66-E675A5549428}"/>
                </a:ext>
              </a:extLst>
            </p:cNvPr>
            <p:cNvSpPr txBox="1"/>
            <p:nvPr/>
          </p:nvSpPr>
          <p:spPr>
            <a:xfrm>
              <a:off x="2713820" y="4027165"/>
              <a:ext cx="647100" cy="25391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chips</a:t>
              </a:r>
              <a:endParaRPr lang="zh-CN" altLang="en-US" sz="900" dirty="0">
                <a:latin typeface="Times New Roman" panose="02020603050405020304" pitchFamily="18" charset="0"/>
                <a:cs typeface="Times New Roman" panose="02020603050405020304" pitchFamily="18" charset="0"/>
              </a:endParaRPr>
            </a:p>
          </p:txBody>
        </p:sp>
      </p:grpSp>
      <p:grpSp>
        <p:nvGrpSpPr>
          <p:cNvPr id="27" name="组合 26">
            <a:extLst>
              <a:ext uri="{FF2B5EF4-FFF2-40B4-BE49-F238E27FC236}">
                <a16:creationId xmlns:a16="http://schemas.microsoft.com/office/drawing/2014/main" id="{48891B9F-1FD6-51DC-DD47-9C4AACB13EE2}"/>
              </a:ext>
            </a:extLst>
          </p:cNvPr>
          <p:cNvGrpSpPr/>
          <p:nvPr/>
        </p:nvGrpSpPr>
        <p:grpSpPr>
          <a:xfrm>
            <a:off x="2560068" y="4608999"/>
            <a:ext cx="840184" cy="895268"/>
            <a:chOff x="2667768" y="4022182"/>
            <a:chExt cx="840184" cy="895268"/>
          </a:xfrm>
        </p:grpSpPr>
        <p:sp>
          <p:nvSpPr>
            <p:cNvPr id="28" name="矩形 27">
              <a:extLst>
                <a:ext uri="{FF2B5EF4-FFF2-40B4-BE49-F238E27FC236}">
                  <a16:creationId xmlns:a16="http://schemas.microsoft.com/office/drawing/2014/main" id="{68D0F038-320F-FF32-CD49-7967F72CC786}"/>
                </a:ext>
              </a:extLst>
            </p:cNvPr>
            <p:cNvSpPr/>
            <p:nvPr/>
          </p:nvSpPr>
          <p:spPr>
            <a:xfrm>
              <a:off x="2783632" y="4221088"/>
              <a:ext cx="470490" cy="696362"/>
            </a:xfrm>
            <a:prstGeom prst="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550EADA1-9C84-A11B-05F2-E0CC6B5DD0F7}"/>
                </a:ext>
              </a:extLst>
            </p:cNvPr>
            <p:cNvSpPr txBox="1"/>
            <p:nvPr/>
          </p:nvSpPr>
          <p:spPr>
            <a:xfrm>
              <a:off x="2667768" y="4022182"/>
              <a:ext cx="840184" cy="25391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milk shake</a:t>
              </a:r>
              <a:endParaRPr lang="zh-CN" altLang="en-US" sz="1050" dirty="0">
                <a:latin typeface="Times New Roman" panose="02020603050405020304" pitchFamily="18" charset="0"/>
                <a:cs typeface="Times New Roman" panose="02020603050405020304" pitchFamily="18" charset="0"/>
              </a:endParaRPr>
            </a:p>
          </p:txBody>
        </p:sp>
      </p:grpSp>
      <p:grpSp>
        <p:nvGrpSpPr>
          <p:cNvPr id="30" name="组合 29">
            <a:extLst>
              <a:ext uri="{FF2B5EF4-FFF2-40B4-BE49-F238E27FC236}">
                <a16:creationId xmlns:a16="http://schemas.microsoft.com/office/drawing/2014/main" id="{57A4D6D4-9310-C0B6-FB48-545E0A94A68A}"/>
              </a:ext>
            </a:extLst>
          </p:cNvPr>
          <p:cNvGrpSpPr/>
          <p:nvPr/>
        </p:nvGrpSpPr>
        <p:grpSpPr>
          <a:xfrm>
            <a:off x="1777710" y="4839495"/>
            <a:ext cx="912160" cy="890363"/>
            <a:chOff x="2698652" y="4008542"/>
            <a:chExt cx="912160" cy="890363"/>
          </a:xfrm>
        </p:grpSpPr>
        <p:sp>
          <p:nvSpPr>
            <p:cNvPr id="31" name="矩形 30">
              <a:extLst>
                <a:ext uri="{FF2B5EF4-FFF2-40B4-BE49-F238E27FC236}">
                  <a16:creationId xmlns:a16="http://schemas.microsoft.com/office/drawing/2014/main" id="{AF4E2F7F-00B3-7681-7D8E-E9781D68ABBE}"/>
                </a:ext>
              </a:extLst>
            </p:cNvPr>
            <p:cNvSpPr/>
            <p:nvPr/>
          </p:nvSpPr>
          <p:spPr>
            <a:xfrm>
              <a:off x="2783632" y="4221088"/>
              <a:ext cx="827180" cy="677817"/>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a:extLst>
                <a:ext uri="{FF2B5EF4-FFF2-40B4-BE49-F238E27FC236}">
                  <a16:creationId xmlns:a16="http://schemas.microsoft.com/office/drawing/2014/main" id="{786E0C18-046C-5267-6758-C2E7EE7A9C57}"/>
                </a:ext>
              </a:extLst>
            </p:cNvPr>
            <p:cNvSpPr txBox="1"/>
            <p:nvPr/>
          </p:nvSpPr>
          <p:spPr>
            <a:xfrm>
              <a:off x="2698652" y="4008542"/>
              <a:ext cx="739204" cy="25391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salad</a:t>
              </a:r>
              <a:endParaRPr lang="zh-CN" altLang="en-US" sz="900" dirty="0">
                <a:latin typeface="Times New Roman" panose="02020603050405020304" pitchFamily="18" charset="0"/>
                <a:cs typeface="Times New Roman" panose="02020603050405020304" pitchFamily="18" charset="0"/>
              </a:endParaRPr>
            </a:p>
          </p:txBody>
        </p:sp>
      </p:grpSp>
      <p:grpSp>
        <p:nvGrpSpPr>
          <p:cNvPr id="33" name="组合 32">
            <a:extLst>
              <a:ext uri="{FF2B5EF4-FFF2-40B4-BE49-F238E27FC236}">
                <a16:creationId xmlns:a16="http://schemas.microsoft.com/office/drawing/2014/main" id="{62BF6D02-98F4-F212-6797-31A51C5E95BC}"/>
              </a:ext>
            </a:extLst>
          </p:cNvPr>
          <p:cNvGrpSpPr/>
          <p:nvPr/>
        </p:nvGrpSpPr>
        <p:grpSpPr>
          <a:xfrm>
            <a:off x="1730462" y="4958783"/>
            <a:ext cx="2249348" cy="923155"/>
            <a:chOff x="6043888" y="3701032"/>
            <a:chExt cx="2249348" cy="923155"/>
          </a:xfrm>
        </p:grpSpPr>
        <p:sp>
          <p:nvSpPr>
            <p:cNvPr id="34" name="矩形 33">
              <a:extLst>
                <a:ext uri="{FF2B5EF4-FFF2-40B4-BE49-F238E27FC236}">
                  <a16:creationId xmlns:a16="http://schemas.microsoft.com/office/drawing/2014/main" id="{04FA1A14-3346-E57F-3319-12FF5DBCE808}"/>
                </a:ext>
              </a:extLst>
            </p:cNvPr>
            <p:cNvSpPr/>
            <p:nvPr/>
          </p:nvSpPr>
          <p:spPr>
            <a:xfrm>
              <a:off x="6144892" y="3898452"/>
              <a:ext cx="2148344" cy="725735"/>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61FC6FB2-BE20-44AB-1844-3BF52DD6E3AF}"/>
                </a:ext>
              </a:extLst>
            </p:cNvPr>
            <p:cNvSpPr txBox="1"/>
            <p:nvPr/>
          </p:nvSpPr>
          <p:spPr>
            <a:xfrm>
              <a:off x="6043888" y="3701032"/>
              <a:ext cx="647100" cy="377026"/>
            </a:xfrm>
            <a:prstGeom prst="rect">
              <a:avLst/>
            </a:prstGeom>
            <a:noFill/>
          </p:spPr>
          <p:txBody>
            <a:bodyPr wrap="square" rtlCol="0">
              <a:spAutoFit/>
            </a:bodyPr>
            <a:lstStyle/>
            <a:p>
              <a:r>
                <a:rPr lang="en-US" altLang="zh-CN" sz="1050" dirty="0">
                  <a:latin typeface="Times New Roman" panose="02020603050405020304" pitchFamily="18" charset="0"/>
                  <a:cs typeface="Times New Roman" panose="02020603050405020304" pitchFamily="18" charset="0"/>
                </a:rPr>
                <a:t>tray</a:t>
              </a:r>
              <a:endParaRPr lang="en-US" altLang="zh-CN" sz="900" dirty="0">
                <a:latin typeface="Times New Roman" panose="02020603050405020304" pitchFamily="18" charset="0"/>
                <a:cs typeface="Times New Roman" panose="02020603050405020304" pitchFamily="18" charset="0"/>
              </a:endParaRPr>
            </a:p>
            <a:p>
              <a:endParaRPr lang="zh-CN" altLang="en-US" sz="800" dirty="0">
                <a:solidFill>
                  <a:srgbClr val="FF0000"/>
                </a:solidFill>
                <a:latin typeface="Times New Roman" panose="02020603050405020304" pitchFamily="18" charset="0"/>
                <a:cs typeface="Times New Roman" panose="02020603050405020304" pitchFamily="18" charset="0"/>
              </a:endParaRPr>
            </a:p>
          </p:txBody>
        </p:sp>
      </p:grpSp>
      <p:grpSp>
        <p:nvGrpSpPr>
          <p:cNvPr id="10" name="组合 9">
            <a:extLst>
              <a:ext uri="{FF2B5EF4-FFF2-40B4-BE49-F238E27FC236}">
                <a16:creationId xmlns:a16="http://schemas.microsoft.com/office/drawing/2014/main" id="{5E24B430-C2A1-68DC-3688-3931F852EC37}"/>
              </a:ext>
            </a:extLst>
          </p:cNvPr>
          <p:cNvGrpSpPr/>
          <p:nvPr/>
        </p:nvGrpSpPr>
        <p:grpSpPr>
          <a:xfrm>
            <a:off x="6321801" y="3544997"/>
            <a:ext cx="4537515" cy="2657845"/>
            <a:chOff x="6619898" y="3789041"/>
            <a:chExt cx="4537515" cy="2657845"/>
          </a:xfrm>
        </p:grpSpPr>
        <p:grpSp>
          <p:nvGrpSpPr>
            <p:cNvPr id="12" name="组合 11">
              <a:extLst>
                <a:ext uri="{FF2B5EF4-FFF2-40B4-BE49-F238E27FC236}">
                  <a16:creationId xmlns:a16="http://schemas.microsoft.com/office/drawing/2014/main" id="{EE247D9A-8A8C-E4C7-EFA7-93A63AED8FE9}"/>
                </a:ext>
              </a:extLst>
            </p:cNvPr>
            <p:cNvGrpSpPr/>
            <p:nvPr/>
          </p:nvGrpSpPr>
          <p:grpSpPr>
            <a:xfrm>
              <a:off x="8306564" y="3857488"/>
              <a:ext cx="823264" cy="466324"/>
              <a:chOff x="8813430" y="3645737"/>
              <a:chExt cx="823264" cy="466324"/>
            </a:xfrm>
          </p:grpSpPr>
          <p:sp>
            <p:nvSpPr>
              <p:cNvPr id="93" name="椭圆 92">
                <a:extLst>
                  <a:ext uri="{FF2B5EF4-FFF2-40B4-BE49-F238E27FC236}">
                    <a16:creationId xmlns:a16="http://schemas.microsoft.com/office/drawing/2014/main" id="{C7C9B79B-B10E-2C46-A496-C14FF3703B2A}"/>
                  </a:ext>
                </a:extLst>
              </p:cNvPr>
              <p:cNvSpPr/>
              <p:nvPr/>
            </p:nvSpPr>
            <p:spPr>
              <a:xfrm>
                <a:off x="8991900" y="3645737"/>
                <a:ext cx="466324" cy="466324"/>
              </a:xfrm>
              <a:prstGeom prst="ellipse">
                <a:avLst/>
              </a:prstGeom>
              <a:solidFill>
                <a:schemeClr val="accent5">
                  <a:lumMod val="60000"/>
                  <a:lumOff val="40000"/>
                </a:schemeClr>
              </a:solidFill>
              <a:ln>
                <a:solidFill>
                  <a:schemeClr val="accent5">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94" name="文本框 93">
                <a:extLst>
                  <a:ext uri="{FF2B5EF4-FFF2-40B4-BE49-F238E27FC236}">
                    <a16:creationId xmlns:a16="http://schemas.microsoft.com/office/drawing/2014/main" id="{01CC6DB4-BEC3-64F5-DC5D-3A80587ED93D}"/>
                  </a:ext>
                </a:extLst>
              </p:cNvPr>
              <p:cNvSpPr txBox="1"/>
              <p:nvPr/>
            </p:nvSpPr>
            <p:spPr>
              <a:xfrm>
                <a:off x="8813430" y="3668851"/>
                <a:ext cx="82326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indoor</a:t>
                </a:r>
              </a:p>
            </p:txBody>
          </p:sp>
        </p:grpSp>
        <p:sp>
          <p:nvSpPr>
            <p:cNvPr id="14" name="矩形 13">
              <a:extLst>
                <a:ext uri="{FF2B5EF4-FFF2-40B4-BE49-F238E27FC236}">
                  <a16:creationId xmlns:a16="http://schemas.microsoft.com/office/drawing/2014/main" id="{9ECF7B3F-F43B-CB79-07B7-37CAFFC2D58E}"/>
                </a:ext>
              </a:extLst>
            </p:cNvPr>
            <p:cNvSpPr/>
            <p:nvPr/>
          </p:nvSpPr>
          <p:spPr>
            <a:xfrm>
              <a:off x="6634762" y="3789041"/>
              <a:ext cx="4295839" cy="2657845"/>
            </a:xfrm>
            <a:prstGeom prst="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1C8373AC-C809-5A4F-4FCC-AD9265855330}"/>
                </a:ext>
              </a:extLst>
            </p:cNvPr>
            <p:cNvSpPr txBox="1"/>
            <p:nvPr/>
          </p:nvSpPr>
          <p:spPr>
            <a:xfrm>
              <a:off x="8732380" y="5166516"/>
              <a:ext cx="917938"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holding</a:t>
              </a:r>
              <a:endParaRPr lang="zh-CN" altLang="en-US" dirty="0">
                <a:latin typeface="Times New Roman" panose="02020603050405020304" pitchFamily="18" charset="0"/>
                <a:cs typeface="Times New Roman" panose="02020603050405020304" pitchFamily="18" charset="0"/>
              </a:endParaRPr>
            </a:p>
          </p:txBody>
        </p:sp>
        <p:sp>
          <p:nvSpPr>
            <p:cNvPr id="23" name="文本框 22">
              <a:extLst>
                <a:ext uri="{FF2B5EF4-FFF2-40B4-BE49-F238E27FC236}">
                  <a16:creationId xmlns:a16="http://schemas.microsoft.com/office/drawing/2014/main" id="{76F779E7-8641-ED4A-A480-23F53895F4AC}"/>
                </a:ext>
              </a:extLst>
            </p:cNvPr>
            <p:cNvSpPr txBox="1"/>
            <p:nvPr/>
          </p:nvSpPr>
          <p:spPr>
            <a:xfrm>
              <a:off x="7236414" y="5202480"/>
              <a:ext cx="96334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support</a:t>
              </a:r>
              <a:endParaRPr lang="zh-CN" altLang="en-US" sz="10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2FB33BA1-DECB-3B28-D25E-886FE9EF1F42}"/>
                </a:ext>
              </a:extLst>
            </p:cNvPr>
            <p:cNvSpPr txBox="1"/>
            <p:nvPr/>
          </p:nvSpPr>
          <p:spPr>
            <a:xfrm>
              <a:off x="8455925" y="4610097"/>
              <a:ext cx="591870"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left</a:t>
              </a:r>
              <a:endParaRPr lang="zh-CN" altLang="en-US" dirty="0">
                <a:latin typeface="Times New Roman" panose="02020603050405020304" pitchFamily="18" charset="0"/>
                <a:cs typeface="Times New Roman" panose="02020603050405020304" pitchFamily="18" charset="0"/>
              </a:endParaRPr>
            </a:p>
          </p:txBody>
        </p:sp>
        <p:grpSp>
          <p:nvGrpSpPr>
            <p:cNvPr id="36" name="组合 35">
              <a:extLst>
                <a:ext uri="{FF2B5EF4-FFF2-40B4-BE49-F238E27FC236}">
                  <a16:creationId xmlns:a16="http://schemas.microsoft.com/office/drawing/2014/main" id="{C378D0A4-166E-328A-D2E2-B2F3DAE9C89B}"/>
                </a:ext>
              </a:extLst>
            </p:cNvPr>
            <p:cNvGrpSpPr/>
            <p:nvPr/>
          </p:nvGrpSpPr>
          <p:grpSpPr>
            <a:xfrm>
              <a:off x="9586171" y="4692541"/>
              <a:ext cx="681526" cy="466324"/>
              <a:chOff x="9287702" y="4845276"/>
              <a:chExt cx="681526" cy="466324"/>
            </a:xfrm>
          </p:grpSpPr>
          <p:sp>
            <p:nvSpPr>
              <p:cNvPr id="91" name="椭圆 90">
                <a:extLst>
                  <a:ext uri="{FF2B5EF4-FFF2-40B4-BE49-F238E27FC236}">
                    <a16:creationId xmlns:a16="http://schemas.microsoft.com/office/drawing/2014/main" id="{6C30D6E9-8BE1-DF7A-F259-552C62BEC67A}"/>
                  </a:ext>
                </a:extLst>
              </p:cNvPr>
              <p:cNvSpPr/>
              <p:nvPr/>
            </p:nvSpPr>
            <p:spPr>
              <a:xfrm>
                <a:off x="9305769" y="4845276"/>
                <a:ext cx="466324" cy="466324"/>
              </a:xfrm>
              <a:prstGeom prst="ellipse">
                <a:avLst/>
              </a:prstGeom>
              <a:solidFill>
                <a:srgbClr val="FFB974"/>
              </a:solidFill>
              <a:ln>
                <a:solidFill>
                  <a:srgbClr val="FFBA75"/>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92" name="文本框 91">
                <a:extLst>
                  <a:ext uri="{FF2B5EF4-FFF2-40B4-BE49-F238E27FC236}">
                    <a16:creationId xmlns:a16="http://schemas.microsoft.com/office/drawing/2014/main" id="{52536323-F07D-7A96-12BC-DB5BF086BC56}"/>
                  </a:ext>
                </a:extLst>
              </p:cNvPr>
              <p:cNvSpPr txBox="1"/>
              <p:nvPr/>
            </p:nvSpPr>
            <p:spPr>
              <a:xfrm>
                <a:off x="9287702" y="4865289"/>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girl</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37" name="组合 36">
              <a:extLst>
                <a:ext uri="{FF2B5EF4-FFF2-40B4-BE49-F238E27FC236}">
                  <a16:creationId xmlns:a16="http://schemas.microsoft.com/office/drawing/2014/main" id="{25C415B6-39EA-67A8-92A3-9939F69B27E8}"/>
                </a:ext>
              </a:extLst>
            </p:cNvPr>
            <p:cNvGrpSpPr/>
            <p:nvPr/>
          </p:nvGrpSpPr>
          <p:grpSpPr>
            <a:xfrm>
              <a:off x="8037678" y="5847132"/>
              <a:ext cx="701832" cy="466324"/>
              <a:chOff x="7050885" y="5972836"/>
              <a:chExt cx="701832" cy="466324"/>
            </a:xfrm>
          </p:grpSpPr>
          <p:sp>
            <p:nvSpPr>
              <p:cNvPr id="89" name="椭圆 88">
                <a:extLst>
                  <a:ext uri="{FF2B5EF4-FFF2-40B4-BE49-F238E27FC236}">
                    <a16:creationId xmlns:a16="http://schemas.microsoft.com/office/drawing/2014/main" id="{CD4013A6-DF86-CB7D-0082-C1EDF67F102B}"/>
                  </a:ext>
                </a:extLst>
              </p:cNvPr>
              <p:cNvSpPr/>
              <p:nvPr/>
            </p:nvSpPr>
            <p:spPr>
              <a:xfrm>
                <a:off x="7135597" y="5972836"/>
                <a:ext cx="466324" cy="466324"/>
              </a:xfrm>
              <a:prstGeom prst="ellipse">
                <a:avLst/>
              </a:prstGeom>
              <a:solidFill>
                <a:srgbClr val="74D018"/>
              </a:solidFill>
              <a:ln>
                <a:solidFill>
                  <a:srgbClr val="74D018"/>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25C44C95-EBFC-38DB-47C0-E3E3289FC2A0}"/>
                  </a:ext>
                </a:extLst>
              </p:cNvPr>
              <p:cNvSpPr txBox="1"/>
              <p:nvPr/>
            </p:nvSpPr>
            <p:spPr>
              <a:xfrm>
                <a:off x="7050885" y="5992774"/>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salad</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grpSp>
          <p:nvGrpSpPr>
            <p:cNvPr id="40" name="组合 39">
              <a:extLst>
                <a:ext uri="{FF2B5EF4-FFF2-40B4-BE49-F238E27FC236}">
                  <a16:creationId xmlns:a16="http://schemas.microsoft.com/office/drawing/2014/main" id="{B2681160-8BDC-7CC7-2BA8-45DF280A66EC}"/>
                </a:ext>
              </a:extLst>
            </p:cNvPr>
            <p:cNvGrpSpPr/>
            <p:nvPr/>
          </p:nvGrpSpPr>
          <p:grpSpPr>
            <a:xfrm>
              <a:off x="9066960" y="5847132"/>
              <a:ext cx="809483" cy="466324"/>
              <a:chOff x="9195357" y="6013594"/>
              <a:chExt cx="809483" cy="466324"/>
            </a:xfrm>
          </p:grpSpPr>
          <p:sp>
            <p:nvSpPr>
              <p:cNvPr id="87" name="椭圆 86">
                <a:extLst>
                  <a:ext uri="{FF2B5EF4-FFF2-40B4-BE49-F238E27FC236}">
                    <a16:creationId xmlns:a16="http://schemas.microsoft.com/office/drawing/2014/main" id="{D3415873-0A47-D1CE-7560-747128D429F6}"/>
                  </a:ext>
                </a:extLst>
              </p:cNvPr>
              <p:cNvSpPr/>
              <p:nvPr/>
            </p:nvSpPr>
            <p:spPr>
              <a:xfrm>
                <a:off x="9311202" y="6013594"/>
                <a:ext cx="466324" cy="466324"/>
              </a:xfrm>
              <a:prstGeom prst="ellipse">
                <a:avLst/>
              </a:prstGeom>
              <a:solidFill>
                <a:srgbClr val="CF7317"/>
              </a:solidFill>
              <a:ln>
                <a:solidFill>
                  <a:srgbClr val="D073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88" name="文本框 87">
                <a:extLst>
                  <a:ext uri="{FF2B5EF4-FFF2-40B4-BE49-F238E27FC236}">
                    <a16:creationId xmlns:a16="http://schemas.microsoft.com/office/drawing/2014/main" id="{70C45115-49E1-F4F5-9E08-B0D73AAB42E6}"/>
                  </a:ext>
                </a:extLst>
              </p:cNvPr>
              <p:cNvSpPr txBox="1"/>
              <p:nvPr/>
            </p:nvSpPr>
            <p:spPr>
              <a:xfrm>
                <a:off x="9195357" y="6055770"/>
                <a:ext cx="809483" cy="38197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burger</a:t>
                </a:r>
                <a:endParaRPr lang="zh-CN" altLang="en-US" dirty="0">
                  <a:latin typeface="Times New Roman" panose="02020603050405020304" pitchFamily="18" charset="0"/>
                  <a:cs typeface="Times New Roman" panose="02020603050405020304" pitchFamily="18" charset="0"/>
                </a:endParaRPr>
              </a:p>
            </p:txBody>
          </p:sp>
        </p:grpSp>
        <p:grpSp>
          <p:nvGrpSpPr>
            <p:cNvPr id="45" name="组合 44">
              <a:extLst>
                <a:ext uri="{FF2B5EF4-FFF2-40B4-BE49-F238E27FC236}">
                  <a16:creationId xmlns:a16="http://schemas.microsoft.com/office/drawing/2014/main" id="{06A0EFCC-B967-465A-7EF1-507F3EDD4ADE}"/>
                </a:ext>
              </a:extLst>
            </p:cNvPr>
            <p:cNvGrpSpPr/>
            <p:nvPr/>
          </p:nvGrpSpPr>
          <p:grpSpPr>
            <a:xfrm>
              <a:off x="10008297" y="5837783"/>
              <a:ext cx="681526" cy="466324"/>
              <a:chOff x="10153144" y="5281590"/>
              <a:chExt cx="681526" cy="466324"/>
            </a:xfrm>
          </p:grpSpPr>
          <p:sp>
            <p:nvSpPr>
              <p:cNvPr id="84" name="椭圆 83">
                <a:extLst>
                  <a:ext uri="{FF2B5EF4-FFF2-40B4-BE49-F238E27FC236}">
                    <a16:creationId xmlns:a16="http://schemas.microsoft.com/office/drawing/2014/main" id="{7C3D19C2-D3CE-1259-3C90-11871C7D6621}"/>
                  </a:ext>
                </a:extLst>
              </p:cNvPr>
              <p:cNvSpPr/>
              <p:nvPr/>
            </p:nvSpPr>
            <p:spPr>
              <a:xfrm>
                <a:off x="10197364" y="5281590"/>
                <a:ext cx="466324" cy="466324"/>
              </a:xfrm>
              <a:prstGeom prst="ellipse">
                <a:avLst/>
              </a:prstGeom>
              <a:solidFill>
                <a:srgbClr val="C21818"/>
              </a:solidFill>
              <a:ln>
                <a:solidFill>
                  <a:srgbClr val="C218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85" name="文本框 84">
                <a:extLst>
                  <a:ext uri="{FF2B5EF4-FFF2-40B4-BE49-F238E27FC236}">
                    <a16:creationId xmlns:a16="http://schemas.microsoft.com/office/drawing/2014/main" id="{756BBE32-DD5E-F4FC-BD37-3F82D69D88EA}"/>
                  </a:ext>
                </a:extLst>
              </p:cNvPr>
              <p:cNvSpPr txBox="1"/>
              <p:nvPr/>
            </p:nvSpPr>
            <p:spPr>
              <a:xfrm>
                <a:off x="10153144" y="5310453"/>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coat</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47" name="组合 46">
              <a:extLst>
                <a:ext uri="{FF2B5EF4-FFF2-40B4-BE49-F238E27FC236}">
                  <a16:creationId xmlns:a16="http://schemas.microsoft.com/office/drawing/2014/main" id="{9C50F5BF-FD6A-0BF5-40AD-0E3C4B456DDD}"/>
                </a:ext>
              </a:extLst>
            </p:cNvPr>
            <p:cNvGrpSpPr/>
            <p:nvPr/>
          </p:nvGrpSpPr>
          <p:grpSpPr>
            <a:xfrm>
              <a:off x="7391306" y="4630371"/>
              <a:ext cx="626195" cy="527588"/>
              <a:chOff x="8110410" y="5911572"/>
              <a:chExt cx="626195" cy="527588"/>
            </a:xfrm>
          </p:grpSpPr>
          <p:sp>
            <p:nvSpPr>
              <p:cNvPr id="81" name="椭圆 80">
                <a:extLst>
                  <a:ext uri="{FF2B5EF4-FFF2-40B4-BE49-F238E27FC236}">
                    <a16:creationId xmlns:a16="http://schemas.microsoft.com/office/drawing/2014/main" id="{B99CBC29-46E3-EA47-A99C-2BF4A71B569B}"/>
                  </a:ext>
                </a:extLst>
              </p:cNvPr>
              <p:cNvSpPr/>
              <p:nvPr/>
            </p:nvSpPr>
            <p:spPr>
              <a:xfrm>
                <a:off x="8155817" y="5972836"/>
                <a:ext cx="466324" cy="466324"/>
              </a:xfrm>
              <a:prstGeom prst="ellipse">
                <a:avLst/>
              </a:prstGeom>
              <a:solidFill>
                <a:srgbClr val="D61919"/>
              </a:solidFill>
              <a:ln>
                <a:solidFill>
                  <a:srgbClr val="D61919"/>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E4313BCA-6B52-CC5E-726A-C83BFA9274F3}"/>
                  </a:ext>
                </a:extLst>
              </p:cNvPr>
              <p:cNvSpPr txBox="1"/>
              <p:nvPr/>
            </p:nvSpPr>
            <p:spPr>
              <a:xfrm>
                <a:off x="8110410" y="5911572"/>
                <a:ext cx="626195" cy="381973"/>
              </a:xfrm>
              <a:prstGeom prst="rect">
                <a:avLst/>
              </a:prstGeom>
              <a:noFill/>
            </p:spPr>
            <p:txBody>
              <a:bodyPr wrap="square" rtlCol="0">
                <a:spAutoFit/>
              </a:bodyPr>
              <a:lstStyle/>
              <a:p>
                <a:pPr algn="ctr"/>
                <a:r>
                  <a:rPr lang="en-US" altLang="zh-CN" dirty="0">
                    <a:solidFill>
                      <a:schemeClr val="bg1"/>
                    </a:solidFill>
                    <a:latin typeface="Times New Roman" panose="02020603050405020304" pitchFamily="18" charset="0"/>
                    <a:cs typeface="Times New Roman" panose="02020603050405020304" pitchFamily="18" charset="0"/>
                  </a:rPr>
                  <a:t>tray</a:t>
                </a:r>
              </a:p>
            </p:txBody>
          </p:sp>
        </p:grpSp>
        <p:grpSp>
          <p:nvGrpSpPr>
            <p:cNvPr id="50" name="组合 49">
              <a:extLst>
                <a:ext uri="{FF2B5EF4-FFF2-40B4-BE49-F238E27FC236}">
                  <a16:creationId xmlns:a16="http://schemas.microsoft.com/office/drawing/2014/main" id="{E6C7215F-53FB-BB17-D7B8-E5F2154E5E4C}"/>
                </a:ext>
              </a:extLst>
            </p:cNvPr>
            <p:cNvGrpSpPr/>
            <p:nvPr/>
          </p:nvGrpSpPr>
          <p:grpSpPr>
            <a:xfrm>
              <a:off x="6619898" y="5751734"/>
              <a:ext cx="708401" cy="646331"/>
              <a:chOff x="7531509" y="4744731"/>
              <a:chExt cx="708401" cy="646331"/>
            </a:xfrm>
          </p:grpSpPr>
          <p:sp>
            <p:nvSpPr>
              <p:cNvPr id="78" name="椭圆 77">
                <a:extLst>
                  <a:ext uri="{FF2B5EF4-FFF2-40B4-BE49-F238E27FC236}">
                    <a16:creationId xmlns:a16="http://schemas.microsoft.com/office/drawing/2014/main" id="{A7950ACE-4137-E6C7-920F-AE81F17F5F17}"/>
                  </a:ext>
                </a:extLst>
              </p:cNvPr>
              <p:cNvSpPr/>
              <p:nvPr/>
            </p:nvSpPr>
            <p:spPr>
              <a:xfrm>
                <a:off x="7646272" y="4845276"/>
                <a:ext cx="466324" cy="466324"/>
              </a:xfrm>
              <a:prstGeom prst="ellipse">
                <a:avLst/>
              </a:prstGeom>
              <a:solidFill>
                <a:srgbClr val="E6BCD3"/>
              </a:solidFill>
              <a:ln>
                <a:solidFill>
                  <a:srgbClr val="E6BCD3"/>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718BDFFE-B863-B46A-7B24-CF6F8A77782E}"/>
                  </a:ext>
                </a:extLst>
              </p:cNvPr>
              <p:cNvSpPr txBox="1"/>
              <p:nvPr/>
            </p:nvSpPr>
            <p:spPr>
              <a:xfrm>
                <a:off x="7531509" y="4744731"/>
                <a:ext cx="708401" cy="646331"/>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milk</a:t>
                </a:r>
              </a:p>
              <a:p>
                <a:pPr algn="ctr"/>
                <a:r>
                  <a:rPr lang="en-US" altLang="zh-CN" dirty="0">
                    <a:latin typeface="Times New Roman" panose="02020603050405020304" pitchFamily="18" charset="0"/>
                    <a:cs typeface="Times New Roman" panose="02020603050405020304" pitchFamily="18" charset="0"/>
                  </a:rPr>
                  <a:t>shake</a:t>
                </a:r>
              </a:p>
            </p:txBody>
          </p:sp>
        </p:grpSp>
        <p:sp>
          <p:nvSpPr>
            <p:cNvPr id="53" name="文本框 52">
              <a:extLst>
                <a:ext uri="{FF2B5EF4-FFF2-40B4-BE49-F238E27FC236}">
                  <a16:creationId xmlns:a16="http://schemas.microsoft.com/office/drawing/2014/main" id="{728B7105-1EA6-1900-7602-7AD6A22DA574}"/>
                </a:ext>
              </a:extLst>
            </p:cNvPr>
            <p:cNvSpPr txBox="1"/>
            <p:nvPr/>
          </p:nvSpPr>
          <p:spPr>
            <a:xfrm>
              <a:off x="10046365" y="5122342"/>
              <a:ext cx="1111048" cy="36933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wearing</a:t>
              </a:r>
              <a:endParaRPr lang="zh-CN" altLang="en-US" dirty="0">
                <a:latin typeface="Times New Roman" panose="02020603050405020304" pitchFamily="18" charset="0"/>
                <a:cs typeface="Times New Roman" panose="02020603050405020304" pitchFamily="18" charset="0"/>
              </a:endParaRPr>
            </a:p>
          </p:txBody>
        </p:sp>
        <p:cxnSp>
          <p:nvCxnSpPr>
            <p:cNvPr id="54" name="直接箭头连接符 53">
              <a:extLst>
                <a:ext uri="{FF2B5EF4-FFF2-40B4-BE49-F238E27FC236}">
                  <a16:creationId xmlns:a16="http://schemas.microsoft.com/office/drawing/2014/main" id="{3AACC7A9-F8A6-DD71-9CED-D252B19D8307}"/>
                </a:ext>
              </a:extLst>
            </p:cNvPr>
            <p:cNvCxnSpPr>
              <a:cxnSpLocks/>
              <a:stCxn id="81" idx="5"/>
              <a:endCxn id="89" idx="0"/>
            </p:cNvCxnSpPr>
            <p:nvPr/>
          </p:nvCxnSpPr>
          <p:spPr>
            <a:xfrm>
              <a:off x="7834745" y="5089667"/>
              <a:ext cx="520807" cy="75746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63" name="直接箭头连接符 62">
              <a:extLst>
                <a:ext uri="{FF2B5EF4-FFF2-40B4-BE49-F238E27FC236}">
                  <a16:creationId xmlns:a16="http://schemas.microsoft.com/office/drawing/2014/main" id="{27AFA419-301E-4CF4-3A71-E09BA567E314}"/>
                </a:ext>
              </a:extLst>
            </p:cNvPr>
            <p:cNvCxnSpPr>
              <a:cxnSpLocks/>
              <a:stCxn id="81" idx="6"/>
              <a:endCxn id="91" idx="2"/>
            </p:cNvCxnSpPr>
            <p:nvPr/>
          </p:nvCxnSpPr>
          <p:spPr>
            <a:xfrm>
              <a:off x="7903037" y="4924797"/>
              <a:ext cx="1701201" cy="90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64" name="直接箭头连接符 63">
              <a:extLst>
                <a:ext uri="{FF2B5EF4-FFF2-40B4-BE49-F238E27FC236}">
                  <a16:creationId xmlns:a16="http://schemas.microsoft.com/office/drawing/2014/main" id="{AD5231B8-FB9C-852A-B486-DACBF9E14214}"/>
                </a:ext>
              </a:extLst>
            </p:cNvPr>
            <p:cNvCxnSpPr>
              <a:cxnSpLocks/>
              <a:stCxn id="81" idx="3"/>
              <a:endCxn id="78" idx="0"/>
            </p:cNvCxnSpPr>
            <p:nvPr/>
          </p:nvCxnSpPr>
          <p:spPr>
            <a:xfrm flipH="1">
              <a:off x="6967823" y="5089667"/>
              <a:ext cx="537182" cy="76261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67" name="直接箭头连接符 66">
              <a:extLst>
                <a:ext uri="{FF2B5EF4-FFF2-40B4-BE49-F238E27FC236}">
                  <a16:creationId xmlns:a16="http://schemas.microsoft.com/office/drawing/2014/main" id="{212466AA-6C36-7D38-A444-7F83D6EC2EF5}"/>
                </a:ext>
              </a:extLst>
            </p:cNvPr>
            <p:cNvCxnSpPr>
              <a:cxnSpLocks/>
              <a:stCxn id="91" idx="5"/>
              <a:endCxn id="84" idx="0"/>
            </p:cNvCxnSpPr>
            <p:nvPr/>
          </p:nvCxnSpPr>
          <p:spPr>
            <a:xfrm>
              <a:off x="10002270" y="5090573"/>
              <a:ext cx="283409" cy="74721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68" name="直接箭头连接符 67">
              <a:extLst>
                <a:ext uri="{FF2B5EF4-FFF2-40B4-BE49-F238E27FC236}">
                  <a16:creationId xmlns:a16="http://schemas.microsoft.com/office/drawing/2014/main" id="{6AB3B276-E3D3-E1F3-42EF-111D364F1527}"/>
                </a:ext>
              </a:extLst>
            </p:cNvPr>
            <p:cNvCxnSpPr>
              <a:cxnSpLocks/>
              <a:stCxn id="91" idx="3"/>
              <a:endCxn id="87" idx="0"/>
            </p:cNvCxnSpPr>
            <p:nvPr/>
          </p:nvCxnSpPr>
          <p:spPr>
            <a:xfrm flipH="1">
              <a:off x="9415967" y="5090573"/>
              <a:ext cx="256563" cy="75655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72" name="直接箭头连接符 71">
              <a:extLst>
                <a:ext uri="{FF2B5EF4-FFF2-40B4-BE49-F238E27FC236}">
                  <a16:creationId xmlns:a16="http://schemas.microsoft.com/office/drawing/2014/main" id="{04D6FBB9-A1B8-3727-DBAA-128585B6650F}"/>
                </a:ext>
              </a:extLst>
            </p:cNvPr>
            <p:cNvCxnSpPr>
              <a:cxnSpLocks/>
              <a:stCxn id="93" idx="3"/>
              <a:endCxn id="81" idx="0"/>
            </p:cNvCxnSpPr>
            <p:nvPr/>
          </p:nvCxnSpPr>
          <p:spPr>
            <a:xfrm flipH="1">
              <a:off x="7669875" y="4255520"/>
              <a:ext cx="883451" cy="4361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73" name="直接箭头连接符 72">
              <a:extLst>
                <a:ext uri="{FF2B5EF4-FFF2-40B4-BE49-F238E27FC236}">
                  <a16:creationId xmlns:a16="http://schemas.microsoft.com/office/drawing/2014/main" id="{A0012815-A3B8-F01F-40F9-34EE588C4D28}"/>
                </a:ext>
              </a:extLst>
            </p:cNvPr>
            <p:cNvCxnSpPr>
              <a:cxnSpLocks/>
              <a:stCxn id="93" idx="5"/>
              <a:endCxn id="91" idx="0"/>
            </p:cNvCxnSpPr>
            <p:nvPr/>
          </p:nvCxnSpPr>
          <p:spPr>
            <a:xfrm>
              <a:off x="8883066" y="4255520"/>
              <a:ext cx="954334" cy="43702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nvGrpSpPr>
            <p:cNvPr id="74" name="组合 73">
              <a:extLst>
                <a:ext uri="{FF2B5EF4-FFF2-40B4-BE49-F238E27FC236}">
                  <a16:creationId xmlns:a16="http://schemas.microsoft.com/office/drawing/2014/main" id="{0E04C482-C331-F7E5-D382-B47A30393D38}"/>
                </a:ext>
              </a:extLst>
            </p:cNvPr>
            <p:cNvGrpSpPr/>
            <p:nvPr/>
          </p:nvGrpSpPr>
          <p:grpSpPr>
            <a:xfrm>
              <a:off x="7343163" y="5851874"/>
              <a:ext cx="701832" cy="466324"/>
              <a:chOff x="7039260" y="5972836"/>
              <a:chExt cx="701832" cy="466324"/>
            </a:xfrm>
          </p:grpSpPr>
          <p:sp>
            <p:nvSpPr>
              <p:cNvPr id="76" name="椭圆 75">
                <a:extLst>
                  <a:ext uri="{FF2B5EF4-FFF2-40B4-BE49-F238E27FC236}">
                    <a16:creationId xmlns:a16="http://schemas.microsoft.com/office/drawing/2014/main" id="{B508FB7D-5B61-E1DC-78B4-B2C4341672EC}"/>
                  </a:ext>
                </a:extLst>
              </p:cNvPr>
              <p:cNvSpPr/>
              <p:nvPr/>
            </p:nvSpPr>
            <p:spPr>
              <a:xfrm>
                <a:off x="7135597" y="5972836"/>
                <a:ext cx="466324" cy="466324"/>
              </a:xfrm>
              <a:prstGeom prst="ellipse">
                <a:avLst/>
              </a:prstGeom>
              <a:solidFill>
                <a:schemeClr val="accent4">
                  <a:lumMod val="60000"/>
                  <a:lumOff val="40000"/>
                </a:schemeClr>
              </a:solidFill>
              <a:ln>
                <a:solidFill>
                  <a:schemeClr val="accent4">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7" name="文本框 76">
                <a:extLst>
                  <a:ext uri="{FF2B5EF4-FFF2-40B4-BE49-F238E27FC236}">
                    <a16:creationId xmlns:a16="http://schemas.microsoft.com/office/drawing/2014/main" id="{17ABA45A-5D73-CAAE-60E4-0CBBFD02D9B0}"/>
                  </a:ext>
                </a:extLst>
              </p:cNvPr>
              <p:cNvSpPr txBox="1"/>
              <p:nvPr/>
            </p:nvSpPr>
            <p:spPr>
              <a:xfrm>
                <a:off x="7039260" y="6000248"/>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chips</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cxnSp>
          <p:nvCxnSpPr>
            <p:cNvPr id="75" name="直接箭头连接符 74">
              <a:extLst>
                <a:ext uri="{FF2B5EF4-FFF2-40B4-BE49-F238E27FC236}">
                  <a16:creationId xmlns:a16="http://schemas.microsoft.com/office/drawing/2014/main" id="{D1C1A9C4-4E73-F2B1-83AC-8DD49E9FE2F3}"/>
                </a:ext>
              </a:extLst>
            </p:cNvPr>
            <p:cNvCxnSpPr>
              <a:cxnSpLocks/>
              <a:stCxn id="81" idx="4"/>
              <a:endCxn id="76" idx="0"/>
            </p:cNvCxnSpPr>
            <p:nvPr/>
          </p:nvCxnSpPr>
          <p:spPr>
            <a:xfrm>
              <a:off x="7669875" y="5157959"/>
              <a:ext cx="2787" cy="6939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sp>
        <p:nvSpPr>
          <p:cNvPr id="95" name="文本框 94">
            <a:extLst>
              <a:ext uri="{FF2B5EF4-FFF2-40B4-BE49-F238E27FC236}">
                <a16:creationId xmlns:a16="http://schemas.microsoft.com/office/drawing/2014/main" id="{A056B13D-5DBA-E82F-8F95-B5EF8E774FB5}"/>
              </a:ext>
            </a:extLst>
          </p:cNvPr>
          <p:cNvSpPr txBox="1"/>
          <p:nvPr/>
        </p:nvSpPr>
        <p:spPr>
          <a:xfrm>
            <a:off x="6648567" y="4468509"/>
            <a:ext cx="541392" cy="381973"/>
          </a:xfrm>
          <a:prstGeom prst="rect">
            <a:avLst/>
          </a:prstGeom>
          <a:noFill/>
        </p:spPr>
        <p:txBody>
          <a:bodyPr wrap="square" rtlCol="0">
            <a:spAutoFit/>
          </a:bodyPr>
          <a:lstStyle/>
          <a:p>
            <a:r>
              <a:rPr lang="en-US" altLang="zh-CN" dirty="0">
                <a:solidFill>
                  <a:srgbClr val="CC0000"/>
                </a:solidFill>
                <a:latin typeface="Times New Roman" panose="02020603050405020304" pitchFamily="18" charset="0"/>
                <a:cs typeface="Times New Roman" panose="02020603050405020304" pitchFamily="18" charset="0"/>
              </a:rPr>
              <a:t>red</a:t>
            </a:r>
            <a:endParaRPr lang="zh-CN" altLang="en-US" dirty="0">
              <a:solidFill>
                <a:srgbClr val="CC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29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EF4F-9CEE-567F-3731-74C9C61A2C96}"/>
            </a:ext>
          </a:extLst>
        </p:cNvPr>
        <p:cNvGrpSpPr/>
        <p:nvPr/>
      </p:nvGrpSpPr>
      <p:grpSpPr>
        <a:xfrm>
          <a:off x="0" y="0"/>
          <a:ext cx="0" cy="0"/>
          <a:chOff x="0" y="0"/>
          <a:chExt cx="0" cy="0"/>
        </a:xfrm>
      </p:grpSpPr>
      <p:sp>
        <p:nvSpPr>
          <p:cNvPr id="15" name="文本框 14">
            <a:extLst>
              <a:ext uri="{FF2B5EF4-FFF2-40B4-BE49-F238E27FC236}">
                <a16:creationId xmlns:a16="http://schemas.microsoft.com/office/drawing/2014/main" id="{877CB4D2-261D-D6EB-B7A8-E7A72569FB3A}"/>
              </a:ext>
            </a:extLst>
          </p:cNvPr>
          <p:cNvSpPr txBox="1"/>
          <p:nvPr/>
        </p:nvSpPr>
        <p:spPr>
          <a:xfrm>
            <a:off x="822097" y="1965383"/>
            <a:ext cx="5972168" cy="3465179"/>
          </a:xfrm>
          <a:prstGeom prst="rect">
            <a:avLst/>
          </a:prstGeom>
          <a:noFill/>
        </p:spPr>
        <p:txBody>
          <a:bodyPr wrap="square">
            <a:spAutoFit/>
          </a:bodyPr>
          <a:lstStyle/>
          <a:p>
            <a:pPr indent="457200" algn="just">
              <a:lnSpc>
                <a:spcPct val="200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场景图（</a:t>
            </a:r>
            <a:r>
              <a:rPr lang="en-US" altLang="zh-CN" sz="1600" i="0" dirty="0">
                <a:solidFill>
                  <a:srgbClr val="404040"/>
                </a:solidFill>
                <a:effectLst/>
                <a:latin typeface="Microsoft YaHei" panose="020B0503020204020204" pitchFamily="34" charset="-122"/>
                <a:ea typeface="Microsoft YaHei" panose="020B0503020204020204" pitchFamily="34" charset="-122"/>
              </a:rPr>
              <a:t>Scene Graph</a:t>
            </a:r>
            <a:r>
              <a:rPr lang="zh-CN" altLang="en-US" sz="1600" i="0" dirty="0">
                <a:solidFill>
                  <a:srgbClr val="404040"/>
                </a:solidFill>
                <a:effectLst/>
                <a:latin typeface="Microsoft YaHei" panose="020B0503020204020204" pitchFamily="34" charset="-122"/>
                <a:ea typeface="Microsoft YaHei" panose="020B0503020204020204" pitchFamily="34" charset="-122"/>
              </a:rPr>
              <a:t>）是一种结构化的视觉语义表示形式，将图像抽象成由节点和边组成的图结构，通常由对象（</a:t>
            </a:r>
            <a:r>
              <a:rPr lang="en-US" altLang="zh-CN" sz="1600" i="0" dirty="0">
                <a:solidFill>
                  <a:srgbClr val="404040"/>
                </a:solidFill>
                <a:effectLst/>
                <a:latin typeface="Microsoft YaHei" panose="020B0503020204020204" pitchFamily="34" charset="-122"/>
                <a:ea typeface="Microsoft YaHei" panose="020B0503020204020204" pitchFamily="34" charset="-122"/>
              </a:rPr>
              <a:t>Objects</a:t>
            </a:r>
            <a:r>
              <a:rPr lang="zh-CN" altLang="en-US" sz="1600" i="0" dirty="0">
                <a:solidFill>
                  <a:srgbClr val="404040"/>
                </a:solidFill>
                <a:effectLst/>
                <a:latin typeface="Microsoft YaHei" panose="020B0503020204020204" pitchFamily="34" charset="-122"/>
                <a:ea typeface="Microsoft YaHei" panose="020B0503020204020204" pitchFamily="34" charset="-122"/>
              </a:rPr>
              <a:t>） 、属性（</a:t>
            </a:r>
            <a:r>
              <a:rPr lang="en-US" altLang="zh-CN" sz="1600" i="0" dirty="0">
                <a:solidFill>
                  <a:srgbClr val="404040"/>
                </a:solidFill>
                <a:effectLst/>
                <a:latin typeface="Microsoft YaHei" panose="020B0503020204020204" pitchFamily="34" charset="-122"/>
                <a:ea typeface="Microsoft YaHei" panose="020B0503020204020204" pitchFamily="34" charset="-122"/>
              </a:rPr>
              <a:t>Attributes</a:t>
            </a:r>
            <a:r>
              <a:rPr lang="zh-CN" altLang="en-US" sz="1600" i="0" dirty="0">
                <a:solidFill>
                  <a:srgbClr val="404040"/>
                </a:solidFill>
                <a:effectLst/>
                <a:latin typeface="Microsoft YaHei" panose="020B0503020204020204" pitchFamily="34" charset="-122"/>
                <a:ea typeface="Microsoft YaHei" panose="020B0503020204020204" pitchFamily="34" charset="-122"/>
              </a:rPr>
              <a:t>） 和关系（</a:t>
            </a:r>
            <a:r>
              <a:rPr lang="en-US" altLang="zh-CN" sz="1600" i="0" dirty="0">
                <a:solidFill>
                  <a:srgbClr val="404040"/>
                </a:solidFill>
                <a:effectLst/>
                <a:latin typeface="Microsoft YaHei" panose="020B0503020204020204" pitchFamily="34" charset="-122"/>
                <a:ea typeface="Microsoft YaHei" panose="020B0503020204020204" pitchFamily="34" charset="-122"/>
              </a:rPr>
              <a:t>Relations</a:t>
            </a:r>
            <a:r>
              <a:rPr lang="zh-CN" altLang="en-US" sz="1600" i="0" dirty="0">
                <a:solidFill>
                  <a:srgbClr val="404040"/>
                </a:solidFill>
                <a:effectLst/>
                <a:latin typeface="Microsoft YaHei" panose="020B0503020204020204" pitchFamily="34" charset="-122"/>
                <a:ea typeface="Microsoft YaHei" panose="020B0503020204020204" pitchFamily="34" charset="-122"/>
              </a:rPr>
              <a:t>） 三部分组成。具体来说，场景图中的节点代表图像中的实体对象（如“小女孩”、“汉堡包”），边表示对象之间的语义关系（如“在</a:t>
            </a:r>
            <a:r>
              <a:rPr lang="en-US" altLang="zh-CN" sz="1600" i="0" dirty="0">
                <a:solidFill>
                  <a:srgbClr val="404040"/>
                </a:solidFill>
                <a:effectLst/>
                <a:latin typeface="Microsoft YaHei" panose="020B0503020204020204" pitchFamily="34" charset="-122"/>
                <a:ea typeface="Microsoft YaHei" panose="020B0503020204020204" pitchFamily="34" charset="-122"/>
              </a:rPr>
              <a:t>…</a:t>
            </a:r>
            <a:r>
              <a:rPr lang="zh-CN" altLang="en-US" sz="1600" i="0" dirty="0">
                <a:solidFill>
                  <a:srgbClr val="404040"/>
                </a:solidFill>
                <a:effectLst/>
                <a:latin typeface="Microsoft YaHei" panose="020B0503020204020204" pitchFamily="34" charset="-122"/>
                <a:ea typeface="Microsoft YaHei" panose="020B0503020204020204" pitchFamily="34" charset="-122"/>
              </a:rPr>
              <a:t>左</a:t>
            </a:r>
            <a:r>
              <a:rPr lang="zh-CN" altLang="en-US" sz="1600" dirty="0">
                <a:solidFill>
                  <a:srgbClr val="404040"/>
                </a:solidFill>
                <a:latin typeface="Microsoft YaHei" panose="020B0503020204020204" pitchFamily="34" charset="-122"/>
                <a:ea typeface="Microsoft YaHei" panose="020B0503020204020204" pitchFamily="34" charset="-122"/>
              </a:rPr>
              <a:t>边</a:t>
            </a:r>
            <a:r>
              <a:rPr lang="zh-CN" altLang="en-US" sz="1600" i="0" dirty="0">
                <a:solidFill>
                  <a:srgbClr val="404040"/>
                </a:solidFill>
                <a:effectLst/>
                <a:latin typeface="Microsoft YaHei" panose="020B0503020204020204" pitchFamily="34" charset="-122"/>
                <a:ea typeface="Microsoft YaHei" panose="020B0503020204020204" pitchFamily="34" charset="-122"/>
              </a:rPr>
              <a:t>”、“拿着”），节点属性则描述对象的外观</a:t>
            </a:r>
            <a:r>
              <a:rPr lang="zh-CN" altLang="en-US" sz="1600" dirty="0">
                <a:solidFill>
                  <a:srgbClr val="404040"/>
                </a:solidFill>
                <a:latin typeface="Microsoft YaHei" panose="020B0503020204020204" pitchFamily="34" charset="-122"/>
                <a:ea typeface="Microsoft YaHei" panose="020B0503020204020204" pitchFamily="34" charset="-122"/>
              </a:rPr>
              <a:t>、材质或状态</a:t>
            </a:r>
            <a:r>
              <a:rPr lang="zh-CN" altLang="en-US" sz="1600" i="0" dirty="0">
                <a:solidFill>
                  <a:srgbClr val="404040"/>
                </a:solidFill>
                <a:effectLst/>
                <a:latin typeface="Microsoft YaHei" panose="020B0503020204020204" pitchFamily="34" charset="-122"/>
                <a:ea typeface="Microsoft YaHei" panose="020B0503020204020204" pitchFamily="34" charset="-122"/>
              </a:rPr>
              <a:t>（如“红色的”、“塑料的”、“正在看”）。</a:t>
            </a:r>
          </a:p>
        </p:txBody>
      </p:sp>
      <p:sp>
        <p:nvSpPr>
          <p:cNvPr id="13" name="标题 2">
            <a:extLst>
              <a:ext uri="{FF2B5EF4-FFF2-40B4-BE49-F238E27FC236}">
                <a16:creationId xmlns:a16="http://schemas.microsoft.com/office/drawing/2014/main" id="{DD70BED1-D5BC-189C-6FD2-38CF2EDF5031}"/>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2.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记忆：什么是场景图</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6" name="文本框 15">
            <a:extLst>
              <a:ext uri="{FF2B5EF4-FFF2-40B4-BE49-F238E27FC236}">
                <a16:creationId xmlns:a16="http://schemas.microsoft.com/office/drawing/2014/main" id="{506566F7-B705-B406-416A-84F4B1A852E9}"/>
              </a:ext>
            </a:extLst>
          </p:cNvPr>
          <p:cNvSpPr txBox="1"/>
          <p:nvPr/>
        </p:nvSpPr>
        <p:spPr>
          <a:xfrm>
            <a:off x="851119" y="1596051"/>
            <a:ext cx="877163" cy="369332"/>
          </a:xfrm>
          <a:prstGeom prst="rect">
            <a:avLst/>
          </a:prstGeom>
          <a:noFill/>
        </p:spPr>
        <p:txBody>
          <a:bodyPr wrap="none" rtlCol="0">
            <a:spAutoFit/>
          </a:bodyPr>
          <a:lstStyle/>
          <a:p>
            <a:r>
              <a:rPr kumimoji="1" lang="zh-CN" altLang="en-US" b="1" dirty="0"/>
              <a:t>定义：</a:t>
            </a:r>
          </a:p>
        </p:txBody>
      </p:sp>
      <p:sp>
        <p:nvSpPr>
          <p:cNvPr id="3" name="日期占位符 2">
            <a:extLst>
              <a:ext uri="{FF2B5EF4-FFF2-40B4-BE49-F238E27FC236}">
                <a16:creationId xmlns:a16="http://schemas.microsoft.com/office/drawing/2014/main" id="{60706E54-E2E9-5D6B-7515-428C1D7280E4}"/>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075D8A06-C7C6-608D-CD88-72D9219CC0DB}"/>
              </a:ext>
            </a:extLst>
          </p:cNvPr>
          <p:cNvSpPr>
            <a:spLocks noGrp="1"/>
          </p:cNvSpPr>
          <p:nvPr>
            <p:ph type="sldNum" sz="quarter" idx="12"/>
          </p:nvPr>
        </p:nvSpPr>
        <p:spPr/>
        <p:txBody>
          <a:bodyPr/>
          <a:lstStyle/>
          <a:p>
            <a:fld id="{0C913308-F349-4B6D-A68A-DD1791B4A57B}" type="slidenum">
              <a:rPr lang="zh-CN" altLang="en-US" smtClean="0"/>
              <a:t>4</a:t>
            </a:fld>
            <a:endParaRPr lang="zh-CN" altLang="en-US"/>
          </a:p>
        </p:txBody>
      </p:sp>
      <p:cxnSp>
        <p:nvCxnSpPr>
          <p:cNvPr id="33" name="直接箭头连接符 32">
            <a:extLst>
              <a:ext uri="{FF2B5EF4-FFF2-40B4-BE49-F238E27FC236}">
                <a16:creationId xmlns:a16="http://schemas.microsoft.com/office/drawing/2014/main" id="{8180DE3F-CD9D-2805-5A6E-C9CDACE7C4F6}"/>
              </a:ext>
            </a:extLst>
          </p:cNvPr>
          <p:cNvCxnSpPr>
            <a:cxnSpLocks/>
          </p:cNvCxnSpPr>
          <p:nvPr/>
        </p:nvCxnSpPr>
        <p:spPr>
          <a:xfrm>
            <a:off x="9332461" y="3139923"/>
            <a:ext cx="0" cy="34467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pic>
        <p:nvPicPr>
          <p:cNvPr id="2" name="图片 1">
            <a:extLst>
              <a:ext uri="{FF2B5EF4-FFF2-40B4-BE49-F238E27FC236}">
                <a16:creationId xmlns:a16="http://schemas.microsoft.com/office/drawing/2014/main" id="{221C5D55-AB9F-132E-CD4C-3C6DA44BD045}"/>
              </a:ext>
            </a:extLst>
          </p:cNvPr>
          <p:cNvPicPr>
            <a:picLocks noChangeAspect="1"/>
          </p:cNvPicPr>
          <p:nvPr/>
        </p:nvPicPr>
        <p:blipFill>
          <a:blip r:embed="rId3"/>
          <a:stretch>
            <a:fillRect/>
          </a:stretch>
        </p:blipFill>
        <p:spPr>
          <a:xfrm>
            <a:off x="7437065" y="1053295"/>
            <a:ext cx="3766340" cy="2086628"/>
          </a:xfrm>
          <a:prstGeom prst="rect">
            <a:avLst/>
          </a:prstGeom>
        </p:spPr>
      </p:pic>
      <p:grpSp>
        <p:nvGrpSpPr>
          <p:cNvPr id="95" name="组合 94">
            <a:extLst>
              <a:ext uri="{FF2B5EF4-FFF2-40B4-BE49-F238E27FC236}">
                <a16:creationId xmlns:a16="http://schemas.microsoft.com/office/drawing/2014/main" id="{4466ADC9-2754-D998-203D-D9951BE94E31}"/>
              </a:ext>
            </a:extLst>
          </p:cNvPr>
          <p:cNvGrpSpPr/>
          <p:nvPr/>
        </p:nvGrpSpPr>
        <p:grpSpPr>
          <a:xfrm>
            <a:off x="7032104" y="3486727"/>
            <a:ext cx="4848960" cy="2842912"/>
            <a:chOff x="6327260" y="3789041"/>
            <a:chExt cx="4848960" cy="2842912"/>
          </a:xfrm>
        </p:grpSpPr>
        <p:grpSp>
          <p:nvGrpSpPr>
            <p:cNvPr id="52" name="组合 51">
              <a:extLst>
                <a:ext uri="{FF2B5EF4-FFF2-40B4-BE49-F238E27FC236}">
                  <a16:creationId xmlns:a16="http://schemas.microsoft.com/office/drawing/2014/main" id="{8D26E3D0-6999-244D-F46E-F49A1D760963}"/>
                </a:ext>
              </a:extLst>
            </p:cNvPr>
            <p:cNvGrpSpPr/>
            <p:nvPr/>
          </p:nvGrpSpPr>
          <p:grpSpPr>
            <a:xfrm>
              <a:off x="8306564" y="3857488"/>
              <a:ext cx="823264" cy="466324"/>
              <a:chOff x="8813430" y="3645737"/>
              <a:chExt cx="823264" cy="466324"/>
            </a:xfrm>
          </p:grpSpPr>
          <p:sp>
            <p:nvSpPr>
              <p:cNvPr id="49" name="椭圆 48">
                <a:extLst>
                  <a:ext uri="{FF2B5EF4-FFF2-40B4-BE49-F238E27FC236}">
                    <a16:creationId xmlns:a16="http://schemas.microsoft.com/office/drawing/2014/main" id="{C20D99BC-2135-23E4-428D-F871741700AC}"/>
                  </a:ext>
                </a:extLst>
              </p:cNvPr>
              <p:cNvSpPr/>
              <p:nvPr/>
            </p:nvSpPr>
            <p:spPr>
              <a:xfrm>
                <a:off x="8991900" y="3645737"/>
                <a:ext cx="466324" cy="466324"/>
              </a:xfrm>
              <a:prstGeom prst="ellipse">
                <a:avLst/>
              </a:prstGeom>
              <a:solidFill>
                <a:schemeClr val="accent5">
                  <a:lumMod val="60000"/>
                  <a:lumOff val="40000"/>
                </a:schemeClr>
              </a:solidFill>
              <a:ln>
                <a:solidFill>
                  <a:schemeClr val="accent5">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57630879-69B3-5ABA-30FA-34124F5F09AC}"/>
                  </a:ext>
                </a:extLst>
              </p:cNvPr>
              <p:cNvSpPr txBox="1"/>
              <p:nvPr/>
            </p:nvSpPr>
            <p:spPr>
              <a:xfrm>
                <a:off x="8813430" y="3668851"/>
                <a:ext cx="82326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indoor</a:t>
                </a:r>
              </a:p>
            </p:txBody>
          </p:sp>
        </p:grpSp>
        <p:sp>
          <p:nvSpPr>
            <p:cNvPr id="6" name="矩形 5">
              <a:extLst>
                <a:ext uri="{FF2B5EF4-FFF2-40B4-BE49-F238E27FC236}">
                  <a16:creationId xmlns:a16="http://schemas.microsoft.com/office/drawing/2014/main" id="{277F309B-2153-C865-D7A7-3AF0DEA887C5}"/>
                </a:ext>
              </a:extLst>
            </p:cNvPr>
            <p:cNvSpPr/>
            <p:nvPr/>
          </p:nvSpPr>
          <p:spPr>
            <a:xfrm>
              <a:off x="6327260" y="3789041"/>
              <a:ext cx="4665284" cy="2839401"/>
            </a:xfrm>
            <a:prstGeom prst="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90BA8D8-F1F2-4BBD-9DA6-A21B4BDA698C}"/>
                </a:ext>
              </a:extLst>
            </p:cNvPr>
            <p:cNvSpPr txBox="1"/>
            <p:nvPr/>
          </p:nvSpPr>
          <p:spPr>
            <a:xfrm>
              <a:off x="8732380" y="5166516"/>
              <a:ext cx="917938"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holding</a:t>
              </a:r>
              <a:endParaRPr lang="zh-CN" altLang="en-US"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00041AC6-64C5-BE96-02F8-83420C341F7D}"/>
                </a:ext>
              </a:extLst>
            </p:cNvPr>
            <p:cNvSpPr txBox="1"/>
            <p:nvPr/>
          </p:nvSpPr>
          <p:spPr>
            <a:xfrm>
              <a:off x="8455925" y="4610097"/>
              <a:ext cx="591870"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left</a:t>
              </a:r>
              <a:endParaRPr lang="zh-CN" altLang="en-US" dirty="0">
                <a:latin typeface="Times New Roman" panose="02020603050405020304" pitchFamily="18" charset="0"/>
                <a:cs typeface="Times New Roman" panose="02020603050405020304" pitchFamily="18" charset="0"/>
              </a:endParaRPr>
            </a:p>
          </p:txBody>
        </p:sp>
        <p:grpSp>
          <p:nvGrpSpPr>
            <p:cNvPr id="58" name="组合 57">
              <a:extLst>
                <a:ext uri="{FF2B5EF4-FFF2-40B4-BE49-F238E27FC236}">
                  <a16:creationId xmlns:a16="http://schemas.microsoft.com/office/drawing/2014/main" id="{28CE89E6-57BE-0E2A-E514-31460B87AB17}"/>
                </a:ext>
              </a:extLst>
            </p:cNvPr>
            <p:cNvGrpSpPr/>
            <p:nvPr/>
          </p:nvGrpSpPr>
          <p:grpSpPr>
            <a:xfrm>
              <a:off x="9586171" y="4692541"/>
              <a:ext cx="681526" cy="466324"/>
              <a:chOff x="9287702" y="4845276"/>
              <a:chExt cx="681526" cy="466324"/>
            </a:xfrm>
          </p:grpSpPr>
          <p:sp>
            <p:nvSpPr>
              <p:cNvPr id="12" name="椭圆 11">
                <a:extLst>
                  <a:ext uri="{FF2B5EF4-FFF2-40B4-BE49-F238E27FC236}">
                    <a16:creationId xmlns:a16="http://schemas.microsoft.com/office/drawing/2014/main" id="{DD2986AE-1FE8-B49D-9703-88F3D7EFDC9E}"/>
                  </a:ext>
                </a:extLst>
              </p:cNvPr>
              <p:cNvSpPr/>
              <p:nvPr/>
            </p:nvSpPr>
            <p:spPr>
              <a:xfrm>
                <a:off x="9305769" y="4845276"/>
                <a:ext cx="466324" cy="466324"/>
              </a:xfrm>
              <a:prstGeom prst="ellipse">
                <a:avLst/>
              </a:prstGeom>
              <a:solidFill>
                <a:srgbClr val="FFB974"/>
              </a:solidFill>
              <a:ln>
                <a:solidFill>
                  <a:srgbClr val="FFBA75"/>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A3FBCA59-67D1-CD45-2A40-D1331C46F43F}"/>
                  </a:ext>
                </a:extLst>
              </p:cNvPr>
              <p:cNvSpPr txBox="1"/>
              <p:nvPr/>
            </p:nvSpPr>
            <p:spPr>
              <a:xfrm>
                <a:off x="9287702" y="4865289"/>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girl</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57" name="组合 56">
              <a:extLst>
                <a:ext uri="{FF2B5EF4-FFF2-40B4-BE49-F238E27FC236}">
                  <a16:creationId xmlns:a16="http://schemas.microsoft.com/office/drawing/2014/main" id="{F92C3AEA-5759-8D2B-58B0-C019C08E42AA}"/>
                </a:ext>
              </a:extLst>
            </p:cNvPr>
            <p:cNvGrpSpPr/>
            <p:nvPr/>
          </p:nvGrpSpPr>
          <p:grpSpPr>
            <a:xfrm>
              <a:off x="8042020" y="5847132"/>
              <a:ext cx="701832" cy="466324"/>
              <a:chOff x="7055227" y="5972836"/>
              <a:chExt cx="701832" cy="466324"/>
            </a:xfrm>
          </p:grpSpPr>
          <p:sp>
            <p:nvSpPr>
              <p:cNvPr id="21" name="椭圆 20">
                <a:extLst>
                  <a:ext uri="{FF2B5EF4-FFF2-40B4-BE49-F238E27FC236}">
                    <a16:creationId xmlns:a16="http://schemas.microsoft.com/office/drawing/2014/main" id="{F2B644DD-7000-E432-7A95-C58A6448C89C}"/>
                  </a:ext>
                </a:extLst>
              </p:cNvPr>
              <p:cNvSpPr/>
              <p:nvPr/>
            </p:nvSpPr>
            <p:spPr>
              <a:xfrm>
                <a:off x="7135597" y="5972836"/>
                <a:ext cx="466324" cy="466324"/>
              </a:xfrm>
              <a:prstGeom prst="ellipse">
                <a:avLst/>
              </a:prstGeom>
              <a:solidFill>
                <a:srgbClr val="74D018"/>
              </a:solidFill>
              <a:ln>
                <a:solidFill>
                  <a:srgbClr val="74D018"/>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52170BE-4668-3EE7-9336-DA0C253D411B}"/>
                  </a:ext>
                </a:extLst>
              </p:cNvPr>
              <p:cNvSpPr txBox="1"/>
              <p:nvPr/>
            </p:nvSpPr>
            <p:spPr>
              <a:xfrm>
                <a:off x="7055227" y="6016701"/>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salad</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grpSp>
          <p:nvGrpSpPr>
            <p:cNvPr id="60" name="组合 59">
              <a:extLst>
                <a:ext uri="{FF2B5EF4-FFF2-40B4-BE49-F238E27FC236}">
                  <a16:creationId xmlns:a16="http://schemas.microsoft.com/office/drawing/2014/main" id="{C3C07D68-969A-D86C-6C25-2396A75C3EBE}"/>
                </a:ext>
              </a:extLst>
            </p:cNvPr>
            <p:cNvGrpSpPr/>
            <p:nvPr/>
          </p:nvGrpSpPr>
          <p:grpSpPr>
            <a:xfrm>
              <a:off x="9066960" y="5847132"/>
              <a:ext cx="809483" cy="466324"/>
              <a:chOff x="9195357" y="6013594"/>
              <a:chExt cx="809483" cy="466324"/>
            </a:xfrm>
          </p:grpSpPr>
          <p:sp>
            <p:nvSpPr>
              <p:cNvPr id="17" name="椭圆 16">
                <a:extLst>
                  <a:ext uri="{FF2B5EF4-FFF2-40B4-BE49-F238E27FC236}">
                    <a16:creationId xmlns:a16="http://schemas.microsoft.com/office/drawing/2014/main" id="{8F9AC39F-CC06-38B3-C023-17D5B887991F}"/>
                  </a:ext>
                </a:extLst>
              </p:cNvPr>
              <p:cNvSpPr/>
              <p:nvPr/>
            </p:nvSpPr>
            <p:spPr>
              <a:xfrm>
                <a:off x="9311202" y="6013594"/>
                <a:ext cx="466324" cy="466324"/>
              </a:xfrm>
              <a:prstGeom prst="ellipse">
                <a:avLst/>
              </a:prstGeom>
              <a:solidFill>
                <a:srgbClr val="CF7317"/>
              </a:solidFill>
              <a:ln>
                <a:solidFill>
                  <a:srgbClr val="D073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5ACD1B3C-65C6-7669-3FE9-9E94559B2A08}"/>
                  </a:ext>
                </a:extLst>
              </p:cNvPr>
              <p:cNvSpPr txBox="1"/>
              <p:nvPr/>
            </p:nvSpPr>
            <p:spPr>
              <a:xfrm>
                <a:off x="9195357" y="6055770"/>
                <a:ext cx="809483" cy="38197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burger</a:t>
                </a:r>
                <a:endParaRPr lang="zh-CN" altLang="en-US" dirty="0">
                  <a:latin typeface="Times New Roman" panose="02020603050405020304" pitchFamily="18" charset="0"/>
                  <a:cs typeface="Times New Roman" panose="02020603050405020304" pitchFamily="18" charset="0"/>
                </a:endParaRPr>
              </a:p>
            </p:txBody>
          </p:sp>
        </p:grpSp>
        <p:grpSp>
          <p:nvGrpSpPr>
            <p:cNvPr id="59" name="组合 58">
              <a:extLst>
                <a:ext uri="{FF2B5EF4-FFF2-40B4-BE49-F238E27FC236}">
                  <a16:creationId xmlns:a16="http://schemas.microsoft.com/office/drawing/2014/main" id="{64AE2865-90FA-E6C1-9280-B0BF998B0CAF}"/>
                </a:ext>
              </a:extLst>
            </p:cNvPr>
            <p:cNvGrpSpPr/>
            <p:nvPr/>
          </p:nvGrpSpPr>
          <p:grpSpPr>
            <a:xfrm>
              <a:off x="10008297" y="5837783"/>
              <a:ext cx="744661" cy="759992"/>
              <a:chOff x="10153144" y="5281590"/>
              <a:chExt cx="744661" cy="759992"/>
            </a:xfrm>
          </p:grpSpPr>
          <p:sp>
            <p:nvSpPr>
              <p:cNvPr id="36" name="椭圆 35">
                <a:extLst>
                  <a:ext uri="{FF2B5EF4-FFF2-40B4-BE49-F238E27FC236}">
                    <a16:creationId xmlns:a16="http://schemas.microsoft.com/office/drawing/2014/main" id="{D45D3600-EB12-C164-6C33-2C380E0FE657}"/>
                  </a:ext>
                </a:extLst>
              </p:cNvPr>
              <p:cNvSpPr/>
              <p:nvPr/>
            </p:nvSpPr>
            <p:spPr>
              <a:xfrm>
                <a:off x="10197364" y="5281590"/>
                <a:ext cx="466324" cy="466324"/>
              </a:xfrm>
              <a:prstGeom prst="ellipse">
                <a:avLst/>
              </a:prstGeom>
              <a:solidFill>
                <a:srgbClr val="C21818"/>
              </a:solidFill>
              <a:ln>
                <a:solidFill>
                  <a:srgbClr val="C218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6728A23-3E64-D14E-30F4-EC69AC536885}"/>
                  </a:ext>
                </a:extLst>
              </p:cNvPr>
              <p:cNvSpPr txBox="1"/>
              <p:nvPr/>
            </p:nvSpPr>
            <p:spPr>
              <a:xfrm>
                <a:off x="10153144" y="5310453"/>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coat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AEFA53E7-B754-8B8D-F333-674BEB71752C}"/>
                  </a:ext>
                </a:extLst>
              </p:cNvPr>
              <p:cNvSpPr txBox="1"/>
              <p:nvPr/>
            </p:nvSpPr>
            <p:spPr>
              <a:xfrm>
                <a:off x="10216279" y="5659609"/>
                <a:ext cx="681526" cy="381973"/>
              </a:xfrm>
              <a:prstGeom prst="rect">
                <a:avLst/>
              </a:prstGeom>
              <a:noFill/>
            </p:spPr>
            <p:txBody>
              <a:bodyPr wrap="square" rtlCol="0">
                <a:spAutoFit/>
              </a:bodyPr>
              <a:lstStyle/>
              <a:p>
                <a:r>
                  <a:rPr lang="en-US" altLang="zh-CN" dirty="0">
                    <a:solidFill>
                      <a:srgbClr val="CC0000"/>
                    </a:solidFill>
                    <a:latin typeface="Times New Roman" panose="02020603050405020304" pitchFamily="18" charset="0"/>
                    <a:cs typeface="Times New Roman" panose="02020603050405020304" pitchFamily="18" charset="0"/>
                  </a:rPr>
                  <a:t>red</a:t>
                </a:r>
                <a:endParaRPr lang="zh-CN" altLang="en-US" dirty="0">
                  <a:solidFill>
                    <a:srgbClr val="CC0000"/>
                  </a:solidFill>
                  <a:latin typeface="Times New Roman" panose="02020603050405020304" pitchFamily="18" charset="0"/>
                  <a:cs typeface="Times New Roman" panose="02020603050405020304" pitchFamily="18" charset="0"/>
                </a:endParaRPr>
              </a:p>
            </p:txBody>
          </p:sp>
        </p:grpSp>
        <p:grpSp>
          <p:nvGrpSpPr>
            <p:cNvPr id="54" name="组合 53">
              <a:extLst>
                <a:ext uri="{FF2B5EF4-FFF2-40B4-BE49-F238E27FC236}">
                  <a16:creationId xmlns:a16="http://schemas.microsoft.com/office/drawing/2014/main" id="{63B1F455-0F9F-79B5-3594-FCF53DF651BA}"/>
                </a:ext>
              </a:extLst>
            </p:cNvPr>
            <p:cNvGrpSpPr/>
            <p:nvPr/>
          </p:nvGrpSpPr>
          <p:grpSpPr>
            <a:xfrm>
              <a:off x="6327260" y="4649876"/>
              <a:ext cx="1662341" cy="508083"/>
              <a:chOff x="7046364" y="5931077"/>
              <a:chExt cx="1662341" cy="508083"/>
            </a:xfrm>
          </p:grpSpPr>
          <p:sp>
            <p:nvSpPr>
              <p:cNvPr id="22" name="椭圆 21">
                <a:extLst>
                  <a:ext uri="{FF2B5EF4-FFF2-40B4-BE49-F238E27FC236}">
                    <a16:creationId xmlns:a16="http://schemas.microsoft.com/office/drawing/2014/main" id="{7E197465-59C7-891F-E148-8B35C1970A65}"/>
                  </a:ext>
                </a:extLst>
              </p:cNvPr>
              <p:cNvSpPr/>
              <p:nvPr/>
            </p:nvSpPr>
            <p:spPr>
              <a:xfrm>
                <a:off x="8155817" y="5972836"/>
                <a:ext cx="466324" cy="466324"/>
              </a:xfrm>
              <a:prstGeom prst="ellipse">
                <a:avLst/>
              </a:prstGeom>
              <a:solidFill>
                <a:srgbClr val="D61919"/>
              </a:solidFill>
              <a:ln>
                <a:solidFill>
                  <a:srgbClr val="D61919"/>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BC822A9-432D-9E86-1CD4-2D48C4F04DF5}"/>
                  </a:ext>
                </a:extLst>
              </p:cNvPr>
              <p:cNvSpPr txBox="1"/>
              <p:nvPr/>
            </p:nvSpPr>
            <p:spPr>
              <a:xfrm>
                <a:off x="8082510" y="5931077"/>
                <a:ext cx="626195" cy="381973"/>
              </a:xfrm>
              <a:prstGeom prst="rect">
                <a:avLst/>
              </a:prstGeom>
              <a:noFill/>
            </p:spPr>
            <p:txBody>
              <a:bodyPr wrap="square" rtlCol="0">
                <a:spAutoFit/>
              </a:bodyPr>
              <a:lstStyle/>
              <a:p>
                <a:pPr algn="ctr"/>
                <a:r>
                  <a:rPr lang="en-US" altLang="zh-CN" dirty="0">
                    <a:solidFill>
                      <a:schemeClr val="bg1"/>
                    </a:solidFill>
                    <a:latin typeface="Times New Roman" panose="02020603050405020304" pitchFamily="18" charset="0"/>
                    <a:cs typeface="Times New Roman" panose="02020603050405020304" pitchFamily="18" charset="0"/>
                  </a:rPr>
                  <a:t>tray</a:t>
                </a:r>
              </a:p>
            </p:txBody>
          </p:sp>
          <p:sp>
            <p:nvSpPr>
              <p:cNvPr id="40" name="文本框 39">
                <a:extLst>
                  <a:ext uri="{FF2B5EF4-FFF2-40B4-BE49-F238E27FC236}">
                    <a16:creationId xmlns:a16="http://schemas.microsoft.com/office/drawing/2014/main" id="{E7E4CBCA-8D9B-5C05-72D4-3AED54F4CBC1}"/>
                  </a:ext>
                </a:extLst>
              </p:cNvPr>
              <p:cNvSpPr txBox="1"/>
              <p:nvPr/>
            </p:nvSpPr>
            <p:spPr>
              <a:xfrm>
                <a:off x="7046364" y="5978925"/>
                <a:ext cx="1219229" cy="381973"/>
              </a:xfrm>
              <a:prstGeom prst="rect">
                <a:avLst/>
              </a:prstGeom>
              <a:noFill/>
            </p:spPr>
            <p:txBody>
              <a:bodyPr wrap="square" rtlCol="0">
                <a:spAutoFit/>
              </a:bodyPr>
              <a:lstStyle/>
              <a:p>
                <a:r>
                  <a:rPr lang="en-US" altLang="zh-CN" dirty="0">
                    <a:solidFill>
                      <a:srgbClr val="CC0000"/>
                    </a:solidFill>
                    <a:latin typeface="Times New Roman" panose="02020603050405020304" pitchFamily="18" charset="0"/>
                    <a:cs typeface="Times New Roman" panose="02020603050405020304" pitchFamily="18" charset="0"/>
                  </a:rPr>
                  <a:t>red, plastic</a:t>
                </a:r>
                <a:endParaRPr lang="zh-CN" altLang="en-US" dirty="0">
                  <a:solidFill>
                    <a:srgbClr val="CC0000"/>
                  </a:solidFill>
                  <a:latin typeface="Times New Roman" panose="02020603050405020304" pitchFamily="18" charset="0"/>
                  <a:cs typeface="Times New Roman" panose="02020603050405020304" pitchFamily="18" charset="0"/>
                </a:endParaRPr>
              </a:p>
            </p:txBody>
          </p:sp>
        </p:grpSp>
        <p:grpSp>
          <p:nvGrpSpPr>
            <p:cNvPr id="53" name="组合 52">
              <a:extLst>
                <a:ext uri="{FF2B5EF4-FFF2-40B4-BE49-F238E27FC236}">
                  <a16:creationId xmlns:a16="http://schemas.microsoft.com/office/drawing/2014/main" id="{908C1F29-3952-940C-90C2-14FDAAF49139}"/>
                </a:ext>
              </a:extLst>
            </p:cNvPr>
            <p:cNvGrpSpPr/>
            <p:nvPr/>
          </p:nvGrpSpPr>
          <p:grpSpPr>
            <a:xfrm>
              <a:off x="6615244" y="5747779"/>
              <a:ext cx="761795" cy="884174"/>
              <a:chOff x="7526855" y="4740776"/>
              <a:chExt cx="761795" cy="884174"/>
            </a:xfrm>
          </p:grpSpPr>
          <p:sp>
            <p:nvSpPr>
              <p:cNvPr id="14" name="椭圆 13">
                <a:extLst>
                  <a:ext uri="{FF2B5EF4-FFF2-40B4-BE49-F238E27FC236}">
                    <a16:creationId xmlns:a16="http://schemas.microsoft.com/office/drawing/2014/main" id="{1DD7AE52-D63C-982F-85E4-A1D79BBD53F6}"/>
                  </a:ext>
                </a:extLst>
              </p:cNvPr>
              <p:cNvSpPr/>
              <p:nvPr/>
            </p:nvSpPr>
            <p:spPr>
              <a:xfrm>
                <a:off x="7646272" y="4845276"/>
                <a:ext cx="466324" cy="466324"/>
              </a:xfrm>
              <a:prstGeom prst="ellipse">
                <a:avLst/>
              </a:prstGeom>
              <a:solidFill>
                <a:srgbClr val="E6BCD3"/>
              </a:solidFill>
              <a:ln>
                <a:solidFill>
                  <a:srgbClr val="E6BCD3"/>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0ED230D0-7618-63DA-18E3-9E429A1298B8}"/>
                  </a:ext>
                </a:extLst>
              </p:cNvPr>
              <p:cNvSpPr txBox="1"/>
              <p:nvPr/>
            </p:nvSpPr>
            <p:spPr>
              <a:xfrm>
                <a:off x="7526855" y="4740776"/>
                <a:ext cx="708401" cy="646331"/>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milk</a:t>
                </a:r>
              </a:p>
              <a:p>
                <a:pPr algn="ctr"/>
                <a:r>
                  <a:rPr lang="en-US" altLang="zh-CN" dirty="0">
                    <a:latin typeface="Times New Roman" panose="02020603050405020304" pitchFamily="18" charset="0"/>
                    <a:cs typeface="Times New Roman" panose="02020603050405020304" pitchFamily="18" charset="0"/>
                  </a:rPr>
                  <a:t>shake</a:t>
                </a:r>
              </a:p>
            </p:txBody>
          </p:sp>
          <p:sp>
            <p:nvSpPr>
              <p:cNvPr id="41" name="文本框 40">
                <a:extLst>
                  <a:ext uri="{FF2B5EF4-FFF2-40B4-BE49-F238E27FC236}">
                    <a16:creationId xmlns:a16="http://schemas.microsoft.com/office/drawing/2014/main" id="{355374BC-073C-FD10-0347-F11039D90AE6}"/>
                  </a:ext>
                </a:extLst>
              </p:cNvPr>
              <p:cNvSpPr txBox="1"/>
              <p:nvPr/>
            </p:nvSpPr>
            <p:spPr>
              <a:xfrm>
                <a:off x="7607124" y="5255617"/>
                <a:ext cx="681526" cy="369333"/>
              </a:xfrm>
              <a:prstGeom prst="rect">
                <a:avLst/>
              </a:prstGeom>
              <a:noFill/>
            </p:spPr>
            <p:txBody>
              <a:bodyPr wrap="square" rtlCol="0">
                <a:spAutoFit/>
              </a:bodyPr>
              <a:lstStyle/>
              <a:p>
                <a:r>
                  <a:rPr lang="en-US" altLang="zh-CN" dirty="0">
                    <a:solidFill>
                      <a:srgbClr val="FF00FF"/>
                    </a:solidFill>
                    <a:latin typeface="Times New Roman" panose="02020603050405020304" pitchFamily="18" charset="0"/>
                    <a:cs typeface="Times New Roman" panose="02020603050405020304" pitchFamily="18" charset="0"/>
                  </a:rPr>
                  <a:t>pink</a:t>
                </a:r>
                <a:endParaRPr lang="zh-CN" altLang="en-US" sz="1050" dirty="0">
                  <a:solidFill>
                    <a:srgbClr val="FF00FF"/>
                  </a:solidFill>
                  <a:latin typeface="Times New Roman" panose="02020603050405020304" pitchFamily="18" charset="0"/>
                  <a:cs typeface="Times New Roman" panose="02020603050405020304" pitchFamily="18" charset="0"/>
                </a:endParaRPr>
              </a:p>
            </p:txBody>
          </p:sp>
        </p:grpSp>
        <p:sp>
          <p:nvSpPr>
            <p:cNvPr id="42" name="文本框 41">
              <a:extLst>
                <a:ext uri="{FF2B5EF4-FFF2-40B4-BE49-F238E27FC236}">
                  <a16:creationId xmlns:a16="http://schemas.microsoft.com/office/drawing/2014/main" id="{CD8CAC49-BBA6-866D-8ACF-61AAACEE92DD}"/>
                </a:ext>
              </a:extLst>
            </p:cNvPr>
            <p:cNvSpPr txBox="1"/>
            <p:nvPr/>
          </p:nvSpPr>
          <p:spPr>
            <a:xfrm>
              <a:off x="10065172" y="5190650"/>
              <a:ext cx="1111048" cy="36933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wearing</a:t>
              </a:r>
              <a:endParaRPr lang="zh-CN" altLang="en-US" dirty="0">
                <a:latin typeface="Times New Roman" panose="02020603050405020304" pitchFamily="18" charset="0"/>
                <a:cs typeface="Times New Roman" panose="02020603050405020304" pitchFamily="18" charset="0"/>
              </a:endParaRPr>
            </a:p>
          </p:txBody>
        </p:sp>
        <p:cxnSp>
          <p:nvCxnSpPr>
            <p:cNvPr id="24" name="直接箭头连接符 23">
              <a:extLst>
                <a:ext uri="{FF2B5EF4-FFF2-40B4-BE49-F238E27FC236}">
                  <a16:creationId xmlns:a16="http://schemas.microsoft.com/office/drawing/2014/main" id="{0428A8F3-5A71-16D4-D945-7A99C8E68556}"/>
                </a:ext>
              </a:extLst>
            </p:cNvPr>
            <p:cNvCxnSpPr>
              <a:cxnSpLocks/>
              <a:stCxn id="22" idx="5"/>
              <a:endCxn id="21" idx="0"/>
            </p:cNvCxnSpPr>
            <p:nvPr/>
          </p:nvCxnSpPr>
          <p:spPr>
            <a:xfrm>
              <a:off x="7834745" y="5089667"/>
              <a:ext cx="520807" cy="75746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9" name="直接箭头连接符 28">
              <a:extLst>
                <a:ext uri="{FF2B5EF4-FFF2-40B4-BE49-F238E27FC236}">
                  <a16:creationId xmlns:a16="http://schemas.microsoft.com/office/drawing/2014/main" id="{ED540301-E7D1-ED94-6574-764E8E09D936}"/>
                </a:ext>
              </a:extLst>
            </p:cNvPr>
            <p:cNvCxnSpPr>
              <a:cxnSpLocks/>
              <a:stCxn id="22" idx="6"/>
              <a:endCxn id="12" idx="2"/>
            </p:cNvCxnSpPr>
            <p:nvPr/>
          </p:nvCxnSpPr>
          <p:spPr>
            <a:xfrm>
              <a:off x="7903037" y="4924797"/>
              <a:ext cx="1701201" cy="90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18" name="直接箭头连接符 17">
              <a:extLst>
                <a:ext uri="{FF2B5EF4-FFF2-40B4-BE49-F238E27FC236}">
                  <a16:creationId xmlns:a16="http://schemas.microsoft.com/office/drawing/2014/main" id="{91B61033-0C9E-256D-5767-5049115C287D}"/>
                </a:ext>
              </a:extLst>
            </p:cNvPr>
            <p:cNvCxnSpPr>
              <a:cxnSpLocks/>
              <a:stCxn id="22" idx="3"/>
              <a:endCxn id="14" idx="0"/>
            </p:cNvCxnSpPr>
            <p:nvPr/>
          </p:nvCxnSpPr>
          <p:spPr>
            <a:xfrm flipH="1">
              <a:off x="6967823" y="5089667"/>
              <a:ext cx="537182" cy="76261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8" name="直接箭头连接符 37">
              <a:extLst>
                <a:ext uri="{FF2B5EF4-FFF2-40B4-BE49-F238E27FC236}">
                  <a16:creationId xmlns:a16="http://schemas.microsoft.com/office/drawing/2014/main" id="{B8B18332-F728-1C91-4368-0332FF2403D1}"/>
                </a:ext>
              </a:extLst>
            </p:cNvPr>
            <p:cNvCxnSpPr>
              <a:cxnSpLocks/>
              <a:stCxn id="12" idx="5"/>
              <a:endCxn id="36" idx="0"/>
            </p:cNvCxnSpPr>
            <p:nvPr/>
          </p:nvCxnSpPr>
          <p:spPr>
            <a:xfrm>
              <a:off x="10002270" y="5090573"/>
              <a:ext cx="283409" cy="74721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10" name="直接箭头连接符 9">
              <a:extLst>
                <a:ext uri="{FF2B5EF4-FFF2-40B4-BE49-F238E27FC236}">
                  <a16:creationId xmlns:a16="http://schemas.microsoft.com/office/drawing/2014/main" id="{4BE6FCD3-B847-7275-41CF-6A8231C76E78}"/>
                </a:ext>
              </a:extLst>
            </p:cNvPr>
            <p:cNvCxnSpPr>
              <a:cxnSpLocks/>
              <a:stCxn id="12" idx="3"/>
              <a:endCxn id="17" idx="0"/>
            </p:cNvCxnSpPr>
            <p:nvPr/>
          </p:nvCxnSpPr>
          <p:spPr>
            <a:xfrm flipH="1">
              <a:off x="9415967" y="5090573"/>
              <a:ext cx="256563" cy="75655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80" name="直接箭头连接符 79">
              <a:extLst>
                <a:ext uri="{FF2B5EF4-FFF2-40B4-BE49-F238E27FC236}">
                  <a16:creationId xmlns:a16="http://schemas.microsoft.com/office/drawing/2014/main" id="{80B3C5EB-FC06-23F2-5974-5948FC3A94AB}"/>
                </a:ext>
              </a:extLst>
            </p:cNvPr>
            <p:cNvCxnSpPr>
              <a:cxnSpLocks/>
              <a:stCxn id="49" idx="3"/>
              <a:endCxn id="22" idx="0"/>
            </p:cNvCxnSpPr>
            <p:nvPr/>
          </p:nvCxnSpPr>
          <p:spPr>
            <a:xfrm flipH="1">
              <a:off x="7669875" y="4255520"/>
              <a:ext cx="883451" cy="4361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83" name="直接箭头连接符 82">
              <a:extLst>
                <a:ext uri="{FF2B5EF4-FFF2-40B4-BE49-F238E27FC236}">
                  <a16:creationId xmlns:a16="http://schemas.microsoft.com/office/drawing/2014/main" id="{1E007C36-E139-80AB-AC0B-22B5EBC33FF5}"/>
                </a:ext>
              </a:extLst>
            </p:cNvPr>
            <p:cNvCxnSpPr>
              <a:cxnSpLocks/>
              <a:stCxn id="49" idx="5"/>
              <a:endCxn id="12" idx="0"/>
            </p:cNvCxnSpPr>
            <p:nvPr/>
          </p:nvCxnSpPr>
          <p:spPr>
            <a:xfrm>
              <a:off x="8883066" y="4255520"/>
              <a:ext cx="954334" cy="43702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nvGrpSpPr>
            <p:cNvPr id="87" name="组合 86">
              <a:extLst>
                <a:ext uri="{FF2B5EF4-FFF2-40B4-BE49-F238E27FC236}">
                  <a16:creationId xmlns:a16="http://schemas.microsoft.com/office/drawing/2014/main" id="{8F2653F5-1582-0607-2398-87B78BAFBA73}"/>
                </a:ext>
              </a:extLst>
            </p:cNvPr>
            <p:cNvGrpSpPr/>
            <p:nvPr/>
          </p:nvGrpSpPr>
          <p:grpSpPr>
            <a:xfrm>
              <a:off x="7349171" y="5851874"/>
              <a:ext cx="701832" cy="466324"/>
              <a:chOff x="7045268" y="5972836"/>
              <a:chExt cx="701832" cy="466324"/>
            </a:xfrm>
          </p:grpSpPr>
          <p:sp>
            <p:nvSpPr>
              <p:cNvPr id="88" name="椭圆 87">
                <a:extLst>
                  <a:ext uri="{FF2B5EF4-FFF2-40B4-BE49-F238E27FC236}">
                    <a16:creationId xmlns:a16="http://schemas.microsoft.com/office/drawing/2014/main" id="{2060D96C-3815-D74E-B5F5-6DBDF21927D6}"/>
                  </a:ext>
                </a:extLst>
              </p:cNvPr>
              <p:cNvSpPr/>
              <p:nvPr/>
            </p:nvSpPr>
            <p:spPr>
              <a:xfrm>
                <a:off x="7135597" y="5972836"/>
                <a:ext cx="466324" cy="466324"/>
              </a:xfrm>
              <a:prstGeom prst="ellipse">
                <a:avLst/>
              </a:prstGeom>
              <a:solidFill>
                <a:schemeClr val="accent4">
                  <a:lumMod val="60000"/>
                  <a:lumOff val="40000"/>
                </a:schemeClr>
              </a:solidFill>
              <a:ln>
                <a:solidFill>
                  <a:schemeClr val="accent4">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89" name="文本框 88">
                <a:extLst>
                  <a:ext uri="{FF2B5EF4-FFF2-40B4-BE49-F238E27FC236}">
                    <a16:creationId xmlns:a16="http://schemas.microsoft.com/office/drawing/2014/main" id="{C72CE00E-FEF7-3132-7874-BEC016C599E4}"/>
                  </a:ext>
                </a:extLst>
              </p:cNvPr>
              <p:cNvSpPr txBox="1"/>
              <p:nvPr/>
            </p:nvSpPr>
            <p:spPr>
              <a:xfrm>
                <a:off x="7045268" y="5996848"/>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chips</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cxnSp>
          <p:nvCxnSpPr>
            <p:cNvPr id="90" name="直接箭头连接符 89">
              <a:extLst>
                <a:ext uri="{FF2B5EF4-FFF2-40B4-BE49-F238E27FC236}">
                  <a16:creationId xmlns:a16="http://schemas.microsoft.com/office/drawing/2014/main" id="{E48739AD-6D1B-BB2E-D5EE-16722B1A0B6F}"/>
                </a:ext>
              </a:extLst>
            </p:cNvPr>
            <p:cNvCxnSpPr>
              <a:cxnSpLocks/>
              <a:stCxn id="22" idx="4"/>
              <a:endCxn id="88" idx="0"/>
            </p:cNvCxnSpPr>
            <p:nvPr/>
          </p:nvCxnSpPr>
          <p:spPr>
            <a:xfrm>
              <a:off x="7669875" y="5157959"/>
              <a:ext cx="2787" cy="6939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sp>
        <p:nvSpPr>
          <p:cNvPr id="96" name="文本框 95">
            <a:extLst>
              <a:ext uri="{FF2B5EF4-FFF2-40B4-BE49-F238E27FC236}">
                <a16:creationId xmlns:a16="http://schemas.microsoft.com/office/drawing/2014/main" id="{DE1C64BD-D1B0-D587-0E95-D41B91A8D6DD}"/>
              </a:ext>
            </a:extLst>
          </p:cNvPr>
          <p:cNvSpPr txBox="1"/>
          <p:nvPr/>
        </p:nvSpPr>
        <p:spPr>
          <a:xfrm>
            <a:off x="7951290" y="4943400"/>
            <a:ext cx="91793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support</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779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FB06-E4A6-27F1-BCC8-094C6520A691}"/>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D9571AA0-2B79-6D4B-0B2F-86840D9CE6BE}"/>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3.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理解：场景图表达的必要性</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3" name="日期占位符 2">
            <a:extLst>
              <a:ext uri="{FF2B5EF4-FFF2-40B4-BE49-F238E27FC236}">
                <a16:creationId xmlns:a16="http://schemas.microsoft.com/office/drawing/2014/main" id="{D81FD2AB-5CF9-3CBB-3D29-11F9126F2F41}"/>
              </a:ext>
            </a:extLst>
          </p:cNvPr>
          <p:cNvSpPr>
            <a:spLocks noGrp="1"/>
          </p:cNvSpPr>
          <p:nvPr>
            <p:ph type="dt" sz="half" idx="10"/>
          </p:nvPr>
        </p:nvSpPr>
        <p:spPr/>
        <p:txBody>
          <a:bodyPr/>
          <a:lstStyle/>
          <a:p>
            <a:fld id="{F6E9EDFA-D2BC-C047-8158-A2573099E1AD}" type="datetime1">
              <a:rPr lang="zh-CN" altLang="en-US" smtClean="0"/>
              <a:t>2025/8/11</a:t>
            </a:fld>
            <a:endParaRPr lang="zh-CN" altLang="en-US" dirty="0"/>
          </a:p>
        </p:txBody>
      </p:sp>
      <p:sp>
        <p:nvSpPr>
          <p:cNvPr id="4" name="灯片编号占位符 3">
            <a:extLst>
              <a:ext uri="{FF2B5EF4-FFF2-40B4-BE49-F238E27FC236}">
                <a16:creationId xmlns:a16="http://schemas.microsoft.com/office/drawing/2014/main" id="{D5F08D9A-D816-41B1-1C4B-DC4206CFDEF3}"/>
              </a:ext>
            </a:extLst>
          </p:cNvPr>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6" name="文本框 5">
            <a:extLst>
              <a:ext uri="{FF2B5EF4-FFF2-40B4-BE49-F238E27FC236}">
                <a16:creationId xmlns:a16="http://schemas.microsoft.com/office/drawing/2014/main" id="{897DC2DC-B60E-2C24-7E0D-386CE19905CF}"/>
              </a:ext>
            </a:extLst>
          </p:cNvPr>
          <p:cNvSpPr txBox="1"/>
          <p:nvPr/>
        </p:nvSpPr>
        <p:spPr>
          <a:xfrm>
            <a:off x="1487488" y="5806508"/>
            <a:ext cx="2033574" cy="292255"/>
          </a:xfrm>
          <a:prstGeom prst="rect">
            <a:avLst/>
          </a:prstGeom>
          <a:noFill/>
        </p:spPr>
        <p:txBody>
          <a:bodyPr wrap="square" rtlCol="0">
            <a:spAutoFit/>
          </a:bodyPr>
          <a:lstStyle/>
          <a:p>
            <a:r>
              <a:rPr lang="en-US" altLang="zh-CN" sz="1400" dirty="0">
                <a:solidFill>
                  <a:schemeClr val="accent3">
                    <a:lumMod val="50000"/>
                  </a:schemeClr>
                </a:solidFill>
                <a:latin typeface="Times New Roman" panose="02020603050405020304" pitchFamily="18" charset="0"/>
                <a:cs typeface="Times New Roman" panose="02020603050405020304" pitchFamily="18" charset="0"/>
              </a:rPr>
              <a:t>Original Image</a:t>
            </a:r>
            <a:endParaRPr lang="zh-CN" altLang="en-US" sz="1000"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56B57F00-E3B7-1F47-A8D3-B99957486018}"/>
              </a:ext>
            </a:extLst>
          </p:cNvPr>
          <p:cNvPicPr>
            <a:picLocks noChangeAspect="1"/>
          </p:cNvPicPr>
          <p:nvPr/>
        </p:nvPicPr>
        <p:blipFill>
          <a:blip r:embed="rId3"/>
          <a:stretch>
            <a:fillRect/>
          </a:stretch>
        </p:blipFill>
        <p:spPr>
          <a:xfrm>
            <a:off x="1597541" y="3564711"/>
            <a:ext cx="4051857" cy="2244810"/>
          </a:xfrm>
          <a:prstGeom prst="rect">
            <a:avLst/>
          </a:prstGeom>
        </p:spPr>
      </p:pic>
      <p:sp>
        <p:nvSpPr>
          <p:cNvPr id="45" name="文本框 44">
            <a:extLst>
              <a:ext uri="{FF2B5EF4-FFF2-40B4-BE49-F238E27FC236}">
                <a16:creationId xmlns:a16="http://schemas.microsoft.com/office/drawing/2014/main" id="{CA434E4C-137D-5D80-CC12-2D98D2874F2D}"/>
              </a:ext>
            </a:extLst>
          </p:cNvPr>
          <p:cNvSpPr txBox="1"/>
          <p:nvPr/>
        </p:nvSpPr>
        <p:spPr>
          <a:xfrm>
            <a:off x="5875875" y="6188020"/>
            <a:ext cx="2056937" cy="307777"/>
          </a:xfrm>
          <a:prstGeom prst="rect">
            <a:avLst/>
          </a:prstGeom>
          <a:noFill/>
        </p:spPr>
        <p:txBody>
          <a:bodyPr wrap="square" rtlCol="0">
            <a:spAutoFit/>
          </a:bodyPr>
          <a:lstStyle/>
          <a:p>
            <a:r>
              <a:rPr lang="en-US" altLang="zh-CN" sz="1400" dirty="0">
                <a:solidFill>
                  <a:schemeClr val="accent3">
                    <a:lumMod val="50000"/>
                  </a:schemeClr>
                </a:solidFill>
                <a:latin typeface="Times New Roman" panose="02020603050405020304" pitchFamily="18" charset="0"/>
                <a:cs typeface="Times New Roman" panose="02020603050405020304" pitchFamily="18" charset="0"/>
              </a:rPr>
              <a:t>Scene Graph</a:t>
            </a:r>
            <a:endParaRPr lang="zh-CN" altLang="en-US" sz="1000" dirty="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DBA7367A-4E70-0ED9-647A-EB62B5591794}"/>
              </a:ext>
            </a:extLst>
          </p:cNvPr>
          <p:cNvSpPr txBox="1"/>
          <p:nvPr/>
        </p:nvSpPr>
        <p:spPr>
          <a:xfrm>
            <a:off x="1293762" y="1384772"/>
            <a:ext cx="9575453" cy="1968616"/>
          </a:xfrm>
          <a:prstGeom prst="rect">
            <a:avLst/>
          </a:prstGeom>
          <a:noFill/>
        </p:spPr>
        <p:txBody>
          <a:bodyPr wrap="square">
            <a:spAutoFit/>
          </a:bodyPr>
          <a:lstStyle/>
          <a:p>
            <a:pPr indent="457200" algn="just">
              <a:lnSpc>
                <a:spcPts val="3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传统的目标检测、物体分类模型只识别物体“是什么”，而不能表达图像中物体之间的语义关系。</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indent="457200" algn="just">
              <a:lnSpc>
                <a:spcPts val="3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真正的图像理解需要捕捉“对象</a:t>
            </a:r>
            <a:r>
              <a:rPr lang="en-US" altLang="zh-CN" sz="1600" i="0" dirty="0">
                <a:solidFill>
                  <a:srgbClr val="404040"/>
                </a:solidFill>
                <a:effectLst/>
                <a:latin typeface="Microsoft YaHei" panose="020B0503020204020204" pitchFamily="34" charset="-122"/>
                <a:ea typeface="Microsoft YaHei" panose="020B0503020204020204" pitchFamily="34" charset="-122"/>
              </a:rPr>
              <a:t>+</a:t>
            </a:r>
            <a:r>
              <a:rPr lang="zh-CN" altLang="en-US" sz="1600" i="0" dirty="0">
                <a:solidFill>
                  <a:srgbClr val="404040"/>
                </a:solidFill>
                <a:effectLst/>
                <a:latin typeface="Microsoft YaHei" panose="020B0503020204020204" pitchFamily="34" charset="-122"/>
                <a:ea typeface="Microsoft YaHei" panose="020B0503020204020204" pitchFamily="34" charset="-122"/>
              </a:rPr>
              <a:t>关系”，例如图中“小女孩”是“拿着”“汉堡”，而不是在“吃”“汉堡”。</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indent="457200" algn="just">
              <a:lnSpc>
                <a:spcPts val="3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通过这种结构化的表达，场景图能够清晰地捕捉图像中的语义信息，提升图像理解的能力，为视觉推理、图像生成、视觉问答等下游任务提供可解释、可操作的知识基础。</a:t>
            </a:r>
          </a:p>
        </p:txBody>
      </p:sp>
      <p:sp>
        <p:nvSpPr>
          <p:cNvPr id="5" name="文本框 4">
            <a:extLst>
              <a:ext uri="{FF2B5EF4-FFF2-40B4-BE49-F238E27FC236}">
                <a16:creationId xmlns:a16="http://schemas.microsoft.com/office/drawing/2014/main" id="{664A66A3-F0F7-1EE0-2531-9683E4B1FB2C}"/>
              </a:ext>
            </a:extLst>
          </p:cNvPr>
          <p:cNvSpPr txBox="1"/>
          <p:nvPr/>
        </p:nvSpPr>
        <p:spPr>
          <a:xfrm>
            <a:off x="1322785" y="1015440"/>
            <a:ext cx="3416320" cy="369332"/>
          </a:xfrm>
          <a:prstGeom prst="rect">
            <a:avLst/>
          </a:prstGeom>
          <a:noFill/>
        </p:spPr>
        <p:txBody>
          <a:bodyPr wrap="none" rtlCol="0">
            <a:spAutoFit/>
          </a:bodyPr>
          <a:lstStyle/>
          <a:p>
            <a:r>
              <a:rPr kumimoji="1" lang="zh-CN" altLang="en-US" b="1" dirty="0"/>
              <a:t>为什么要用场景图来表达图像？</a:t>
            </a:r>
          </a:p>
        </p:txBody>
      </p:sp>
      <p:grpSp>
        <p:nvGrpSpPr>
          <p:cNvPr id="7" name="组合 6">
            <a:extLst>
              <a:ext uri="{FF2B5EF4-FFF2-40B4-BE49-F238E27FC236}">
                <a16:creationId xmlns:a16="http://schemas.microsoft.com/office/drawing/2014/main" id="{B29E6FC8-E906-71C1-7C07-660C7E8CDC15}"/>
              </a:ext>
            </a:extLst>
          </p:cNvPr>
          <p:cNvGrpSpPr/>
          <p:nvPr/>
        </p:nvGrpSpPr>
        <p:grpSpPr>
          <a:xfrm>
            <a:off x="5939819" y="3353388"/>
            <a:ext cx="4848960" cy="2842912"/>
            <a:chOff x="6327260" y="3789041"/>
            <a:chExt cx="4848960" cy="2842912"/>
          </a:xfrm>
        </p:grpSpPr>
        <p:grpSp>
          <p:nvGrpSpPr>
            <p:cNvPr id="8" name="组合 7">
              <a:extLst>
                <a:ext uri="{FF2B5EF4-FFF2-40B4-BE49-F238E27FC236}">
                  <a16:creationId xmlns:a16="http://schemas.microsoft.com/office/drawing/2014/main" id="{C3F98A24-E159-8985-F234-60DCD84E2920}"/>
                </a:ext>
              </a:extLst>
            </p:cNvPr>
            <p:cNvGrpSpPr/>
            <p:nvPr/>
          </p:nvGrpSpPr>
          <p:grpSpPr>
            <a:xfrm>
              <a:off x="8306564" y="3857488"/>
              <a:ext cx="823264" cy="466324"/>
              <a:chOff x="8813430" y="3645737"/>
              <a:chExt cx="823264" cy="466324"/>
            </a:xfrm>
          </p:grpSpPr>
          <p:sp>
            <p:nvSpPr>
              <p:cNvPr id="269" name="椭圆 268">
                <a:extLst>
                  <a:ext uri="{FF2B5EF4-FFF2-40B4-BE49-F238E27FC236}">
                    <a16:creationId xmlns:a16="http://schemas.microsoft.com/office/drawing/2014/main" id="{5A54413E-3834-5542-BB05-874EAAE0A41E}"/>
                  </a:ext>
                </a:extLst>
              </p:cNvPr>
              <p:cNvSpPr/>
              <p:nvPr/>
            </p:nvSpPr>
            <p:spPr>
              <a:xfrm>
                <a:off x="8991900" y="3645737"/>
                <a:ext cx="466324" cy="466324"/>
              </a:xfrm>
              <a:prstGeom prst="ellipse">
                <a:avLst/>
              </a:prstGeom>
              <a:solidFill>
                <a:schemeClr val="accent5">
                  <a:lumMod val="60000"/>
                  <a:lumOff val="40000"/>
                </a:schemeClr>
              </a:solidFill>
              <a:ln>
                <a:solidFill>
                  <a:schemeClr val="accent5">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270" name="文本框 269">
                <a:extLst>
                  <a:ext uri="{FF2B5EF4-FFF2-40B4-BE49-F238E27FC236}">
                    <a16:creationId xmlns:a16="http://schemas.microsoft.com/office/drawing/2014/main" id="{9DDEFB91-A783-96BF-A6CB-15EB4A08E26A}"/>
                  </a:ext>
                </a:extLst>
              </p:cNvPr>
              <p:cNvSpPr txBox="1"/>
              <p:nvPr/>
            </p:nvSpPr>
            <p:spPr>
              <a:xfrm>
                <a:off x="8813430" y="3668851"/>
                <a:ext cx="823264"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indoor</a:t>
                </a:r>
              </a:p>
            </p:txBody>
          </p:sp>
        </p:grpSp>
        <p:sp>
          <p:nvSpPr>
            <p:cNvPr id="9" name="矩形 8">
              <a:extLst>
                <a:ext uri="{FF2B5EF4-FFF2-40B4-BE49-F238E27FC236}">
                  <a16:creationId xmlns:a16="http://schemas.microsoft.com/office/drawing/2014/main" id="{FB78E8CB-F5BD-7549-D620-0FDC19D0A5B0}"/>
                </a:ext>
              </a:extLst>
            </p:cNvPr>
            <p:cNvSpPr/>
            <p:nvPr/>
          </p:nvSpPr>
          <p:spPr>
            <a:xfrm>
              <a:off x="6327260" y="3789041"/>
              <a:ext cx="4665284" cy="2839401"/>
            </a:xfrm>
            <a:prstGeom prst="rect">
              <a:avLst/>
            </a:prstGeom>
            <a:no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F963455A-5C31-9275-9DDE-135DA6B43658}"/>
                </a:ext>
              </a:extLst>
            </p:cNvPr>
            <p:cNvSpPr txBox="1"/>
            <p:nvPr/>
          </p:nvSpPr>
          <p:spPr>
            <a:xfrm>
              <a:off x="8732380" y="5166516"/>
              <a:ext cx="917938"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holding</a:t>
              </a:r>
              <a:endParaRPr lang="zh-CN" altLang="en-US"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5CB7485-C51D-7FAA-CA1C-A6A45AE8BCD7}"/>
                </a:ext>
              </a:extLst>
            </p:cNvPr>
            <p:cNvSpPr txBox="1"/>
            <p:nvPr/>
          </p:nvSpPr>
          <p:spPr>
            <a:xfrm>
              <a:off x="7230532" y="5213766"/>
              <a:ext cx="1088222"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support</a:t>
              </a:r>
              <a:endParaRPr lang="zh-CN" altLang="en-US" sz="20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F74EE6EA-5281-277F-5310-6CA7733BCB3E}"/>
                </a:ext>
              </a:extLst>
            </p:cNvPr>
            <p:cNvSpPr txBox="1"/>
            <p:nvPr/>
          </p:nvSpPr>
          <p:spPr>
            <a:xfrm>
              <a:off x="8455925" y="4610097"/>
              <a:ext cx="591870" cy="370398"/>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left</a:t>
              </a:r>
              <a:endParaRPr lang="zh-CN" altLang="en-US" dirty="0">
                <a:latin typeface="Times New Roman" panose="02020603050405020304" pitchFamily="18" charset="0"/>
                <a:cs typeface="Times New Roman" panose="02020603050405020304" pitchFamily="18" charset="0"/>
              </a:endParaRPr>
            </a:p>
          </p:txBody>
        </p:sp>
        <p:grpSp>
          <p:nvGrpSpPr>
            <p:cNvPr id="16" name="组合 15">
              <a:extLst>
                <a:ext uri="{FF2B5EF4-FFF2-40B4-BE49-F238E27FC236}">
                  <a16:creationId xmlns:a16="http://schemas.microsoft.com/office/drawing/2014/main" id="{226112B7-7B4F-7103-AA63-73CB8A0A70E9}"/>
                </a:ext>
              </a:extLst>
            </p:cNvPr>
            <p:cNvGrpSpPr/>
            <p:nvPr/>
          </p:nvGrpSpPr>
          <p:grpSpPr>
            <a:xfrm>
              <a:off x="9586171" y="4692541"/>
              <a:ext cx="681526" cy="466324"/>
              <a:chOff x="9287702" y="4845276"/>
              <a:chExt cx="681526" cy="466324"/>
            </a:xfrm>
          </p:grpSpPr>
          <p:sp>
            <p:nvSpPr>
              <p:cNvPr id="267" name="椭圆 266">
                <a:extLst>
                  <a:ext uri="{FF2B5EF4-FFF2-40B4-BE49-F238E27FC236}">
                    <a16:creationId xmlns:a16="http://schemas.microsoft.com/office/drawing/2014/main" id="{3352930A-092D-F679-9812-5C26B1E1EEC3}"/>
                  </a:ext>
                </a:extLst>
              </p:cNvPr>
              <p:cNvSpPr/>
              <p:nvPr/>
            </p:nvSpPr>
            <p:spPr>
              <a:xfrm>
                <a:off x="9305769" y="4845276"/>
                <a:ext cx="466324" cy="466324"/>
              </a:xfrm>
              <a:prstGeom prst="ellipse">
                <a:avLst/>
              </a:prstGeom>
              <a:solidFill>
                <a:srgbClr val="FFB974"/>
              </a:solidFill>
              <a:ln>
                <a:solidFill>
                  <a:srgbClr val="FFBA75"/>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268" name="文本框 267">
                <a:extLst>
                  <a:ext uri="{FF2B5EF4-FFF2-40B4-BE49-F238E27FC236}">
                    <a16:creationId xmlns:a16="http://schemas.microsoft.com/office/drawing/2014/main" id="{825F6CAB-BA13-391D-CACD-1643466844E3}"/>
                  </a:ext>
                </a:extLst>
              </p:cNvPr>
              <p:cNvSpPr txBox="1"/>
              <p:nvPr/>
            </p:nvSpPr>
            <p:spPr>
              <a:xfrm>
                <a:off x="9287702" y="4865289"/>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girl</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17" name="组合 16">
              <a:extLst>
                <a:ext uri="{FF2B5EF4-FFF2-40B4-BE49-F238E27FC236}">
                  <a16:creationId xmlns:a16="http://schemas.microsoft.com/office/drawing/2014/main" id="{3D58A7A7-D32A-C6D4-852F-D428D70C4EE4}"/>
                </a:ext>
              </a:extLst>
            </p:cNvPr>
            <p:cNvGrpSpPr/>
            <p:nvPr/>
          </p:nvGrpSpPr>
          <p:grpSpPr>
            <a:xfrm>
              <a:off x="8031505" y="5847132"/>
              <a:ext cx="701832" cy="466324"/>
              <a:chOff x="7044712" y="5972836"/>
              <a:chExt cx="701832" cy="466324"/>
            </a:xfrm>
          </p:grpSpPr>
          <p:sp>
            <p:nvSpPr>
              <p:cNvPr id="52" name="椭圆 51">
                <a:extLst>
                  <a:ext uri="{FF2B5EF4-FFF2-40B4-BE49-F238E27FC236}">
                    <a16:creationId xmlns:a16="http://schemas.microsoft.com/office/drawing/2014/main" id="{76BD20B9-A094-1A94-F308-DCF22A3D2F1F}"/>
                  </a:ext>
                </a:extLst>
              </p:cNvPr>
              <p:cNvSpPr/>
              <p:nvPr/>
            </p:nvSpPr>
            <p:spPr>
              <a:xfrm>
                <a:off x="7135597" y="5972836"/>
                <a:ext cx="466324" cy="466324"/>
              </a:xfrm>
              <a:prstGeom prst="ellipse">
                <a:avLst/>
              </a:prstGeom>
              <a:solidFill>
                <a:srgbClr val="74D018"/>
              </a:solidFill>
              <a:ln>
                <a:solidFill>
                  <a:srgbClr val="74D018"/>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DEC85E12-86BF-A73D-C005-448648807296}"/>
                  </a:ext>
                </a:extLst>
              </p:cNvPr>
              <p:cNvSpPr txBox="1"/>
              <p:nvPr/>
            </p:nvSpPr>
            <p:spPr>
              <a:xfrm>
                <a:off x="7044712" y="6007468"/>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salad</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grpSp>
          <p:nvGrpSpPr>
            <p:cNvPr id="18" name="组合 17">
              <a:extLst>
                <a:ext uri="{FF2B5EF4-FFF2-40B4-BE49-F238E27FC236}">
                  <a16:creationId xmlns:a16="http://schemas.microsoft.com/office/drawing/2014/main" id="{14653E99-C666-D2FF-FC4F-FA7B2B52E016}"/>
                </a:ext>
              </a:extLst>
            </p:cNvPr>
            <p:cNvGrpSpPr/>
            <p:nvPr/>
          </p:nvGrpSpPr>
          <p:grpSpPr>
            <a:xfrm>
              <a:off x="9066960" y="5847132"/>
              <a:ext cx="809483" cy="466324"/>
              <a:chOff x="9195357" y="6013594"/>
              <a:chExt cx="809483" cy="466324"/>
            </a:xfrm>
          </p:grpSpPr>
          <p:sp>
            <p:nvSpPr>
              <p:cNvPr id="43" name="椭圆 42">
                <a:extLst>
                  <a:ext uri="{FF2B5EF4-FFF2-40B4-BE49-F238E27FC236}">
                    <a16:creationId xmlns:a16="http://schemas.microsoft.com/office/drawing/2014/main" id="{5155AC36-F3F7-5AF6-D70B-99C4E7A87DA7}"/>
                  </a:ext>
                </a:extLst>
              </p:cNvPr>
              <p:cNvSpPr/>
              <p:nvPr/>
            </p:nvSpPr>
            <p:spPr>
              <a:xfrm>
                <a:off x="9311202" y="6013594"/>
                <a:ext cx="466324" cy="466324"/>
              </a:xfrm>
              <a:prstGeom prst="ellipse">
                <a:avLst/>
              </a:prstGeom>
              <a:solidFill>
                <a:srgbClr val="CF7317"/>
              </a:solidFill>
              <a:ln>
                <a:solidFill>
                  <a:srgbClr val="D073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49" name="文本框 48">
                <a:extLst>
                  <a:ext uri="{FF2B5EF4-FFF2-40B4-BE49-F238E27FC236}">
                    <a16:creationId xmlns:a16="http://schemas.microsoft.com/office/drawing/2014/main" id="{CBAFA6D4-8023-911E-1C88-14CE42CCDF21}"/>
                  </a:ext>
                </a:extLst>
              </p:cNvPr>
              <p:cNvSpPr txBox="1"/>
              <p:nvPr/>
            </p:nvSpPr>
            <p:spPr>
              <a:xfrm>
                <a:off x="9195357" y="6055770"/>
                <a:ext cx="809483" cy="38197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burger</a:t>
                </a:r>
                <a:endParaRPr lang="zh-CN" altLang="en-US" dirty="0">
                  <a:latin typeface="Times New Roman" panose="02020603050405020304" pitchFamily="18" charset="0"/>
                  <a:cs typeface="Times New Roman" panose="02020603050405020304" pitchFamily="18" charset="0"/>
                </a:endParaRPr>
              </a:p>
            </p:txBody>
          </p:sp>
        </p:grpSp>
        <p:grpSp>
          <p:nvGrpSpPr>
            <p:cNvPr id="19" name="组合 18">
              <a:extLst>
                <a:ext uri="{FF2B5EF4-FFF2-40B4-BE49-F238E27FC236}">
                  <a16:creationId xmlns:a16="http://schemas.microsoft.com/office/drawing/2014/main" id="{29FD8D96-11EC-0DA8-7250-789EF4E14096}"/>
                </a:ext>
              </a:extLst>
            </p:cNvPr>
            <p:cNvGrpSpPr/>
            <p:nvPr/>
          </p:nvGrpSpPr>
          <p:grpSpPr>
            <a:xfrm>
              <a:off x="10008297" y="5837783"/>
              <a:ext cx="744661" cy="759992"/>
              <a:chOff x="10153144" y="5281590"/>
              <a:chExt cx="744661" cy="759992"/>
            </a:xfrm>
          </p:grpSpPr>
          <p:sp>
            <p:nvSpPr>
              <p:cNvPr id="40" name="椭圆 39">
                <a:extLst>
                  <a:ext uri="{FF2B5EF4-FFF2-40B4-BE49-F238E27FC236}">
                    <a16:creationId xmlns:a16="http://schemas.microsoft.com/office/drawing/2014/main" id="{AF01D261-677B-8250-028F-3D1DAD801CB1}"/>
                  </a:ext>
                </a:extLst>
              </p:cNvPr>
              <p:cNvSpPr/>
              <p:nvPr/>
            </p:nvSpPr>
            <p:spPr>
              <a:xfrm>
                <a:off x="10197364" y="5281590"/>
                <a:ext cx="466324" cy="466324"/>
              </a:xfrm>
              <a:prstGeom prst="ellipse">
                <a:avLst/>
              </a:prstGeom>
              <a:solidFill>
                <a:srgbClr val="C21818"/>
              </a:solidFill>
              <a:ln>
                <a:solidFill>
                  <a:srgbClr val="C21817"/>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DBAA133D-7F34-2DB0-A79E-1410FBBDBEB0}"/>
                  </a:ext>
                </a:extLst>
              </p:cNvPr>
              <p:cNvSpPr txBox="1"/>
              <p:nvPr/>
            </p:nvSpPr>
            <p:spPr>
              <a:xfrm>
                <a:off x="10153144" y="5310453"/>
                <a:ext cx="681526" cy="38197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coat</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91E55095-989B-5551-B0D7-9034E5734EC7}"/>
                  </a:ext>
                </a:extLst>
              </p:cNvPr>
              <p:cNvSpPr txBox="1"/>
              <p:nvPr/>
            </p:nvSpPr>
            <p:spPr>
              <a:xfrm>
                <a:off x="10216279" y="5659609"/>
                <a:ext cx="681526" cy="381973"/>
              </a:xfrm>
              <a:prstGeom prst="rect">
                <a:avLst/>
              </a:prstGeom>
              <a:noFill/>
            </p:spPr>
            <p:txBody>
              <a:bodyPr wrap="square" rtlCol="0">
                <a:spAutoFit/>
              </a:bodyPr>
              <a:lstStyle/>
              <a:p>
                <a:r>
                  <a:rPr lang="en-US" altLang="zh-CN" dirty="0">
                    <a:solidFill>
                      <a:srgbClr val="CC0000"/>
                    </a:solidFill>
                    <a:latin typeface="Times New Roman" panose="02020603050405020304" pitchFamily="18" charset="0"/>
                    <a:cs typeface="Times New Roman" panose="02020603050405020304" pitchFamily="18" charset="0"/>
                  </a:rPr>
                  <a:t>red</a:t>
                </a:r>
                <a:endParaRPr lang="zh-CN" altLang="en-US" dirty="0">
                  <a:solidFill>
                    <a:srgbClr val="CC0000"/>
                  </a:solidFill>
                  <a:latin typeface="Times New Roman" panose="02020603050405020304" pitchFamily="18" charset="0"/>
                  <a:cs typeface="Times New Roman" panose="02020603050405020304" pitchFamily="18" charset="0"/>
                </a:endParaRPr>
              </a:p>
            </p:txBody>
          </p:sp>
        </p:grpSp>
        <p:grpSp>
          <p:nvGrpSpPr>
            <p:cNvPr id="20" name="组合 19">
              <a:extLst>
                <a:ext uri="{FF2B5EF4-FFF2-40B4-BE49-F238E27FC236}">
                  <a16:creationId xmlns:a16="http://schemas.microsoft.com/office/drawing/2014/main" id="{8467EF73-7198-EAEE-8526-F17B733CF719}"/>
                </a:ext>
              </a:extLst>
            </p:cNvPr>
            <p:cNvGrpSpPr/>
            <p:nvPr/>
          </p:nvGrpSpPr>
          <p:grpSpPr>
            <a:xfrm>
              <a:off x="6327260" y="4691635"/>
              <a:ext cx="1669093" cy="466324"/>
              <a:chOff x="7046364" y="5972836"/>
              <a:chExt cx="1669093" cy="466324"/>
            </a:xfrm>
          </p:grpSpPr>
          <p:sp>
            <p:nvSpPr>
              <p:cNvPr id="37" name="椭圆 36">
                <a:extLst>
                  <a:ext uri="{FF2B5EF4-FFF2-40B4-BE49-F238E27FC236}">
                    <a16:creationId xmlns:a16="http://schemas.microsoft.com/office/drawing/2014/main" id="{C2596748-2815-262F-C81C-E58622330729}"/>
                  </a:ext>
                </a:extLst>
              </p:cNvPr>
              <p:cNvSpPr/>
              <p:nvPr/>
            </p:nvSpPr>
            <p:spPr>
              <a:xfrm>
                <a:off x="8155817" y="5972836"/>
                <a:ext cx="466324" cy="466324"/>
              </a:xfrm>
              <a:prstGeom prst="ellipse">
                <a:avLst/>
              </a:prstGeom>
              <a:solidFill>
                <a:srgbClr val="D61919"/>
              </a:solidFill>
              <a:ln>
                <a:solidFill>
                  <a:srgbClr val="D61919"/>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0F3ADFE4-C858-48F1-8CDF-F554473E23E5}"/>
                  </a:ext>
                </a:extLst>
              </p:cNvPr>
              <p:cNvSpPr txBox="1"/>
              <p:nvPr/>
            </p:nvSpPr>
            <p:spPr>
              <a:xfrm>
                <a:off x="8089262" y="5992185"/>
                <a:ext cx="626195" cy="381973"/>
              </a:xfrm>
              <a:prstGeom prst="rect">
                <a:avLst/>
              </a:prstGeom>
              <a:noFill/>
            </p:spPr>
            <p:txBody>
              <a:bodyPr wrap="square" rtlCol="0">
                <a:spAutoFit/>
              </a:bodyPr>
              <a:lstStyle/>
              <a:p>
                <a:pPr algn="ctr"/>
                <a:r>
                  <a:rPr lang="en-US" altLang="zh-CN" dirty="0">
                    <a:solidFill>
                      <a:schemeClr val="bg1"/>
                    </a:solidFill>
                    <a:latin typeface="Times New Roman" panose="02020603050405020304" pitchFamily="18" charset="0"/>
                    <a:cs typeface="Times New Roman" panose="02020603050405020304" pitchFamily="18" charset="0"/>
                  </a:rPr>
                  <a:t>tray</a:t>
                </a:r>
              </a:p>
            </p:txBody>
          </p:sp>
          <p:sp>
            <p:nvSpPr>
              <p:cNvPr id="39" name="文本框 38">
                <a:extLst>
                  <a:ext uri="{FF2B5EF4-FFF2-40B4-BE49-F238E27FC236}">
                    <a16:creationId xmlns:a16="http://schemas.microsoft.com/office/drawing/2014/main" id="{46B23EA9-7354-6164-DF62-A3838D7A8DC2}"/>
                  </a:ext>
                </a:extLst>
              </p:cNvPr>
              <p:cNvSpPr txBox="1"/>
              <p:nvPr/>
            </p:nvSpPr>
            <p:spPr>
              <a:xfrm>
                <a:off x="7046364" y="5978925"/>
                <a:ext cx="1219229" cy="381973"/>
              </a:xfrm>
              <a:prstGeom prst="rect">
                <a:avLst/>
              </a:prstGeom>
              <a:noFill/>
            </p:spPr>
            <p:txBody>
              <a:bodyPr wrap="square" rtlCol="0">
                <a:spAutoFit/>
              </a:bodyPr>
              <a:lstStyle/>
              <a:p>
                <a:r>
                  <a:rPr lang="en-US" altLang="zh-CN" dirty="0">
                    <a:solidFill>
                      <a:srgbClr val="CC0000"/>
                    </a:solidFill>
                    <a:latin typeface="Times New Roman" panose="02020603050405020304" pitchFamily="18" charset="0"/>
                    <a:cs typeface="Times New Roman" panose="02020603050405020304" pitchFamily="18" charset="0"/>
                  </a:rPr>
                  <a:t>red, plastic</a:t>
                </a:r>
                <a:endParaRPr lang="zh-CN" altLang="en-US" dirty="0">
                  <a:solidFill>
                    <a:srgbClr val="CC0000"/>
                  </a:solidFill>
                  <a:latin typeface="Times New Roman" panose="02020603050405020304" pitchFamily="18" charset="0"/>
                  <a:cs typeface="Times New Roman" panose="02020603050405020304" pitchFamily="18" charset="0"/>
                </a:endParaRPr>
              </a:p>
            </p:txBody>
          </p:sp>
        </p:grpSp>
        <p:grpSp>
          <p:nvGrpSpPr>
            <p:cNvPr id="21" name="组合 20">
              <a:extLst>
                <a:ext uri="{FF2B5EF4-FFF2-40B4-BE49-F238E27FC236}">
                  <a16:creationId xmlns:a16="http://schemas.microsoft.com/office/drawing/2014/main" id="{D0C4D68D-D634-93CD-668E-CDDCD28945CB}"/>
                </a:ext>
              </a:extLst>
            </p:cNvPr>
            <p:cNvGrpSpPr/>
            <p:nvPr/>
          </p:nvGrpSpPr>
          <p:grpSpPr>
            <a:xfrm>
              <a:off x="6626107" y="5751305"/>
              <a:ext cx="750932" cy="880648"/>
              <a:chOff x="7537718" y="4744302"/>
              <a:chExt cx="750932" cy="880648"/>
            </a:xfrm>
          </p:grpSpPr>
          <p:sp>
            <p:nvSpPr>
              <p:cNvPr id="34" name="椭圆 33">
                <a:extLst>
                  <a:ext uri="{FF2B5EF4-FFF2-40B4-BE49-F238E27FC236}">
                    <a16:creationId xmlns:a16="http://schemas.microsoft.com/office/drawing/2014/main" id="{6B86EBFD-1F76-AC1A-7DCC-375BFD659B68}"/>
                  </a:ext>
                </a:extLst>
              </p:cNvPr>
              <p:cNvSpPr/>
              <p:nvPr/>
            </p:nvSpPr>
            <p:spPr>
              <a:xfrm>
                <a:off x="7646272" y="4845276"/>
                <a:ext cx="466324" cy="466324"/>
              </a:xfrm>
              <a:prstGeom prst="ellipse">
                <a:avLst/>
              </a:prstGeom>
              <a:solidFill>
                <a:srgbClr val="E6BCD3"/>
              </a:solidFill>
              <a:ln>
                <a:solidFill>
                  <a:srgbClr val="E6BCD3"/>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56BCEFAA-4EED-EB9F-2EBA-07553AD60526}"/>
                  </a:ext>
                </a:extLst>
              </p:cNvPr>
              <p:cNvSpPr txBox="1"/>
              <p:nvPr/>
            </p:nvSpPr>
            <p:spPr>
              <a:xfrm>
                <a:off x="7537718" y="4744302"/>
                <a:ext cx="708401" cy="646331"/>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milk</a:t>
                </a:r>
              </a:p>
              <a:p>
                <a:pPr algn="ctr"/>
                <a:r>
                  <a:rPr lang="en-US" altLang="zh-CN" dirty="0">
                    <a:latin typeface="Times New Roman" panose="02020603050405020304" pitchFamily="18" charset="0"/>
                    <a:cs typeface="Times New Roman" panose="02020603050405020304" pitchFamily="18" charset="0"/>
                  </a:rPr>
                  <a:t>shake</a:t>
                </a:r>
              </a:p>
            </p:txBody>
          </p:sp>
          <p:sp>
            <p:nvSpPr>
              <p:cNvPr id="36" name="文本框 35">
                <a:extLst>
                  <a:ext uri="{FF2B5EF4-FFF2-40B4-BE49-F238E27FC236}">
                    <a16:creationId xmlns:a16="http://schemas.microsoft.com/office/drawing/2014/main" id="{08457767-63AB-CB62-B4C4-E47411B279CA}"/>
                  </a:ext>
                </a:extLst>
              </p:cNvPr>
              <p:cNvSpPr txBox="1"/>
              <p:nvPr/>
            </p:nvSpPr>
            <p:spPr>
              <a:xfrm>
                <a:off x="7607124" y="5255617"/>
                <a:ext cx="681526" cy="369333"/>
              </a:xfrm>
              <a:prstGeom prst="rect">
                <a:avLst/>
              </a:prstGeom>
              <a:noFill/>
            </p:spPr>
            <p:txBody>
              <a:bodyPr wrap="square" rtlCol="0">
                <a:spAutoFit/>
              </a:bodyPr>
              <a:lstStyle/>
              <a:p>
                <a:r>
                  <a:rPr lang="en-US" altLang="zh-CN" dirty="0">
                    <a:solidFill>
                      <a:srgbClr val="FF00FF"/>
                    </a:solidFill>
                    <a:latin typeface="Times New Roman" panose="02020603050405020304" pitchFamily="18" charset="0"/>
                    <a:cs typeface="Times New Roman" panose="02020603050405020304" pitchFamily="18" charset="0"/>
                  </a:rPr>
                  <a:t>pink</a:t>
                </a:r>
                <a:endParaRPr lang="zh-CN" altLang="en-US" sz="1050" dirty="0">
                  <a:solidFill>
                    <a:srgbClr val="FF00FF"/>
                  </a:solidFill>
                  <a:latin typeface="Times New Roman" panose="02020603050405020304" pitchFamily="18" charset="0"/>
                  <a:cs typeface="Times New Roman" panose="02020603050405020304" pitchFamily="18" charset="0"/>
                </a:endParaRPr>
              </a:p>
            </p:txBody>
          </p:sp>
        </p:grpSp>
        <p:sp>
          <p:nvSpPr>
            <p:cNvPr id="22" name="文本框 21">
              <a:extLst>
                <a:ext uri="{FF2B5EF4-FFF2-40B4-BE49-F238E27FC236}">
                  <a16:creationId xmlns:a16="http://schemas.microsoft.com/office/drawing/2014/main" id="{3677265F-8BD9-627B-5484-3967F106119D}"/>
                </a:ext>
              </a:extLst>
            </p:cNvPr>
            <p:cNvSpPr txBox="1"/>
            <p:nvPr/>
          </p:nvSpPr>
          <p:spPr>
            <a:xfrm>
              <a:off x="10065172" y="5190650"/>
              <a:ext cx="1111048" cy="36933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wearing</a:t>
              </a:r>
              <a:endParaRPr lang="zh-CN" altLang="en-US" dirty="0">
                <a:latin typeface="Times New Roman" panose="02020603050405020304" pitchFamily="18" charset="0"/>
                <a:cs typeface="Times New Roman" panose="02020603050405020304" pitchFamily="18" charset="0"/>
              </a:endParaRPr>
            </a:p>
          </p:txBody>
        </p:sp>
        <p:cxnSp>
          <p:nvCxnSpPr>
            <p:cNvPr id="23" name="直接箭头连接符 22">
              <a:extLst>
                <a:ext uri="{FF2B5EF4-FFF2-40B4-BE49-F238E27FC236}">
                  <a16:creationId xmlns:a16="http://schemas.microsoft.com/office/drawing/2014/main" id="{38CD19F3-AE2D-5324-1194-C18B90A714C0}"/>
                </a:ext>
              </a:extLst>
            </p:cNvPr>
            <p:cNvCxnSpPr>
              <a:cxnSpLocks/>
              <a:stCxn id="37" idx="5"/>
              <a:endCxn id="52" idx="0"/>
            </p:cNvCxnSpPr>
            <p:nvPr/>
          </p:nvCxnSpPr>
          <p:spPr>
            <a:xfrm>
              <a:off x="7834745" y="5089667"/>
              <a:ext cx="520807" cy="75746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 name="直接箭头连接符 23">
              <a:extLst>
                <a:ext uri="{FF2B5EF4-FFF2-40B4-BE49-F238E27FC236}">
                  <a16:creationId xmlns:a16="http://schemas.microsoft.com/office/drawing/2014/main" id="{B7BB3194-A701-C3C2-36A8-A02FB5303F93}"/>
                </a:ext>
              </a:extLst>
            </p:cNvPr>
            <p:cNvCxnSpPr>
              <a:cxnSpLocks/>
              <a:stCxn id="37" idx="6"/>
              <a:endCxn id="267" idx="2"/>
            </p:cNvCxnSpPr>
            <p:nvPr/>
          </p:nvCxnSpPr>
          <p:spPr>
            <a:xfrm>
              <a:off x="7903037" y="4924797"/>
              <a:ext cx="1701201" cy="90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5" name="直接箭头连接符 24">
              <a:extLst>
                <a:ext uri="{FF2B5EF4-FFF2-40B4-BE49-F238E27FC236}">
                  <a16:creationId xmlns:a16="http://schemas.microsoft.com/office/drawing/2014/main" id="{3989EC74-7DC4-1E79-11E6-04AA62107BCA}"/>
                </a:ext>
              </a:extLst>
            </p:cNvPr>
            <p:cNvCxnSpPr>
              <a:cxnSpLocks/>
              <a:stCxn id="37" idx="3"/>
              <a:endCxn id="34" idx="0"/>
            </p:cNvCxnSpPr>
            <p:nvPr/>
          </p:nvCxnSpPr>
          <p:spPr>
            <a:xfrm flipH="1">
              <a:off x="6967823" y="5089667"/>
              <a:ext cx="537182" cy="76261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6" name="直接箭头连接符 25">
              <a:extLst>
                <a:ext uri="{FF2B5EF4-FFF2-40B4-BE49-F238E27FC236}">
                  <a16:creationId xmlns:a16="http://schemas.microsoft.com/office/drawing/2014/main" id="{697D4B95-49E3-FED5-744C-AC76E7C6C018}"/>
                </a:ext>
              </a:extLst>
            </p:cNvPr>
            <p:cNvCxnSpPr>
              <a:cxnSpLocks/>
              <a:stCxn id="267" idx="5"/>
              <a:endCxn id="40" idx="0"/>
            </p:cNvCxnSpPr>
            <p:nvPr/>
          </p:nvCxnSpPr>
          <p:spPr>
            <a:xfrm>
              <a:off x="10002270" y="5090573"/>
              <a:ext cx="283409" cy="74721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7" name="直接箭头连接符 26">
              <a:extLst>
                <a:ext uri="{FF2B5EF4-FFF2-40B4-BE49-F238E27FC236}">
                  <a16:creationId xmlns:a16="http://schemas.microsoft.com/office/drawing/2014/main" id="{8A99FBFB-EF65-0F7E-F495-5F3F65D85166}"/>
                </a:ext>
              </a:extLst>
            </p:cNvPr>
            <p:cNvCxnSpPr>
              <a:cxnSpLocks/>
              <a:stCxn id="267" idx="3"/>
              <a:endCxn id="43" idx="0"/>
            </p:cNvCxnSpPr>
            <p:nvPr/>
          </p:nvCxnSpPr>
          <p:spPr>
            <a:xfrm flipH="1">
              <a:off x="9415967" y="5090573"/>
              <a:ext cx="256563" cy="75655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8" name="直接箭头连接符 27">
              <a:extLst>
                <a:ext uri="{FF2B5EF4-FFF2-40B4-BE49-F238E27FC236}">
                  <a16:creationId xmlns:a16="http://schemas.microsoft.com/office/drawing/2014/main" id="{CAEA7D60-4387-2BAA-321C-395A7070618E}"/>
                </a:ext>
              </a:extLst>
            </p:cNvPr>
            <p:cNvCxnSpPr>
              <a:cxnSpLocks/>
              <a:stCxn id="269" idx="3"/>
              <a:endCxn id="37" idx="0"/>
            </p:cNvCxnSpPr>
            <p:nvPr/>
          </p:nvCxnSpPr>
          <p:spPr>
            <a:xfrm flipH="1">
              <a:off x="7669875" y="4255520"/>
              <a:ext cx="883451" cy="4361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9" name="直接箭头连接符 28">
              <a:extLst>
                <a:ext uri="{FF2B5EF4-FFF2-40B4-BE49-F238E27FC236}">
                  <a16:creationId xmlns:a16="http://schemas.microsoft.com/office/drawing/2014/main" id="{2A0D0634-E339-1033-C004-C8F8BF58BE09}"/>
                </a:ext>
              </a:extLst>
            </p:cNvPr>
            <p:cNvCxnSpPr>
              <a:cxnSpLocks/>
              <a:stCxn id="269" idx="5"/>
              <a:endCxn id="267" idx="0"/>
            </p:cNvCxnSpPr>
            <p:nvPr/>
          </p:nvCxnSpPr>
          <p:spPr>
            <a:xfrm>
              <a:off x="8883066" y="4255520"/>
              <a:ext cx="954334" cy="43702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nvGrpSpPr>
            <p:cNvPr id="30" name="组合 29">
              <a:extLst>
                <a:ext uri="{FF2B5EF4-FFF2-40B4-BE49-F238E27FC236}">
                  <a16:creationId xmlns:a16="http://schemas.microsoft.com/office/drawing/2014/main" id="{6FB0D4DD-6417-C9F7-D322-CE0287285CAC}"/>
                </a:ext>
              </a:extLst>
            </p:cNvPr>
            <p:cNvGrpSpPr/>
            <p:nvPr/>
          </p:nvGrpSpPr>
          <p:grpSpPr>
            <a:xfrm>
              <a:off x="7336136" y="5851874"/>
              <a:ext cx="701832" cy="466324"/>
              <a:chOff x="7032233" y="5972836"/>
              <a:chExt cx="701832" cy="466324"/>
            </a:xfrm>
          </p:grpSpPr>
          <p:sp>
            <p:nvSpPr>
              <p:cNvPr id="32" name="椭圆 31">
                <a:extLst>
                  <a:ext uri="{FF2B5EF4-FFF2-40B4-BE49-F238E27FC236}">
                    <a16:creationId xmlns:a16="http://schemas.microsoft.com/office/drawing/2014/main" id="{DCC2347D-337F-C7E2-55F7-05CFC85ACC1E}"/>
                  </a:ext>
                </a:extLst>
              </p:cNvPr>
              <p:cNvSpPr/>
              <p:nvPr/>
            </p:nvSpPr>
            <p:spPr>
              <a:xfrm>
                <a:off x="7135597" y="5972836"/>
                <a:ext cx="466324" cy="466324"/>
              </a:xfrm>
              <a:prstGeom prst="ellipse">
                <a:avLst/>
              </a:prstGeom>
              <a:solidFill>
                <a:schemeClr val="accent4">
                  <a:lumMod val="60000"/>
                  <a:lumOff val="40000"/>
                </a:schemeClr>
              </a:solidFill>
              <a:ln>
                <a:solidFill>
                  <a:schemeClr val="accent4">
                    <a:lumMod val="60000"/>
                    <a:lumOff val="4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0CFA6226-7F43-9645-0A49-295D992F9DF9}"/>
                  </a:ext>
                </a:extLst>
              </p:cNvPr>
              <p:cNvSpPr txBox="1"/>
              <p:nvPr/>
            </p:nvSpPr>
            <p:spPr>
              <a:xfrm>
                <a:off x="7032233" y="5991203"/>
                <a:ext cx="701832" cy="369333"/>
              </a:xfrm>
              <a:prstGeom prst="rect">
                <a:avLst/>
              </a:prstGeom>
              <a:noFill/>
            </p:spPr>
            <p:txBody>
              <a:bodyPr wrap="square" rtlCol="0">
                <a:spAutoFit/>
              </a:bodyPr>
              <a:lstStyle/>
              <a:p>
                <a:r>
                  <a:rPr lang="en-US" altLang="zh-CN" dirty="0">
                    <a:solidFill>
                      <a:schemeClr val="bg1"/>
                    </a:solidFill>
                    <a:latin typeface="Times New Roman" panose="02020603050405020304" pitchFamily="18" charset="0"/>
                    <a:cs typeface="Times New Roman" panose="02020603050405020304" pitchFamily="18" charset="0"/>
                  </a:rPr>
                  <a:t>chips</a:t>
                </a:r>
                <a:endParaRPr lang="zh-CN" altLang="en-US" sz="1050" dirty="0">
                  <a:solidFill>
                    <a:schemeClr val="bg1"/>
                  </a:solidFill>
                  <a:latin typeface="Times New Roman" panose="02020603050405020304" pitchFamily="18" charset="0"/>
                  <a:cs typeface="Times New Roman" panose="02020603050405020304" pitchFamily="18" charset="0"/>
                </a:endParaRPr>
              </a:p>
            </p:txBody>
          </p:sp>
        </p:grpSp>
        <p:cxnSp>
          <p:nvCxnSpPr>
            <p:cNvPr id="31" name="直接箭头连接符 30">
              <a:extLst>
                <a:ext uri="{FF2B5EF4-FFF2-40B4-BE49-F238E27FC236}">
                  <a16:creationId xmlns:a16="http://schemas.microsoft.com/office/drawing/2014/main" id="{192CDBEB-3920-2057-EE5F-82DF55EAF7B5}"/>
                </a:ext>
              </a:extLst>
            </p:cNvPr>
            <p:cNvCxnSpPr>
              <a:cxnSpLocks/>
              <a:stCxn id="37" idx="4"/>
              <a:endCxn id="32" idx="0"/>
            </p:cNvCxnSpPr>
            <p:nvPr/>
          </p:nvCxnSpPr>
          <p:spPr>
            <a:xfrm>
              <a:off x="7669875" y="5157959"/>
              <a:ext cx="2787" cy="69391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248798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EA1FB-72F9-F63E-A0CA-E4476263B800}"/>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6D3A71E9-1AE8-1AA9-AA86-F40BDD941474}"/>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4.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应用：场景图生成</a:t>
            </a:r>
          </a:p>
        </p:txBody>
      </p:sp>
      <p:sp>
        <p:nvSpPr>
          <p:cNvPr id="3" name="日期占位符 2">
            <a:extLst>
              <a:ext uri="{FF2B5EF4-FFF2-40B4-BE49-F238E27FC236}">
                <a16:creationId xmlns:a16="http://schemas.microsoft.com/office/drawing/2014/main" id="{CAE06AC5-E3F9-FABE-4D36-8CCEDEA8882E}"/>
              </a:ext>
            </a:extLst>
          </p:cNvPr>
          <p:cNvSpPr>
            <a:spLocks noGrp="1"/>
          </p:cNvSpPr>
          <p:nvPr>
            <p:ph type="dt" sz="half" idx="10"/>
          </p:nvPr>
        </p:nvSpPr>
        <p:spPr/>
        <p:txBody>
          <a:bodyPr/>
          <a:lstStyle/>
          <a:p>
            <a:fld id="{F6E9EDFA-D2BC-C047-8158-A2573099E1AD}" type="datetime1">
              <a:rPr lang="zh-CN" altLang="en-US" smtClean="0"/>
              <a:t>2025/8/11</a:t>
            </a:fld>
            <a:endParaRPr lang="zh-CN" altLang="en-US" dirty="0"/>
          </a:p>
        </p:txBody>
      </p:sp>
      <p:sp>
        <p:nvSpPr>
          <p:cNvPr id="4" name="灯片编号占位符 3">
            <a:extLst>
              <a:ext uri="{FF2B5EF4-FFF2-40B4-BE49-F238E27FC236}">
                <a16:creationId xmlns:a16="http://schemas.microsoft.com/office/drawing/2014/main" id="{AFD77DC9-345A-FDED-D20D-DB77835B5472}"/>
              </a:ext>
            </a:extLst>
          </p:cNvPr>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10" name="文本框 9">
            <a:extLst>
              <a:ext uri="{FF2B5EF4-FFF2-40B4-BE49-F238E27FC236}">
                <a16:creationId xmlns:a16="http://schemas.microsoft.com/office/drawing/2014/main" id="{D647A95E-C5EC-425F-A8AE-64F184B41DB0}"/>
              </a:ext>
            </a:extLst>
          </p:cNvPr>
          <p:cNvSpPr txBox="1"/>
          <p:nvPr/>
        </p:nvSpPr>
        <p:spPr>
          <a:xfrm>
            <a:off x="260974" y="1161017"/>
            <a:ext cx="2441694" cy="338554"/>
          </a:xfrm>
          <a:prstGeom prst="rect">
            <a:avLst/>
          </a:prstGeom>
          <a:noFill/>
        </p:spPr>
        <p:txBody>
          <a:bodyPr wrap="none" rtlCol="0">
            <a:spAutoFit/>
          </a:bodyPr>
          <a:lstStyle/>
          <a:p>
            <a:r>
              <a:rPr kumimoji="1" lang="zh-CN" altLang="en-US" sz="1600" b="1" dirty="0"/>
              <a:t>具体构建三步流程示例：</a:t>
            </a:r>
          </a:p>
        </p:txBody>
      </p:sp>
      <p:sp>
        <p:nvSpPr>
          <p:cNvPr id="17" name="文本框 16">
            <a:extLst>
              <a:ext uri="{FF2B5EF4-FFF2-40B4-BE49-F238E27FC236}">
                <a16:creationId xmlns:a16="http://schemas.microsoft.com/office/drawing/2014/main" id="{11DD39CA-4C04-C370-1A9A-48A6E5524BFE}"/>
              </a:ext>
            </a:extLst>
          </p:cNvPr>
          <p:cNvSpPr txBox="1"/>
          <p:nvPr/>
        </p:nvSpPr>
        <p:spPr>
          <a:xfrm>
            <a:off x="251506" y="1480284"/>
            <a:ext cx="4637973" cy="4767074"/>
          </a:xfrm>
          <a:prstGeom prst="rect">
            <a:avLst/>
          </a:prstGeom>
          <a:noFill/>
        </p:spPr>
        <p:txBody>
          <a:bodyPr wrap="square">
            <a:spAutoFit/>
          </a:bodyPr>
          <a:lstStyle/>
          <a:p>
            <a:pPr indent="457200" algn="just">
              <a:lnSpc>
                <a:spcPct val="200000"/>
              </a:lnSpc>
            </a:pPr>
            <a:r>
              <a:rPr lang="zh-CN" altLang="en-US" sz="1400" dirty="0">
                <a:latin typeface="Microsoft YaHei" panose="020B0503020204020204" pitchFamily="34" charset="-122"/>
                <a:ea typeface="Microsoft YaHei" panose="020B0503020204020204" pitchFamily="34" charset="-122"/>
              </a:rPr>
              <a:t>第一步：</a:t>
            </a:r>
            <a:r>
              <a:rPr lang="zh-CN" altLang="en-US" sz="1400" b="1" dirty="0">
                <a:latin typeface="Microsoft YaHei" panose="020B0503020204020204" pitchFamily="34" charset="-122"/>
                <a:ea typeface="Microsoft YaHei" panose="020B0503020204020204" pitchFamily="34" charset="-122"/>
              </a:rPr>
              <a:t>宏观概述</a:t>
            </a:r>
            <a:r>
              <a:rPr lang="zh-CN" altLang="en-US" sz="1400" dirty="0">
                <a:latin typeface="Microsoft YaHei" panose="020B0503020204020204" pitchFamily="34" charset="-122"/>
                <a:ea typeface="Microsoft YaHei" panose="020B0503020204020204" pitchFamily="34" charset="-122"/>
              </a:rPr>
              <a:t>。先识别图像或场景中最顶层的空间结构，描述一个封闭或开放的物理空间背景，作为所有对象的“容器”。比如“这是一个在公园拍摄的照片”。</a:t>
            </a:r>
            <a:endParaRPr lang="en-US" altLang="zh-CN" sz="1400" dirty="0">
              <a:latin typeface="Microsoft YaHei" panose="020B0503020204020204" pitchFamily="34" charset="-122"/>
              <a:ea typeface="Microsoft YaHei" panose="020B0503020204020204" pitchFamily="34" charset="-122"/>
            </a:endParaRPr>
          </a:p>
          <a:p>
            <a:pPr indent="457200" algn="just">
              <a:lnSpc>
                <a:spcPct val="200000"/>
              </a:lnSpc>
            </a:pPr>
            <a:r>
              <a:rPr lang="zh-CN" altLang="en-US" sz="1400" dirty="0">
                <a:latin typeface="Microsoft YaHei" panose="020B0503020204020204" pitchFamily="34" charset="-122"/>
                <a:ea typeface="Microsoft YaHei" panose="020B0503020204020204" pitchFamily="34" charset="-122"/>
              </a:rPr>
              <a:t>第二步：</a:t>
            </a:r>
            <a:r>
              <a:rPr lang="zh-CN" altLang="en-US" sz="1400" b="1" dirty="0">
                <a:latin typeface="Microsoft YaHei" panose="020B0503020204020204" pitchFamily="34" charset="-122"/>
                <a:ea typeface="Microsoft YaHei" panose="020B0503020204020204" pitchFamily="34" charset="-122"/>
              </a:rPr>
              <a:t>核心描述</a:t>
            </a:r>
            <a:r>
              <a:rPr lang="zh-CN" altLang="en-US" sz="1400" dirty="0">
                <a:latin typeface="Microsoft YaHei" panose="020B0503020204020204" pitchFamily="34" charset="-122"/>
                <a:ea typeface="Microsoft YaHei" panose="020B0503020204020204" pitchFamily="34" charset="-122"/>
              </a:rPr>
              <a:t>。描述在当前空间内，占据显著空间、功能上起结构性支撑作用的实体。比如“长凳上坐着一个女人，她在读一本杂志，腿上放着一个手提包”。</a:t>
            </a:r>
          </a:p>
          <a:p>
            <a:pPr indent="457200" algn="just">
              <a:lnSpc>
                <a:spcPct val="200000"/>
              </a:lnSpc>
            </a:pPr>
            <a:r>
              <a:rPr lang="zh-CN" altLang="en-US" sz="1400" dirty="0">
                <a:latin typeface="Microsoft YaHei" panose="020B0503020204020204" pitchFamily="34" charset="-122"/>
                <a:ea typeface="Microsoft YaHei" panose="020B0503020204020204" pitchFamily="34" charset="-122"/>
              </a:rPr>
              <a:t>第三步：</a:t>
            </a:r>
            <a:r>
              <a:rPr lang="zh-CN" altLang="en-US" sz="1400" b="1" dirty="0">
                <a:latin typeface="Microsoft YaHei" panose="020B0503020204020204" pitchFamily="34" charset="-122"/>
                <a:ea typeface="Microsoft YaHei" panose="020B0503020204020204" pitchFamily="34" charset="-122"/>
              </a:rPr>
              <a:t>细节补充</a:t>
            </a:r>
            <a:r>
              <a:rPr lang="zh-CN" altLang="en-US" sz="1400" dirty="0">
                <a:latin typeface="Microsoft YaHei" panose="020B0503020204020204" pitchFamily="34" charset="-122"/>
                <a:ea typeface="Microsoft YaHei" panose="020B0503020204020204" pitchFamily="34" charset="-122"/>
              </a:rPr>
              <a:t>。补充图片中的背景信息，例如“有一片草地”，以及补充一些依附于大物体或存在于空间中体积相对较小的实体，通常是人与环境交互的直接对象，包括中实体的属性，例如“这个女人穿着一双棕色的靴子”。</a:t>
            </a:r>
          </a:p>
        </p:txBody>
      </p:sp>
      <p:pic>
        <p:nvPicPr>
          <p:cNvPr id="2" name="图片 1" descr="000000017559">
            <a:extLst>
              <a:ext uri="{FF2B5EF4-FFF2-40B4-BE49-F238E27FC236}">
                <a16:creationId xmlns:a16="http://schemas.microsoft.com/office/drawing/2014/main" id="{6BD302F6-35CC-BEE4-3996-FFDEA8B2A973}"/>
              </a:ext>
            </a:extLst>
          </p:cNvPr>
          <p:cNvPicPr>
            <a:picLocks noChangeAspect="1"/>
          </p:cNvPicPr>
          <p:nvPr/>
        </p:nvPicPr>
        <p:blipFill>
          <a:blip r:embed="rId3"/>
          <a:stretch>
            <a:fillRect/>
          </a:stretch>
        </p:blipFill>
        <p:spPr>
          <a:xfrm>
            <a:off x="6438497" y="939570"/>
            <a:ext cx="3364015" cy="2244305"/>
          </a:xfrm>
          <a:prstGeom prst="rect">
            <a:avLst/>
          </a:prstGeom>
        </p:spPr>
      </p:pic>
      <p:grpSp>
        <p:nvGrpSpPr>
          <p:cNvPr id="201" name="组合 200">
            <a:extLst>
              <a:ext uri="{FF2B5EF4-FFF2-40B4-BE49-F238E27FC236}">
                <a16:creationId xmlns:a16="http://schemas.microsoft.com/office/drawing/2014/main" id="{29950AAB-D3C1-16F2-66A3-AB3991CE5510}"/>
              </a:ext>
            </a:extLst>
          </p:cNvPr>
          <p:cNvGrpSpPr/>
          <p:nvPr/>
        </p:nvGrpSpPr>
        <p:grpSpPr>
          <a:xfrm>
            <a:off x="5737100" y="3429000"/>
            <a:ext cx="4780287" cy="2967851"/>
            <a:chOff x="5644246" y="3429000"/>
            <a:chExt cx="4780287" cy="2967851"/>
          </a:xfrm>
        </p:grpSpPr>
        <p:grpSp>
          <p:nvGrpSpPr>
            <p:cNvPr id="133" name="组合 132">
              <a:extLst>
                <a:ext uri="{FF2B5EF4-FFF2-40B4-BE49-F238E27FC236}">
                  <a16:creationId xmlns:a16="http://schemas.microsoft.com/office/drawing/2014/main" id="{B9928645-27B1-EC6C-3CCE-DE0AFD0D835F}"/>
                </a:ext>
              </a:extLst>
            </p:cNvPr>
            <p:cNvGrpSpPr/>
            <p:nvPr/>
          </p:nvGrpSpPr>
          <p:grpSpPr>
            <a:xfrm>
              <a:off x="5644246" y="3429000"/>
              <a:ext cx="4780287" cy="2967851"/>
              <a:chOff x="6369340" y="3284035"/>
              <a:chExt cx="4780287" cy="2967851"/>
            </a:xfrm>
          </p:grpSpPr>
          <p:grpSp>
            <p:nvGrpSpPr>
              <p:cNvPr id="6" name="组合 5">
                <a:extLst>
                  <a:ext uri="{FF2B5EF4-FFF2-40B4-BE49-F238E27FC236}">
                    <a16:creationId xmlns:a16="http://schemas.microsoft.com/office/drawing/2014/main" id="{006A4B02-0A4D-9E9B-ADB2-60C2ED0CDA4D}"/>
                  </a:ext>
                </a:extLst>
              </p:cNvPr>
              <p:cNvGrpSpPr/>
              <p:nvPr/>
            </p:nvGrpSpPr>
            <p:grpSpPr>
              <a:xfrm>
                <a:off x="6369340" y="3284035"/>
                <a:ext cx="4780287" cy="2967851"/>
                <a:chOff x="7090507" y="1570376"/>
                <a:chExt cx="4780287" cy="2967851"/>
              </a:xfrm>
            </p:grpSpPr>
            <p:grpSp>
              <p:nvGrpSpPr>
                <p:cNvPr id="7" name="组合 6">
                  <a:extLst>
                    <a:ext uri="{FF2B5EF4-FFF2-40B4-BE49-F238E27FC236}">
                      <a16:creationId xmlns:a16="http://schemas.microsoft.com/office/drawing/2014/main" id="{30D97E0E-A6D3-8099-C2DD-63F3CC7BA779}"/>
                    </a:ext>
                  </a:extLst>
                </p:cNvPr>
                <p:cNvGrpSpPr/>
                <p:nvPr/>
              </p:nvGrpSpPr>
              <p:grpSpPr>
                <a:xfrm>
                  <a:off x="7090507" y="2415511"/>
                  <a:ext cx="4403017" cy="1949281"/>
                  <a:chOff x="6866191" y="2398546"/>
                  <a:chExt cx="4403017" cy="1949281"/>
                </a:xfrm>
              </p:grpSpPr>
              <p:sp>
                <p:nvSpPr>
                  <p:cNvPr id="9" name="椭圆 8">
                    <a:extLst>
                      <a:ext uri="{FF2B5EF4-FFF2-40B4-BE49-F238E27FC236}">
                        <a16:creationId xmlns:a16="http://schemas.microsoft.com/office/drawing/2014/main" id="{34A5F7F3-3A10-8E04-D544-8BC326CCEEEA}"/>
                      </a:ext>
                    </a:extLst>
                  </p:cNvPr>
                  <p:cNvSpPr/>
                  <p:nvPr/>
                </p:nvSpPr>
                <p:spPr>
                  <a:xfrm>
                    <a:off x="8253569" y="2414628"/>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11" name="文本框 10">
                    <a:extLst>
                      <a:ext uri="{FF2B5EF4-FFF2-40B4-BE49-F238E27FC236}">
                        <a16:creationId xmlns:a16="http://schemas.microsoft.com/office/drawing/2014/main" id="{59872543-7305-ECF5-01AF-49D3B8645242}"/>
                      </a:ext>
                    </a:extLst>
                  </p:cNvPr>
                  <p:cNvSpPr txBox="1"/>
                  <p:nvPr/>
                </p:nvSpPr>
                <p:spPr>
                  <a:xfrm>
                    <a:off x="7610116" y="2398546"/>
                    <a:ext cx="69397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object</a:t>
                    </a:r>
                  </a:p>
                </p:txBody>
              </p:sp>
              <p:sp>
                <p:nvSpPr>
                  <p:cNvPr id="12" name="椭圆 11">
                    <a:extLst>
                      <a:ext uri="{FF2B5EF4-FFF2-40B4-BE49-F238E27FC236}">
                        <a16:creationId xmlns:a16="http://schemas.microsoft.com/office/drawing/2014/main" id="{647A2DDA-CFB7-B1BA-5914-0537F0102896}"/>
                      </a:ext>
                    </a:extLst>
                  </p:cNvPr>
                  <p:cNvSpPr/>
                  <p:nvPr/>
                </p:nvSpPr>
                <p:spPr>
                  <a:xfrm>
                    <a:off x="7771126" y="3174818"/>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14" name="椭圆 13">
                    <a:extLst>
                      <a:ext uri="{FF2B5EF4-FFF2-40B4-BE49-F238E27FC236}">
                        <a16:creationId xmlns:a16="http://schemas.microsoft.com/office/drawing/2014/main" id="{E5FCC7FA-472E-0F23-E7A9-A3213CEE20B2}"/>
                      </a:ext>
                    </a:extLst>
                  </p:cNvPr>
                  <p:cNvSpPr/>
                  <p:nvPr/>
                </p:nvSpPr>
                <p:spPr>
                  <a:xfrm>
                    <a:off x="8811212" y="318302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15" name="椭圆 14">
                    <a:extLst>
                      <a:ext uri="{FF2B5EF4-FFF2-40B4-BE49-F238E27FC236}">
                        <a16:creationId xmlns:a16="http://schemas.microsoft.com/office/drawing/2014/main" id="{2727A710-2B99-C55E-EE6B-4A218C3B4A11}"/>
                      </a:ext>
                    </a:extLst>
                  </p:cNvPr>
                  <p:cNvSpPr/>
                  <p:nvPr/>
                </p:nvSpPr>
                <p:spPr>
                  <a:xfrm>
                    <a:off x="9873375" y="3189877"/>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16" name="文本框 15">
                    <a:extLst>
                      <a:ext uri="{FF2B5EF4-FFF2-40B4-BE49-F238E27FC236}">
                        <a16:creationId xmlns:a16="http://schemas.microsoft.com/office/drawing/2014/main" id="{014EBFF1-62D7-3F74-5BF9-3EA98C96F6B6}"/>
                      </a:ext>
                    </a:extLst>
                  </p:cNvPr>
                  <p:cNvSpPr txBox="1"/>
                  <p:nvPr/>
                </p:nvSpPr>
                <p:spPr>
                  <a:xfrm>
                    <a:off x="9439287" y="3285409"/>
                    <a:ext cx="993444" cy="30638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pavement</a:t>
                    </a:r>
                  </a:p>
                </p:txBody>
              </p:sp>
              <p:sp>
                <p:nvSpPr>
                  <p:cNvPr id="18" name="文本框 17">
                    <a:extLst>
                      <a:ext uri="{FF2B5EF4-FFF2-40B4-BE49-F238E27FC236}">
                        <a16:creationId xmlns:a16="http://schemas.microsoft.com/office/drawing/2014/main" id="{9887C3B5-B29A-2026-FF84-B76B2F3B83C8}"/>
                      </a:ext>
                    </a:extLst>
                  </p:cNvPr>
                  <p:cNvSpPr txBox="1"/>
                  <p:nvPr/>
                </p:nvSpPr>
                <p:spPr>
                  <a:xfrm>
                    <a:off x="8437099" y="3298869"/>
                    <a:ext cx="784208"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bench</a:t>
                    </a:r>
                  </a:p>
                </p:txBody>
              </p:sp>
              <p:sp>
                <p:nvSpPr>
                  <p:cNvPr id="19" name="文本框 18">
                    <a:extLst>
                      <a:ext uri="{FF2B5EF4-FFF2-40B4-BE49-F238E27FC236}">
                        <a16:creationId xmlns:a16="http://schemas.microsoft.com/office/drawing/2014/main" id="{B2858243-0D98-A389-8FF1-1A53319CA6DB}"/>
                      </a:ext>
                    </a:extLst>
                  </p:cNvPr>
                  <p:cNvSpPr txBox="1"/>
                  <p:nvPr/>
                </p:nvSpPr>
                <p:spPr>
                  <a:xfrm>
                    <a:off x="7030888" y="3099862"/>
                    <a:ext cx="784208" cy="268726"/>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woman</a:t>
                    </a:r>
                  </a:p>
                </p:txBody>
              </p:sp>
              <p:sp>
                <p:nvSpPr>
                  <p:cNvPr id="29" name="椭圆 28">
                    <a:extLst>
                      <a:ext uri="{FF2B5EF4-FFF2-40B4-BE49-F238E27FC236}">
                        <a16:creationId xmlns:a16="http://schemas.microsoft.com/office/drawing/2014/main" id="{A24223FA-7D00-4E89-2AD8-866A3DACC200}"/>
                      </a:ext>
                    </a:extLst>
                  </p:cNvPr>
                  <p:cNvSpPr/>
                  <p:nvPr/>
                </p:nvSpPr>
                <p:spPr>
                  <a:xfrm>
                    <a:off x="7393574" y="401762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34" name="椭圆 33">
                    <a:extLst>
                      <a:ext uri="{FF2B5EF4-FFF2-40B4-BE49-F238E27FC236}">
                        <a16:creationId xmlns:a16="http://schemas.microsoft.com/office/drawing/2014/main" id="{0BEAFA4F-61CA-0674-E635-52257AF345E4}"/>
                      </a:ext>
                    </a:extLst>
                  </p:cNvPr>
                  <p:cNvSpPr/>
                  <p:nvPr/>
                </p:nvSpPr>
                <p:spPr>
                  <a:xfrm>
                    <a:off x="8201271" y="401762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37" name="椭圆 36">
                    <a:extLst>
                      <a:ext uri="{FF2B5EF4-FFF2-40B4-BE49-F238E27FC236}">
                        <a16:creationId xmlns:a16="http://schemas.microsoft.com/office/drawing/2014/main" id="{89A4E98B-1F0D-AF04-FBD2-AB214116FFCA}"/>
                      </a:ext>
                    </a:extLst>
                  </p:cNvPr>
                  <p:cNvSpPr/>
                  <p:nvPr/>
                </p:nvSpPr>
                <p:spPr>
                  <a:xfrm>
                    <a:off x="10861591" y="3189877"/>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47" name="文本框 46">
                    <a:extLst>
                      <a:ext uri="{FF2B5EF4-FFF2-40B4-BE49-F238E27FC236}">
                        <a16:creationId xmlns:a16="http://schemas.microsoft.com/office/drawing/2014/main" id="{1C9349CE-5B8A-EC55-F0FD-0AA2C2732FF6}"/>
                      </a:ext>
                    </a:extLst>
                  </p:cNvPr>
                  <p:cNvSpPr txBox="1"/>
                  <p:nvPr/>
                </p:nvSpPr>
                <p:spPr>
                  <a:xfrm>
                    <a:off x="10628897" y="3290035"/>
                    <a:ext cx="640311"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grass</a:t>
                    </a:r>
                  </a:p>
                </p:txBody>
              </p:sp>
              <p:sp>
                <p:nvSpPr>
                  <p:cNvPr id="49" name="文本框 48">
                    <a:extLst>
                      <a:ext uri="{FF2B5EF4-FFF2-40B4-BE49-F238E27FC236}">
                        <a16:creationId xmlns:a16="http://schemas.microsoft.com/office/drawing/2014/main" id="{14F7B3F4-C6B0-8E73-DA6E-7F213C5CF1E7}"/>
                      </a:ext>
                    </a:extLst>
                  </p:cNvPr>
                  <p:cNvSpPr txBox="1"/>
                  <p:nvPr/>
                </p:nvSpPr>
                <p:spPr>
                  <a:xfrm>
                    <a:off x="7779558" y="4070469"/>
                    <a:ext cx="965423"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handbag</a:t>
                    </a:r>
                  </a:p>
                </p:txBody>
              </p:sp>
              <p:sp>
                <p:nvSpPr>
                  <p:cNvPr id="50" name="文本框 49">
                    <a:extLst>
                      <a:ext uri="{FF2B5EF4-FFF2-40B4-BE49-F238E27FC236}">
                        <a16:creationId xmlns:a16="http://schemas.microsoft.com/office/drawing/2014/main" id="{2B36D2ED-A7A0-C902-02A0-33733AE57A09}"/>
                      </a:ext>
                    </a:extLst>
                  </p:cNvPr>
                  <p:cNvSpPr txBox="1"/>
                  <p:nvPr/>
                </p:nvSpPr>
                <p:spPr>
                  <a:xfrm>
                    <a:off x="6866191" y="4060493"/>
                    <a:ext cx="1017913" cy="15683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magazine</a:t>
                    </a:r>
                  </a:p>
                </p:txBody>
              </p:sp>
              <p:cxnSp>
                <p:nvCxnSpPr>
                  <p:cNvPr id="51" name="直接箭头连接符 50">
                    <a:extLst>
                      <a:ext uri="{FF2B5EF4-FFF2-40B4-BE49-F238E27FC236}">
                        <a16:creationId xmlns:a16="http://schemas.microsoft.com/office/drawing/2014/main" id="{67482F62-A894-C203-1951-F5745E14DE8B}"/>
                      </a:ext>
                    </a:extLst>
                  </p:cNvPr>
                  <p:cNvCxnSpPr>
                    <a:cxnSpLocks/>
                    <a:stCxn id="9" idx="3"/>
                    <a:endCxn id="12" idx="7"/>
                  </p:cNvCxnSpPr>
                  <p:nvPr/>
                </p:nvCxnSpPr>
                <p:spPr>
                  <a:xfrm flipH="1">
                    <a:off x="7929857" y="2651368"/>
                    <a:ext cx="363964" cy="55041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2" name="直接箭头连接符 51">
                    <a:extLst>
                      <a:ext uri="{FF2B5EF4-FFF2-40B4-BE49-F238E27FC236}">
                        <a16:creationId xmlns:a16="http://schemas.microsoft.com/office/drawing/2014/main" id="{94807E78-4AA0-8959-F201-31EC72755B9B}"/>
                      </a:ext>
                    </a:extLst>
                  </p:cNvPr>
                  <p:cNvCxnSpPr>
                    <a:cxnSpLocks/>
                    <a:stCxn id="9" idx="5"/>
                    <a:endCxn id="14" idx="0"/>
                  </p:cNvCxnSpPr>
                  <p:nvPr/>
                </p:nvCxnSpPr>
                <p:spPr>
                  <a:xfrm>
                    <a:off x="8488172" y="2651368"/>
                    <a:ext cx="416023" cy="53165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3" name="直接箭头连接符 52">
                    <a:extLst>
                      <a:ext uri="{FF2B5EF4-FFF2-40B4-BE49-F238E27FC236}">
                        <a16:creationId xmlns:a16="http://schemas.microsoft.com/office/drawing/2014/main" id="{40A02037-40C5-F81B-05B0-A8865BC9CA95}"/>
                      </a:ext>
                    </a:extLst>
                  </p:cNvPr>
                  <p:cNvCxnSpPr>
                    <a:cxnSpLocks/>
                    <a:stCxn id="12" idx="6"/>
                    <a:endCxn id="14" idx="2"/>
                  </p:cNvCxnSpPr>
                  <p:nvPr/>
                </p:nvCxnSpPr>
                <p:spPr>
                  <a:xfrm>
                    <a:off x="7957091" y="3266887"/>
                    <a:ext cx="854121" cy="820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4" name="直接箭头连接符 53">
                    <a:extLst>
                      <a:ext uri="{FF2B5EF4-FFF2-40B4-BE49-F238E27FC236}">
                        <a16:creationId xmlns:a16="http://schemas.microsoft.com/office/drawing/2014/main" id="{2346D55B-F1A4-06C7-3DD3-A937D47B0B49}"/>
                      </a:ext>
                    </a:extLst>
                  </p:cNvPr>
                  <p:cNvCxnSpPr>
                    <a:cxnSpLocks/>
                    <a:stCxn id="76" idx="3"/>
                    <a:endCxn id="15" idx="0"/>
                  </p:cNvCxnSpPr>
                  <p:nvPr/>
                </p:nvCxnSpPr>
                <p:spPr>
                  <a:xfrm flipH="1">
                    <a:off x="9966358" y="2651500"/>
                    <a:ext cx="396931" cy="538377"/>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5" name="直接箭头连接符 54">
                    <a:extLst>
                      <a:ext uri="{FF2B5EF4-FFF2-40B4-BE49-F238E27FC236}">
                        <a16:creationId xmlns:a16="http://schemas.microsoft.com/office/drawing/2014/main" id="{63FA1FB4-2F1D-8B72-262A-279BFC3C0817}"/>
                      </a:ext>
                    </a:extLst>
                  </p:cNvPr>
                  <p:cNvCxnSpPr>
                    <a:cxnSpLocks/>
                    <a:stCxn id="14" idx="6"/>
                    <a:endCxn id="15" idx="2"/>
                  </p:cNvCxnSpPr>
                  <p:nvPr/>
                </p:nvCxnSpPr>
                <p:spPr>
                  <a:xfrm>
                    <a:off x="8997177" y="3275095"/>
                    <a:ext cx="876198" cy="685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6" name="直接箭头连接符 55">
                    <a:extLst>
                      <a:ext uri="{FF2B5EF4-FFF2-40B4-BE49-F238E27FC236}">
                        <a16:creationId xmlns:a16="http://schemas.microsoft.com/office/drawing/2014/main" id="{7B7C1741-682B-B53A-0D24-A7C01D04592A}"/>
                      </a:ext>
                    </a:extLst>
                  </p:cNvPr>
                  <p:cNvCxnSpPr>
                    <a:cxnSpLocks/>
                    <a:stCxn id="37" idx="2"/>
                    <a:endCxn id="15" idx="6"/>
                  </p:cNvCxnSpPr>
                  <p:nvPr/>
                </p:nvCxnSpPr>
                <p:spPr>
                  <a:xfrm flipH="1">
                    <a:off x="10059340" y="3281946"/>
                    <a:ext cx="802251" cy="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7" name="直接箭头连接符 56">
                    <a:extLst>
                      <a:ext uri="{FF2B5EF4-FFF2-40B4-BE49-F238E27FC236}">
                        <a16:creationId xmlns:a16="http://schemas.microsoft.com/office/drawing/2014/main" id="{64F8BCCC-8C32-59B0-D00D-B1C3526CD240}"/>
                      </a:ext>
                    </a:extLst>
                  </p:cNvPr>
                  <p:cNvCxnSpPr>
                    <a:cxnSpLocks/>
                    <a:stCxn id="12" idx="3"/>
                    <a:endCxn id="29" idx="0"/>
                  </p:cNvCxnSpPr>
                  <p:nvPr/>
                </p:nvCxnSpPr>
                <p:spPr>
                  <a:xfrm flipH="1">
                    <a:off x="7464335" y="3331990"/>
                    <a:ext cx="334025" cy="68563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59" name="直接箭头连接符 58">
                    <a:extLst>
                      <a:ext uri="{FF2B5EF4-FFF2-40B4-BE49-F238E27FC236}">
                        <a16:creationId xmlns:a16="http://schemas.microsoft.com/office/drawing/2014/main" id="{F5CC18CF-E0A3-67A6-C43D-5A1ECD9E2E69}"/>
                      </a:ext>
                    </a:extLst>
                  </p:cNvPr>
                  <p:cNvCxnSpPr>
                    <a:cxnSpLocks/>
                    <a:stCxn id="29" idx="6"/>
                    <a:endCxn id="34" idx="2"/>
                  </p:cNvCxnSpPr>
                  <p:nvPr/>
                </p:nvCxnSpPr>
                <p:spPr>
                  <a:xfrm>
                    <a:off x="7535095" y="4088398"/>
                    <a:ext cx="666176" cy="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64" name="文本框 63">
                    <a:extLst>
                      <a:ext uri="{FF2B5EF4-FFF2-40B4-BE49-F238E27FC236}">
                        <a16:creationId xmlns:a16="http://schemas.microsoft.com/office/drawing/2014/main" id="{5A07E309-6928-8264-F7FA-670D6FDB0466}"/>
                      </a:ext>
                    </a:extLst>
                  </p:cNvPr>
                  <p:cNvSpPr txBox="1"/>
                  <p:nvPr/>
                </p:nvSpPr>
                <p:spPr>
                  <a:xfrm>
                    <a:off x="7676616" y="3890124"/>
                    <a:ext cx="43016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a:t>
                    </a:r>
                    <a:endParaRPr lang="zh-CN" altLang="en-US" sz="1200" dirty="0">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0FC5E863-C0DD-E31F-6714-AA2EB476BD16}"/>
                      </a:ext>
                    </a:extLst>
                  </p:cNvPr>
                  <p:cNvSpPr txBox="1"/>
                  <p:nvPr/>
                </p:nvSpPr>
                <p:spPr>
                  <a:xfrm>
                    <a:off x="10092186" y="3059722"/>
                    <a:ext cx="911932"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attached</a:t>
                    </a:r>
                    <a:r>
                      <a:rPr lang="en-US" altLang="zh-CN" sz="1200" dirty="0">
                        <a:solidFill>
                          <a:schemeClr val="bg2">
                            <a:lumMod val="50000"/>
                          </a:schemeClr>
                        </a:solidFill>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to</a:t>
                    </a:r>
                    <a:endParaRPr lang="zh-CN" altLang="en-US" sz="1200" dirty="0">
                      <a:latin typeface="Times New Roman" panose="02020603050405020304" pitchFamily="18" charset="0"/>
                      <a:cs typeface="Times New Roman" panose="02020603050405020304" pitchFamily="18" charset="0"/>
                    </a:endParaRPr>
                  </a:p>
                </p:txBody>
              </p:sp>
              <p:sp>
                <p:nvSpPr>
                  <p:cNvPr id="67" name="文本框 66">
                    <a:extLst>
                      <a:ext uri="{FF2B5EF4-FFF2-40B4-BE49-F238E27FC236}">
                        <a16:creationId xmlns:a16="http://schemas.microsoft.com/office/drawing/2014/main" id="{A998AEBD-F3F3-889C-FD5D-120A6900FA60}"/>
                      </a:ext>
                    </a:extLst>
                  </p:cNvPr>
                  <p:cNvSpPr txBox="1"/>
                  <p:nvPr/>
                </p:nvSpPr>
                <p:spPr>
                  <a:xfrm>
                    <a:off x="7964156" y="3029108"/>
                    <a:ext cx="934504"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leaning on</a:t>
                    </a:r>
                    <a:endParaRPr lang="zh-CN" altLang="en-US" sz="1200" dirty="0">
                      <a:latin typeface="Times New Roman" panose="02020603050405020304" pitchFamily="18" charset="0"/>
                      <a:cs typeface="Times New Roman" panose="02020603050405020304" pitchFamily="18" charset="0"/>
                    </a:endParaRPr>
                  </a:p>
                </p:txBody>
              </p:sp>
              <p:sp>
                <p:nvSpPr>
                  <p:cNvPr id="69" name="文本框 68">
                    <a:extLst>
                      <a:ext uri="{FF2B5EF4-FFF2-40B4-BE49-F238E27FC236}">
                        <a16:creationId xmlns:a16="http://schemas.microsoft.com/office/drawing/2014/main" id="{1878B0FF-F1C8-18BF-2670-E3FA3EA23D30}"/>
                      </a:ext>
                    </a:extLst>
                  </p:cNvPr>
                  <p:cNvSpPr txBox="1"/>
                  <p:nvPr/>
                </p:nvSpPr>
                <p:spPr>
                  <a:xfrm>
                    <a:off x="9229871" y="3044526"/>
                    <a:ext cx="467252"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a:t>
                    </a:r>
                    <a:endParaRPr lang="zh-CN" altLang="en-US" sz="1200" dirty="0">
                      <a:latin typeface="Times New Roman" panose="02020603050405020304" pitchFamily="18" charset="0"/>
                      <a:cs typeface="Times New Roman" panose="02020603050405020304" pitchFamily="18" charset="0"/>
                    </a:endParaRPr>
                  </a:p>
                </p:txBody>
              </p:sp>
              <p:sp>
                <p:nvSpPr>
                  <p:cNvPr id="70" name="文本框 69">
                    <a:extLst>
                      <a:ext uri="{FF2B5EF4-FFF2-40B4-BE49-F238E27FC236}">
                        <a16:creationId xmlns:a16="http://schemas.microsoft.com/office/drawing/2014/main" id="{4A32187B-B5F7-B366-0874-DFF64DF4455E}"/>
                      </a:ext>
                    </a:extLst>
                  </p:cNvPr>
                  <p:cNvSpPr txBox="1"/>
                  <p:nvPr/>
                </p:nvSpPr>
                <p:spPr>
                  <a:xfrm>
                    <a:off x="7038419" y="3479559"/>
                    <a:ext cx="67345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reading</a:t>
                    </a:r>
                    <a:endParaRPr lang="zh-CN" altLang="en-US" sz="1200" dirty="0">
                      <a:latin typeface="Times New Roman" panose="02020603050405020304" pitchFamily="18" charset="0"/>
                      <a:cs typeface="Times New Roman" panose="02020603050405020304" pitchFamily="18" charset="0"/>
                    </a:endParaRPr>
                  </a:p>
                </p:txBody>
              </p:sp>
            </p:grpSp>
            <p:sp>
              <p:nvSpPr>
                <p:cNvPr id="8" name="矩形 7">
                  <a:extLst>
                    <a:ext uri="{FF2B5EF4-FFF2-40B4-BE49-F238E27FC236}">
                      <a16:creationId xmlns:a16="http://schemas.microsoft.com/office/drawing/2014/main" id="{0AF72707-4913-819C-278B-2B753940C97C}"/>
                    </a:ext>
                  </a:extLst>
                </p:cNvPr>
                <p:cNvSpPr/>
                <p:nvPr/>
              </p:nvSpPr>
              <p:spPr>
                <a:xfrm>
                  <a:off x="7182221" y="1570376"/>
                  <a:ext cx="4688573" cy="2967851"/>
                </a:xfrm>
                <a:prstGeom prst="rect">
                  <a:avLst/>
                </a:prstGeom>
                <a:noFill/>
                <a:ln>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2" name="椭圆 71">
                <a:extLst>
                  <a:ext uri="{FF2B5EF4-FFF2-40B4-BE49-F238E27FC236}">
                    <a16:creationId xmlns:a16="http://schemas.microsoft.com/office/drawing/2014/main" id="{1A8ABF1D-8904-0645-678A-45DC17B79BC7}"/>
                  </a:ext>
                </a:extLst>
              </p:cNvPr>
              <p:cNvSpPr/>
              <p:nvPr/>
            </p:nvSpPr>
            <p:spPr>
              <a:xfrm>
                <a:off x="8790363" y="35410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73" name="文本框 72">
                <a:extLst>
                  <a:ext uri="{FF2B5EF4-FFF2-40B4-BE49-F238E27FC236}">
                    <a16:creationId xmlns:a16="http://schemas.microsoft.com/office/drawing/2014/main" id="{21415A2B-1A58-70C3-4BE4-CF32F3ABE272}"/>
                  </a:ext>
                </a:extLst>
              </p:cNvPr>
              <p:cNvSpPr txBox="1"/>
              <p:nvPr/>
            </p:nvSpPr>
            <p:spPr>
              <a:xfrm>
                <a:off x="8488186" y="3284035"/>
                <a:ext cx="69397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park</a:t>
                </a:r>
              </a:p>
            </p:txBody>
          </p:sp>
          <p:sp>
            <p:nvSpPr>
              <p:cNvPr id="76" name="椭圆 75">
                <a:extLst>
                  <a:ext uri="{FF2B5EF4-FFF2-40B4-BE49-F238E27FC236}">
                    <a16:creationId xmlns:a16="http://schemas.microsoft.com/office/drawing/2014/main" id="{00411638-E582-539B-0170-4609F5BB5E02}"/>
                  </a:ext>
                </a:extLst>
              </p:cNvPr>
              <p:cNvSpPr/>
              <p:nvPr/>
            </p:nvSpPr>
            <p:spPr>
              <a:xfrm>
                <a:off x="9826186" y="41453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77" name="文本框 76">
                <a:extLst>
                  <a:ext uri="{FF2B5EF4-FFF2-40B4-BE49-F238E27FC236}">
                    <a16:creationId xmlns:a16="http://schemas.microsoft.com/office/drawing/2014/main" id="{D25D1F45-6B67-44BE-7A43-DDD60E4DE8DF}"/>
                  </a:ext>
                </a:extLst>
              </p:cNvPr>
              <p:cNvSpPr txBox="1"/>
              <p:nvPr/>
            </p:nvSpPr>
            <p:spPr>
              <a:xfrm>
                <a:off x="10013510" y="4102561"/>
                <a:ext cx="113378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background</a:t>
                </a:r>
              </a:p>
            </p:txBody>
          </p:sp>
          <p:cxnSp>
            <p:nvCxnSpPr>
              <p:cNvPr id="105" name="直接箭头连接符 104">
                <a:extLst>
                  <a:ext uri="{FF2B5EF4-FFF2-40B4-BE49-F238E27FC236}">
                    <a16:creationId xmlns:a16="http://schemas.microsoft.com/office/drawing/2014/main" id="{73ED0502-DD7D-C0F3-FD1C-EC6D355436BD}"/>
                  </a:ext>
                </a:extLst>
              </p:cNvPr>
              <p:cNvCxnSpPr>
                <a:cxnSpLocks/>
                <a:stCxn id="72" idx="3"/>
                <a:endCxn id="9" idx="7"/>
              </p:cNvCxnSpPr>
              <p:nvPr/>
            </p:nvCxnSpPr>
            <p:spPr>
              <a:xfrm flipH="1">
                <a:off x="7991321" y="3777824"/>
                <a:ext cx="839294" cy="40804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106" name="直接箭头连接符 105">
                <a:extLst>
                  <a:ext uri="{FF2B5EF4-FFF2-40B4-BE49-F238E27FC236}">
                    <a16:creationId xmlns:a16="http://schemas.microsoft.com/office/drawing/2014/main" id="{55469B89-F28F-B5CA-0078-D14D396A5F36}"/>
                  </a:ext>
                </a:extLst>
              </p:cNvPr>
              <p:cNvCxnSpPr>
                <a:cxnSpLocks/>
                <a:stCxn id="72" idx="5"/>
                <a:endCxn id="76" idx="1"/>
              </p:cNvCxnSpPr>
              <p:nvPr/>
            </p:nvCxnSpPr>
            <p:spPr>
              <a:xfrm>
                <a:off x="9024966" y="3777824"/>
                <a:ext cx="841472" cy="40817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113" name="直接箭头连接符 112">
                <a:extLst>
                  <a:ext uri="{FF2B5EF4-FFF2-40B4-BE49-F238E27FC236}">
                    <a16:creationId xmlns:a16="http://schemas.microsoft.com/office/drawing/2014/main" id="{229482D9-F215-4E84-C8F8-CB18221B4DD0}"/>
                  </a:ext>
                </a:extLst>
              </p:cNvPr>
              <p:cNvCxnSpPr>
                <a:cxnSpLocks/>
                <a:stCxn id="76" idx="5"/>
                <a:endCxn id="37" idx="0"/>
              </p:cNvCxnSpPr>
              <p:nvPr/>
            </p:nvCxnSpPr>
            <p:spPr>
              <a:xfrm>
                <a:off x="10060789" y="4382124"/>
                <a:ext cx="396934" cy="538377"/>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cxnSp>
          <p:nvCxnSpPr>
            <p:cNvPr id="197" name="直接箭头连接符 196">
              <a:extLst>
                <a:ext uri="{FF2B5EF4-FFF2-40B4-BE49-F238E27FC236}">
                  <a16:creationId xmlns:a16="http://schemas.microsoft.com/office/drawing/2014/main" id="{10E2B93B-D398-D660-6956-7DA3471E3E58}"/>
                </a:ext>
              </a:extLst>
            </p:cNvPr>
            <p:cNvCxnSpPr>
              <a:cxnSpLocks/>
              <a:stCxn id="12" idx="5"/>
              <a:endCxn id="34" idx="0"/>
            </p:cNvCxnSpPr>
            <p:nvPr/>
          </p:nvCxnSpPr>
          <p:spPr>
            <a:xfrm>
              <a:off x="6707912" y="5207579"/>
              <a:ext cx="342175" cy="68563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200" name="文本框 199">
              <a:extLst>
                <a:ext uri="{FF2B5EF4-FFF2-40B4-BE49-F238E27FC236}">
                  <a16:creationId xmlns:a16="http://schemas.microsoft.com/office/drawing/2014/main" id="{7C24B72B-74B2-83EF-490D-FED09EE8AD15}"/>
                </a:ext>
              </a:extLst>
            </p:cNvPr>
            <p:cNvSpPr txBox="1"/>
            <p:nvPr/>
          </p:nvSpPr>
          <p:spPr>
            <a:xfrm>
              <a:off x="6803333" y="5348299"/>
              <a:ext cx="67345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support</a:t>
              </a:r>
              <a:endParaRPr lang="zh-CN" altLang="en-US" sz="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799928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E2EEC-2B7D-3BB3-6035-B0D1DA7A1811}"/>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E53A3338-E320-F092-2AE2-F19934F38EA7}"/>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5. </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分析：图结构与推理路径</a:t>
            </a:r>
          </a:p>
        </p:txBody>
      </p:sp>
      <p:sp>
        <p:nvSpPr>
          <p:cNvPr id="15" name="文本框 14">
            <a:extLst>
              <a:ext uri="{FF2B5EF4-FFF2-40B4-BE49-F238E27FC236}">
                <a16:creationId xmlns:a16="http://schemas.microsoft.com/office/drawing/2014/main" id="{9AD45ADF-0A50-003E-3045-054CB22AE1A0}"/>
              </a:ext>
            </a:extLst>
          </p:cNvPr>
          <p:cNvSpPr txBox="1"/>
          <p:nvPr/>
        </p:nvSpPr>
        <p:spPr>
          <a:xfrm>
            <a:off x="782796" y="1240216"/>
            <a:ext cx="3001104" cy="2972737"/>
          </a:xfrm>
          <a:prstGeom prst="rect">
            <a:avLst/>
          </a:prstGeom>
          <a:noFill/>
        </p:spPr>
        <p:txBody>
          <a:bodyPr wrap="square">
            <a:spAutoFit/>
          </a:bodyPr>
          <a:lstStyle/>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有了场景图后，场景图</a:t>
            </a:r>
            <a:r>
              <a:rPr lang="zh-CN" altLang="en-US" sz="1600" i="0" dirty="0">
                <a:solidFill>
                  <a:srgbClr val="404040"/>
                </a:solidFill>
                <a:effectLst/>
                <a:latin typeface="Microsoft YaHei" panose="020B0503020204020204" pitchFamily="34" charset="-122"/>
                <a:ea typeface="Microsoft YaHei" panose="020B0503020204020204" pitchFamily="34" charset="-122"/>
              </a:rPr>
              <a:t>中的节点和边构成逻辑路径，当有语言进来交互时，我们通过这些路径更加清晰地进行语义推理。帮助我们更好地理解场景中的对象和关系。</a:t>
            </a:r>
            <a:endParaRPr lang="zh-CN" altLang="en-US" sz="1600"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12E40663-8E4B-7D50-74EB-652ADEC029ED}"/>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9B65051D-40EE-A871-E541-242E3DB5A59E}"/>
              </a:ext>
            </a:extLst>
          </p:cNvPr>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146" name="文本框 145">
            <a:extLst>
              <a:ext uri="{FF2B5EF4-FFF2-40B4-BE49-F238E27FC236}">
                <a16:creationId xmlns:a16="http://schemas.microsoft.com/office/drawing/2014/main" id="{EF9E86C3-1BE9-8199-3D23-1C6D05BD5DD1}"/>
              </a:ext>
            </a:extLst>
          </p:cNvPr>
          <p:cNvSpPr txBox="1"/>
          <p:nvPr/>
        </p:nvSpPr>
        <p:spPr>
          <a:xfrm>
            <a:off x="844405" y="4262968"/>
            <a:ext cx="3001104" cy="1002967"/>
          </a:xfrm>
          <a:prstGeom prst="rect">
            <a:avLst/>
          </a:prstGeom>
          <a:noFill/>
        </p:spPr>
        <p:txBody>
          <a:bodyPr wrap="square">
            <a:spAutoFit/>
          </a:bodyPr>
          <a:lstStyle/>
          <a:p>
            <a:pPr indent="457200" algn="just">
              <a:lnSpc>
                <a:spcPct val="200000"/>
              </a:lnSpc>
            </a:pPr>
            <a:r>
              <a:rPr lang="zh-CN" altLang="en-US" sz="1600" b="1" dirty="0">
                <a:solidFill>
                  <a:srgbClr val="404040"/>
                </a:solidFill>
                <a:latin typeface="Microsoft YaHei" panose="020B0503020204020204" pitchFamily="34" charset="-122"/>
                <a:ea typeface="Microsoft YaHei" panose="020B0503020204020204" pitchFamily="34" charset="-122"/>
              </a:rPr>
              <a:t>示例</a:t>
            </a:r>
            <a:r>
              <a:rPr lang="zh-CN" altLang="en-US" sz="1600" dirty="0">
                <a:solidFill>
                  <a:srgbClr val="404040"/>
                </a:solidFill>
                <a:latin typeface="Microsoft YaHei" panose="020B0503020204020204" pitchFamily="34" charset="-122"/>
                <a:ea typeface="Microsoft YaHei" panose="020B0503020204020204" pitchFamily="34" charset="-122"/>
              </a:rPr>
              <a:t>：图中的</a:t>
            </a:r>
            <a:r>
              <a:rPr lang="zh-CN" altLang="en-US" sz="1600" dirty="0">
                <a:solidFill>
                  <a:srgbClr val="FF0000"/>
                </a:solidFill>
                <a:latin typeface="Microsoft YaHei" panose="020B0503020204020204" pitchFamily="34" charset="-122"/>
                <a:ea typeface="Microsoft YaHei" panose="020B0503020204020204" pitchFamily="34" charset="-122"/>
              </a:rPr>
              <a:t>女人</a:t>
            </a:r>
            <a:r>
              <a:rPr lang="zh-CN" altLang="en-US" sz="1600" dirty="0">
                <a:solidFill>
                  <a:srgbClr val="404040"/>
                </a:solidFill>
                <a:latin typeface="Microsoft YaHei" panose="020B0503020204020204" pitchFamily="34" charset="-122"/>
                <a:ea typeface="Microsoft YaHei" panose="020B0503020204020204" pitchFamily="34" charset="-122"/>
              </a:rPr>
              <a:t>在</a:t>
            </a:r>
            <a:r>
              <a:rPr lang="zh-CN" altLang="en-US" sz="1600" dirty="0">
                <a:solidFill>
                  <a:srgbClr val="00B050"/>
                </a:solidFill>
                <a:latin typeface="Microsoft YaHei" panose="020B0503020204020204" pitchFamily="34" charset="-122"/>
                <a:ea typeface="Microsoft YaHei" panose="020B0503020204020204" pitchFamily="34" charset="-122"/>
              </a:rPr>
              <a:t>看</a:t>
            </a:r>
            <a:r>
              <a:rPr lang="zh-CN" altLang="en-US" sz="1600" dirty="0">
                <a:solidFill>
                  <a:srgbClr val="404040"/>
                </a:solidFill>
                <a:latin typeface="Microsoft YaHei" panose="020B0503020204020204" pitchFamily="34" charset="-122"/>
                <a:ea typeface="Microsoft YaHei" panose="020B0503020204020204" pitchFamily="34" charset="-122"/>
              </a:rPr>
              <a:t>什么？</a:t>
            </a:r>
            <a:endParaRPr lang="zh-CN" altLang="en-US" sz="1600" dirty="0">
              <a:latin typeface="Microsoft YaHei" panose="020B0503020204020204" pitchFamily="34" charset="-122"/>
              <a:ea typeface="Microsoft YaHei" panose="020B0503020204020204" pitchFamily="34" charset="-122"/>
            </a:endParaRPr>
          </a:p>
        </p:txBody>
      </p:sp>
      <p:pic>
        <p:nvPicPr>
          <p:cNvPr id="39" name="图片 38" descr="000000017559">
            <a:extLst>
              <a:ext uri="{FF2B5EF4-FFF2-40B4-BE49-F238E27FC236}">
                <a16:creationId xmlns:a16="http://schemas.microsoft.com/office/drawing/2014/main" id="{9F410ADA-039E-962D-CB09-6FA9F080FD9E}"/>
              </a:ext>
            </a:extLst>
          </p:cNvPr>
          <p:cNvPicPr>
            <a:picLocks noChangeAspect="1"/>
          </p:cNvPicPr>
          <p:nvPr/>
        </p:nvPicPr>
        <p:blipFill>
          <a:blip r:embed="rId3"/>
          <a:stretch>
            <a:fillRect/>
          </a:stretch>
        </p:blipFill>
        <p:spPr>
          <a:xfrm>
            <a:off x="6107246" y="1048166"/>
            <a:ext cx="3150944" cy="2102154"/>
          </a:xfrm>
          <a:prstGeom prst="rect">
            <a:avLst/>
          </a:prstGeom>
        </p:spPr>
      </p:pic>
      <p:grpSp>
        <p:nvGrpSpPr>
          <p:cNvPr id="214" name="组合 213">
            <a:extLst>
              <a:ext uri="{FF2B5EF4-FFF2-40B4-BE49-F238E27FC236}">
                <a16:creationId xmlns:a16="http://schemas.microsoft.com/office/drawing/2014/main" id="{1D505CD2-EC20-3735-FB39-ED267940407A}"/>
              </a:ext>
            </a:extLst>
          </p:cNvPr>
          <p:cNvGrpSpPr/>
          <p:nvPr/>
        </p:nvGrpSpPr>
        <p:grpSpPr>
          <a:xfrm>
            <a:off x="5285834" y="3416904"/>
            <a:ext cx="4793767" cy="2967851"/>
            <a:chOff x="5630766" y="3429000"/>
            <a:chExt cx="4793767" cy="2967851"/>
          </a:xfrm>
        </p:grpSpPr>
        <p:grpSp>
          <p:nvGrpSpPr>
            <p:cNvPr id="215" name="组合 214">
              <a:extLst>
                <a:ext uri="{FF2B5EF4-FFF2-40B4-BE49-F238E27FC236}">
                  <a16:creationId xmlns:a16="http://schemas.microsoft.com/office/drawing/2014/main" id="{B47AFCEB-EF34-9703-C13C-F9A640FE7E0A}"/>
                </a:ext>
              </a:extLst>
            </p:cNvPr>
            <p:cNvGrpSpPr/>
            <p:nvPr/>
          </p:nvGrpSpPr>
          <p:grpSpPr>
            <a:xfrm>
              <a:off x="5630766" y="3429000"/>
              <a:ext cx="4793767" cy="2967851"/>
              <a:chOff x="6355860" y="3284035"/>
              <a:chExt cx="4793767" cy="2967851"/>
            </a:xfrm>
          </p:grpSpPr>
          <p:grpSp>
            <p:nvGrpSpPr>
              <p:cNvPr id="218" name="组合 217">
                <a:extLst>
                  <a:ext uri="{FF2B5EF4-FFF2-40B4-BE49-F238E27FC236}">
                    <a16:creationId xmlns:a16="http://schemas.microsoft.com/office/drawing/2014/main" id="{97079876-4BBE-E890-6F7C-282434948D45}"/>
                  </a:ext>
                </a:extLst>
              </p:cNvPr>
              <p:cNvGrpSpPr/>
              <p:nvPr/>
            </p:nvGrpSpPr>
            <p:grpSpPr>
              <a:xfrm>
                <a:off x="6355860" y="3284035"/>
                <a:ext cx="4793767" cy="2967851"/>
                <a:chOff x="7077027" y="1570376"/>
                <a:chExt cx="4793767" cy="2967851"/>
              </a:xfrm>
            </p:grpSpPr>
            <p:grpSp>
              <p:nvGrpSpPr>
                <p:cNvPr id="226" name="组合 225">
                  <a:extLst>
                    <a:ext uri="{FF2B5EF4-FFF2-40B4-BE49-F238E27FC236}">
                      <a16:creationId xmlns:a16="http://schemas.microsoft.com/office/drawing/2014/main" id="{584AEAEA-1003-BD2F-1817-56188A75BEE4}"/>
                    </a:ext>
                  </a:extLst>
                </p:cNvPr>
                <p:cNvGrpSpPr/>
                <p:nvPr/>
              </p:nvGrpSpPr>
              <p:grpSpPr>
                <a:xfrm>
                  <a:off x="7077027" y="2415511"/>
                  <a:ext cx="4416497" cy="1949281"/>
                  <a:chOff x="6852711" y="2398546"/>
                  <a:chExt cx="4416497" cy="1949281"/>
                </a:xfrm>
              </p:grpSpPr>
              <p:sp>
                <p:nvSpPr>
                  <p:cNvPr id="228" name="椭圆 227">
                    <a:extLst>
                      <a:ext uri="{FF2B5EF4-FFF2-40B4-BE49-F238E27FC236}">
                        <a16:creationId xmlns:a16="http://schemas.microsoft.com/office/drawing/2014/main" id="{6392A070-570D-F95E-0719-AF5DB7474227}"/>
                      </a:ext>
                    </a:extLst>
                  </p:cNvPr>
                  <p:cNvSpPr/>
                  <p:nvPr/>
                </p:nvSpPr>
                <p:spPr>
                  <a:xfrm>
                    <a:off x="8253569" y="2414628"/>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229" name="文本框 228">
                    <a:extLst>
                      <a:ext uri="{FF2B5EF4-FFF2-40B4-BE49-F238E27FC236}">
                        <a16:creationId xmlns:a16="http://schemas.microsoft.com/office/drawing/2014/main" id="{C4F9D8F0-3BBA-2CDD-2D83-E52863950AFC}"/>
                      </a:ext>
                    </a:extLst>
                  </p:cNvPr>
                  <p:cNvSpPr txBox="1"/>
                  <p:nvPr/>
                </p:nvSpPr>
                <p:spPr>
                  <a:xfrm>
                    <a:off x="7610116" y="2398546"/>
                    <a:ext cx="693976" cy="277358"/>
                  </a:xfrm>
                  <a:prstGeom prst="rect">
                    <a:avLst/>
                  </a:prstGeom>
                  <a:noFill/>
                </p:spPr>
                <p:txBody>
                  <a:bodyPr wrap="square" rtlCol="0">
                    <a:noAutofit/>
                  </a:bodyPr>
                  <a:lstStyle/>
                  <a:p>
                    <a:pPr algn="r"/>
                    <a:r>
                      <a:rPr lang="en-US" altLang="zh-CN" sz="1400" b="1" dirty="0">
                        <a:solidFill>
                          <a:srgbClr val="FF0000"/>
                        </a:solidFill>
                        <a:latin typeface="Times New Roman" panose="02020603050405020304" charset="0"/>
                        <a:cs typeface="Times New Roman" panose="02020603050405020304" charset="0"/>
                      </a:rPr>
                      <a:t>object</a:t>
                    </a:r>
                  </a:p>
                </p:txBody>
              </p:sp>
              <p:sp>
                <p:nvSpPr>
                  <p:cNvPr id="230" name="椭圆 229">
                    <a:extLst>
                      <a:ext uri="{FF2B5EF4-FFF2-40B4-BE49-F238E27FC236}">
                        <a16:creationId xmlns:a16="http://schemas.microsoft.com/office/drawing/2014/main" id="{0EE17A40-B084-A77E-6BEB-36E5A6708483}"/>
                      </a:ext>
                    </a:extLst>
                  </p:cNvPr>
                  <p:cNvSpPr/>
                  <p:nvPr/>
                </p:nvSpPr>
                <p:spPr>
                  <a:xfrm>
                    <a:off x="7771126" y="3174818"/>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1" name="椭圆 230">
                    <a:extLst>
                      <a:ext uri="{FF2B5EF4-FFF2-40B4-BE49-F238E27FC236}">
                        <a16:creationId xmlns:a16="http://schemas.microsoft.com/office/drawing/2014/main" id="{B36E0282-A2A9-8001-3F6F-B95E693A5686}"/>
                      </a:ext>
                    </a:extLst>
                  </p:cNvPr>
                  <p:cNvSpPr/>
                  <p:nvPr/>
                </p:nvSpPr>
                <p:spPr>
                  <a:xfrm>
                    <a:off x="8811212" y="318302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2" name="椭圆 231">
                    <a:extLst>
                      <a:ext uri="{FF2B5EF4-FFF2-40B4-BE49-F238E27FC236}">
                        <a16:creationId xmlns:a16="http://schemas.microsoft.com/office/drawing/2014/main" id="{E0E018D3-139B-6305-75B4-04526DC9AD46}"/>
                      </a:ext>
                    </a:extLst>
                  </p:cNvPr>
                  <p:cNvSpPr/>
                  <p:nvPr/>
                </p:nvSpPr>
                <p:spPr>
                  <a:xfrm>
                    <a:off x="9873375" y="3189877"/>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3" name="文本框 232">
                    <a:extLst>
                      <a:ext uri="{FF2B5EF4-FFF2-40B4-BE49-F238E27FC236}">
                        <a16:creationId xmlns:a16="http://schemas.microsoft.com/office/drawing/2014/main" id="{20DC345D-9B7D-4E16-299D-6A9E0101B775}"/>
                      </a:ext>
                    </a:extLst>
                  </p:cNvPr>
                  <p:cNvSpPr txBox="1"/>
                  <p:nvPr/>
                </p:nvSpPr>
                <p:spPr>
                  <a:xfrm>
                    <a:off x="9439287" y="3285409"/>
                    <a:ext cx="993444" cy="30638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pavement</a:t>
                    </a:r>
                  </a:p>
                </p:txBody>
              </p:sp>
              <p:sp>
                <p:nvSpPr>
                  <p:cNvPr id="234" name="文本框 233">
                    <a:extLst>
                      <a:ext uri="{FF2B5EF4-FFF2-40B4-BE49-F238E27FC236}">
                        <a16:creationId xmlns:a16="http://schemas.microsoft.com/office/drawing/2014/main" id="{877892B3-1B14-F9F5-E9DC-C685EA9CAC73}"/>
                      </a:ext>
                    </a:extLst>
                  </p:cNvPr>
                  <p:cNvSpPr txBox="1"/>
                  <p:nvPr/>
                </p:nvSpPr>
                <p:spPr>
                  <a:xfrm>
                    <a:off x="8437099" y="3298869"/>
                    <a:ext cx="784208"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bench</a:t>
                    </a:r>
                  </a:p>
                </p:txBody>
              </p:sp>
              <p:sp>
                <p:nvSpPr>
                  <p:cNvPr id="235" name="文本框 234">
                    <a:extLst>
                      <a:ext uri="{FF2B5EF4-FFF2-40B4-BE49-F238E27FC236}">
                        <a16:creationId xmlns:a16="http://schemas.microsoft.com/office/drawing/2014/main" id="{93161D4B-CA8E-65B7-23F0-33BAB75C0093}"/>
                      </a:ext>
                    </a:extLst>
                  </p:cNvPr>
                  <p:cNvSpPr txBox="1"/>
                  <p:nvPr/>
                </p:nvSpPr>
                <p:spPr>
                  <a:xfrm>
                    <a:off x="7030888" y="3099862"/>
                    <a:ext cx="784208" cy="268726"/>
                  </a:xfrm>
                  <a:prstGeom prst="rect">
                    <a:avLst/>
                  </a:prstGeom>
                  <a:noFill/>
                </p:spPr>
                <p:txBody>
                  <a:bodyPr wrap="square" rtlCol="0">
                    <a:noAutofit/>
                  </a:bodyPr>
                  <a:lstStyle/>
                  <a:p>
                    <a:pPr algn="r"/>
                    <a:r>
                      <a:rPr lang="en-US" altLang="zh-CN" sz="1400" b="1" dirty="0">
                        <a:solidFill>
                          <a:srgbClr val="FF0000"/>
                        </a:solidFill>
                        <a:latin typeface="Times New Roman" panose="02020603050405020304" charset="0"/>
                        <a:cs typeface="Times New Roman" panose="02020603050405020304" charset="0"/>
                      </a:rPr>
                      <a:t>woman</a:t>
                    </a:r>
                  </a:p>
                </p:txBody>
              </p:sp>
              <p:sp>
                <p:nvSpPr>
                  <p:cNvPr id="236" name="椭圆 235">
                    <a:extLst>
                      <a:ext uri="{FF2B5EF4-FFF2-40B4-BE49-F238E27FC236}">
                        <a16:creationId xmlns:a16="http://schemas.microsoft.com/office/drawing/2014/main" id="{5327E38F-1647-748C-10AE-6E037630A0AD}"/>
                      </a:ext>
                    </a:extLst>
                  </p:cNvPr>
                  <p:cNvSpPr/>
                  <p:nvPr/>
                </p:nvSpPr>
                <p:spPr>
                  <a:xfrm>
                    <a:off x="7393574" y="401762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7" name="椭圆 236">
                    <a:extLst>
                      <a:ext uri="{FF2B5EF4-FFF2-40B4-BE49-F238E27FC236}">
                        <a16:creationId xmlns:a16="http://schemas.microsoft.com/office/drawing/2014/main" id="{4B5D3EE5-EFB0-AC86-167B-C881EE15AC62}"/>
                      </a:ext>
                    </a:extLst>
                  </p:cNvPr>
                  <p:cNvSpPr/>
                  <p:nvPr/>
                </p:nvSpPr>
                <p:spPr>
                  <a:xfrm>
                    <a:off x="8201271" y="401762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8" name="椭圆 237">
                    <a:extLst>
                      <a:ext uri="{FF2B5EF4-FFF2-40B4-BE49-F238E27FC236}">
                        <a16:creationId xmlns:a16="http://schemas.microsoft.com/office/drawing/2014/main" id="{516F5119-EC82-3B49-C7A1-839C7A9D71F4}"/>
                      </a:ext>
                    </a:extLst>
                  </p:cNvPr>
                  <p:cNvSpPr/>
                  <p:nvPr/>
                </p:nvSpPr>
                <p:spPr>
                  <a:xfrm>
                    <a:off x="10861591" y="3189877"/>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39" name="文本框 238">
                    <a:extLst>
                      <a:ext uri="{FF2B5EF4-FFF2-40B4-BE49-F238E27FC236}">
                        <a16:creationId xmlns:a16="http://schemas.microsoft.com/office/drawing/2014/main" id="{A38A8B0F-FD6E-B8D2-893E-990D798AC3D5}"/>
                      </a:ext>
                    </a:extLst>
                  </p:cNvPr>
                  <p:cNvSpPr txBox="1"/>
                  <p:nvPr/>
                </p:nvSpPr>
                <p:spPr>
                  <a:xfrm>
                    <a:off x="10628897" y="3290035"/>
                    <a:ext cx="640311"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grass</a:t>
                    </a:r>
                  </a:p>
                </p:txBody>
              </p:sp>
              <p:sp>
                <p:nvSpPr>
                  <p:cNvPr id="240" name="文本框 239">
                    <a:extLst>
                      <a:ext uri="{FF2B5EF4-FFF2-40B4-BE49-F238E27FC236}">
                        <a16:creationId xmlns:a16="http://schemas.microsoft.com/office/drawing/2014/main" id="{02A9229D-CB1F-FF7F-0448-C734D125CBE6}"/>
                      </a:ext>
                    </a:extLst>
                  </p:cNvPr>
                  <p:cNvSpPr txBox="1"/>
                  <p:nvPr/>
                </p:nvSpPr>
                <p:spPr>
                  <a:xfrm>
                    <a:off x="7779558" y="4070469"/>
                    <a:ext cx="965423"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handbag</a:t>
                    </a:r>
                  </a:p>
                </p:txBody>
              </p:sp>
              <p:sp>
                <p:nvSpPr>
                  <p:cNvPr id="241" name="文本框 240">
                    <a:extLst>
                      <a:ext uri="{FF2B5EF4-FFF2-40B4-BE49-F238E27FC236}">
                        <a16:creationId xmlns:a16="http://schemas.microsoft.com/office/drawing/2014/main" id="{39C083D5-93F4-0006-CAC1-7573C6FE27A0}"/>
                      </a:ext>
                    </a:extLst>
                  </p:cNvPr>
                  <p:cNvSpPr txBox="1"/>
                  <p:nvPr/>
                </p:nvSpPr>
                <p:spPr>
                  <a:xfrm>
                    <a:off x="6852711" y="4062898"/>
                    <a:ext cx="1017913" cy="268727"/>
                  </a:xfrm>
                  <a:prstGeom prst="rect">
                    <a:avLst/>
                  </a:prstGeom>
                  <a:noFill/>
                </p:spPr>
                <p:txBody>
                  <a:bodyPr wrap="square" rtlCol="0">
                    <a:noAutofit/>
                  </a:bodyPr>
                  <a:lstStyle/>
                  <a:p>
                    <a:pPr algn="r"/>
                    <a:r>
                      <a:rPr lang="en-US" altLang="zh-CN" sz="1400" b="1" dirty="0">
                        <a:solidFill>
                          <a:srgbClr val="FF0000"/>
                        </a:solidFill>
                        <a:latin typeface="Times New Roman" panose="02020603050405020304" charset="0"/>
                        <a:cs typeface="Times New Roman" panose="02020603050405020304" charset="0"/>
                      </a:rPr>
                      <a:t>magazine</a:t>
                    </a:r>
                  </a:p>
                </p:txBody>
              </p:sp>
              <p:cxnSp>
                <p:nvCxnSpPr>
                  <p:cNvPr id="242" name="直接箭头连接符 241">
                    <a:extLst>
                      <a:ext uri="{FF2B5EF4-FFF2-40B4-BE49-F238E27FC236}">
                        <a16:creationId xmlns:a16="http://schemas.microsoft.com/office/drawing/2014/main" id="{731F5BB6-F2D1-9436-51A7-9C8A6E3CF9EC}"/>
                      </a:ext>
                    </a:extLst>
                  </p:cNvPr>
                  <p:cNvCxnSpPr>
                    <a:cxnSpLocks/>
                    <a:stCxn id="228" idx="3"/>
                    <a:endCxn id="230" idx="7"/>
                  </p:cNvCxnSpPr>
                  <p:nvPr/>
                </p:nvCxnSpPr>
                <p:spPr>
                  <a:xfrm flipH="1">
                    <a:off x="7929857" y="2651368"/>
                    <a:ext cx="363964" cy="550416"/>
                  </a:xfrm>
                  <a:prstGeom prst="straightConnector1">
                    <a:avLst/>
                  </a:prstGeom>
                  <a:ln>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243" name="直接箭头连接符 242">
                    <a:extLst>
                      <a:ext uri="{FF2B5EF4-FFF2-40B4-BE49-F238E27FC236}">
                        <a16:creationId xmlns:a16="http://schemas.microsoft.com/office/drawing/2014/main" id="{486B7101-AFE5-724F-BA92-1FDD36C223EE}"/>
                      </a:ext>
                    </a:extLst>
                  </p:cNvPr>
                  <p:cNvCxnSpPr>
                    <a:cxnSpLocks/>
                    <a:stCxn id="228" idx="5"/>
                    <a:endCxn id="231" idx="0"/>
                  </p:cNvCxnSpPr>
                  <p:nvPr/>
                </p:nvCxnSpPr>
                <p:spPr>
                  <a:xfrm>
                    <a:off x="8488172" y="2651368"/>
                    <a:ext cx="416023" cy="53165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4" name="直接箭头连接符 243">
                    <a:extLst>
                      <a:ext uri="{FF2B5EF4-FFF2-40B4-BE49-F238E27FC236}">
                        <a16:creationId xmlns:a16="http://schemas.microsoft.com/office/drawing/2014/main" id="{0129E980-A8A6-A6D0-62BB-33FAEA90DCFE}"/>
                      </a:ext>
                    </a:extLst>
                  </p:cNvPr>
                  <p:cNvCxnSpPr>
                    <a:cxnSpLocks/>
                    <a:stCxn id="230" idx="6"/>
                    <a:endCxn id="231" idx="2"/>
                  </p:cNvCxnSpPr>
                  <p:nvPr/>
                </p:nvCxnSpPr>
                <p:spPr>
                  <a:xfrm>
                    <a:off x="7957091" y="3266887"/>
                    <a:ext cx="854121" cy="820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5" name="直接箭头连接符 244">
                    <a:extLst>
                      <a:ext uri="{FF2B5EF4-FFF2-40B4-BE49-F238E27FC236}">
                        <a16:creationId xmlns:a16="http://schemas.microsoft.com/office/drawing/2014/main" id="{F58A24C3-FBCE-B080-C830-A0BBC8A3C160}"/>
                      </a:ext>
                    </a:extLst>
                  </p:cNvPr>
                  <p:cNvCxnSpPr>
                    <a:cxnSpLocks/>
                    <a:stCxn id="221" idx="3"/>
                    <a:endCxn id="232" idx="0"/>
                  </p:cNvCxnSpPr>
                  <p:nvPr/>
                </p:nvCxnSpPr>
                <p:spPr>
                  <a:xfrm flipH="1">
                    <a:off x="9966358" y="2651500"/>
                    <a:ext cx="396931" cy="538377"/>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6" name="直接箭头连接符 245">
                    <a:extLst>
                      <a:ext uri="{FF2B5EF4-FFF2-40B4-BE49-F238E27FC236}">
                        <a16:creationId xmlns:a16="http://schemas.microsoft.com/office/drawing/2014/main" id="{BBCD7AE7-D275-230A-20E8-9AA0D7460F56}"/>
                      </a:ext>
                    </a:extLst>
                  </p:cNvPr>
                  <p:cNvCxnSpPr>
                    <a:cxnSpLocks/>
                    <a:stCxn id="231" idx="6"/>
                    <a:endCxn id="232" idx="2"/>
                  </p:cNvCxnSpPr>
                  <p:nvPr/>
                </p:nvCxnSpPr>
                <p:spPr>
                  <a:xfrm>
                    <a:off x="8997177" y="3275095"/>
                    <a:ext cx="876198" cy="685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7" name="直接箭头连接符 246">
                    <a:extLst>
                      <a:ext uri="{FF2B5EF4-FFF2-40B4-BE49-F238E27FC236}">
                        <a16:creationId xmlns:a16="http://schemas.microsoft.com/office/drawing/2014/main" id="{5F6F2B6A-B1C1-A189-BF71-E12A9532AC29}"/>
                      </a:ext>
                    </a:extLst>
                  </p:cNvPr>
                  <p:cNvCxnSpPr>
                    <a:cxnSpLocks/>
                    <a:stCxn id="238" idx="2"/>
                    <a:endCxn id="232" idx="6"/>
                  </p:cNvCxnSpPr>
                  <p:nvPr/>
                </p:nvCxnSpPr>
                <p:spPr>
                  <a:xfrm flipH="1">
                    <a:off x="10059340" y="3281946"/>
                    <a:ext cx="802251" cy="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48" name="直接箭头连接符 247">
                    <a:extLst>
                      <a:ext uri="{FF2B5EF4-FFF2-40B4-BE49-F238E27FC236}">
                        <a16:creationId xmlns:a16="http://schemas.microsoft.com/office/drawing/2014/main" id="{DA6E9BEB-A4D3-14E1-E6BC-C08BFCC330A7}"/>
                      </a:ext>
                    </a:extLst>
                  </p:cNvPr>
                  <p:cNvCxnSpPr>
                    <a:cxnSpLocks/>
                    <a:stCxn id="230" idx="3"/>
                    <a:endCxn id="236" idx="0"/>
                  </p:cNvCxnSpPr>
                  <p:nvPr/>
                </p:nvCxnSpPr>
                <p:spPr>
                  <a:xfrm flipH="1">
                    <a:off x="7464335" y="3331990"/>
                    <a:ext cx="334025" cy="685630"/>
                  </a:xfrm>
                  <a:prstGeom prst="straightConnector1">
                    <a:avLst/>
                  </a:prstGeom>
                  <a:ln>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249" name="直接箭头连接符 248">
                    <a:extLst>
                      <a:ext uri="{FF2B5EF4-FFF2-40B4-BE49-F238E27FC236}">
                        <a16:creationId xmlns:a16="http://schemas.microsoft.com/office/drawing/2014/main" id="{88FD199C-13F6-187E-136D-F3695B6F592D}"/>
                      </a:ext>
                    </a:extLst>
                  </p:cNvPr>
                  <p:cNvCxnSpPr>
                    <a:cxnSpLocks/>
                    <a:stCxn id="236" idx="6"/>
                    <a:endCxn id="237" idx="2"/>
                  </p:cNvCxnSpPr>
                  <p:nvPr/>
                </p:nvCxnSpPr>
                <p:spPr>
                  <a:xfrm>
                    <a:off x="7535095" y="4088398"/>
                    <a:ext cx="666176" cy="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250" name="文本框 249">
                    <a:extLst>
                      <a:ext uri="{FF2B5EF4-FFF2-40B4-BE49-F238E27FC236}">
                        <a16:creationId xmlns:a16="http://schemas.microsoft.com/office/drawing/2014/main" id="{49AEC36F-B307-299D-A7CE-E54B85245E32}"/>
                      </a:ext>
                    </a:extLst>
                  </p:cNvPr>
                  <p:cNvSpPr txBox="1"/>
                  <p:nvPr/>
                </p:nvSpPr>
                <p:spPr>
                  <a:xfrm>
                    <a:off x="7676616" y="3890124"/>
                    <a:ext cx="43016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a:t>
                    </a:r>
                    <a:endParaRPr lang="zh-CN" altLang="en-US" sz="1200" dirty="0">
                      <a:latin typeface="Times New Roman" panose="02020603050405020304" pitchFamily="18" charset="0"/>
                      <a:cs typeface="Times New Roman" panose="02020603050405020304" pitchFamily="18" charset="0"/>
                    </a:endParaRPr>
                  </a:p>
                </p:txBody>
              </p:sp>
              <p:sp>
                <p:nvSpPr>
                  <p:cNvPr id="251" name="文本框 250">
                    <a:extLst>
                      <a:ext uri="{FF2B5EF4-FFF2-40B4-BE49-F238E27FC236}">
                        <a16:creationId xmlns:a16="http://schemas.microsoft.com/office/drawing/2014/main" id="{3520697A-984A-346A-EC32-2CB30B07DB29}"/>
                      </a:ext>
                    </a:extLst>
                  </p:cNvPr>
                  <p:cNvSpPr txBox="1"/>
                  <p:nvPr/>
                </p:nvSpPr>
                <p:spPr>
                  <a:xfrm>
                    <a:off x="10092186" y="3059722"/>
                    <a:ext cx="911932"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attached</a:t>
                    </a:r>
                    <a:r>
                      <a:rPr lang="en-US" altLang="zh-CN" sz="1200" dirty="0">
                        <a:solidFill>
                          <a:schemeClr val="bg2">
                            <a:lumMod val="50000"/>
                          </a:schemeClr>
                        </a:solidFill>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to</a:t>
                    </a:r>
                    <a:endParaRPr lang="zh-CN" altLang="en-US" sz="1200" dirty="0">
                      <a:latin typeface="Times New Roman" panose="02020603050405020304" pitchFamily="18" charset="0"/>
                      <a:cs typeface="Times New Roman" panose="02020603050405020304" pitchFamily="18" charset="0"/>
                    </a:endParaRPr>
                  </a:p>
                </p:txBody>
              </p:sp>
              <p:sp>
                <p:nvSpPr>
                  <p:cNvPr id="252" name="文本框 251">
                    <a:extLst>
                      <a:ext uri="{FF2B5EF4-FFF2-40B4-BE49-F238E27FC236}">
                        <a16:creationId xmlns:a16="http://schemas.microsoft.com/office/drawing/2014/main" id="{06CA4332-06B5-1708-01FC-2028F4BD23DE}"/>
                      </a:ext>
                    </a:extLst>
                  </p:cNvPr>
                  <p:cNvSpPr txBox="1"/>
                  <p:nvPr/>
                </p:nvSpPr>
                <p:spPr>
                  <a:xfrm>
                    <a:off x="7964156" y="3029108"/>
                    <a:ext cx="934504"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leaning on</a:t>
                    </a:r>
                    <a:endParaRPr lang="zh-CN" altLang="en-US" sz="1200" dirty="0">
                      <a:latin typeface="Times New Roman" panose="02020603050405020304" pitchFamily="18" charset="0"/>
                      <a:cs typeface="Times New Roman" panose="02020603050405020304" pitchFamily="18" charset="0"/>
                    </a:endParaRPr>
                  </a:p>
                </p:txBody>
              </p:sp>
              <p:sp>
                <p:nvSpPr>
                  <p:cNvPr id="253" name="文本框 252">
                    <a:extLst>
                      <a:ext uri="{FF2B5EF4-FFF2-40B4-BE49-F238E27FC236}">
                        <a16:creationId xmlns:a16="http://schemas.microsoft.com/office/drawing/2014/main" id="{954656D4-0B3A-5A14-CFE5-9E40DDB5C4D6}"/>
                      </a:ext>
                    </a:extLst>
                  </p:cNvPr>
                  <p:cNvSpPr txBox="1"/>
                  <p:nvPr/>
                </p:nvSpPr>
                <p:spPr>
                  <a:xfrm>
                    <a:off x="9229871" y="3044526"/>
                    <a:ext cx="467252"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a:t>
                    </a:r>
                    <a:endParaRPr lang="zh-CN" altLang="en-US" sz="1200" dirty="0">
                      <a:latin typeface="Times New Roman" panose="02020603050405020304" pitchFamily="18" charset="0"/>
                      <a:cs typeface="Times New Roman" panose="02020603050405020304" pitchFamily="18" charset="0"/>
                    </a:endParaRPr>
                  </a:p>
                </p:txBody>
              </p:sp>
              <p:sp>
                <p:nvSpPr>
                  <p:cNvPr id="254" name="文本框 253">
                    <a:extLst>
                      <a:ext uri="{FF2B5EF4-FFF2-40B4-BE49-F238E27FC236}">
                        <a16:creationId xmlns:a16="http://schemas.microsoft.com/office/drawing/2014/main" id="{857DD7F0-7C45-D5DF-9D9D-544B999B4096}"/>
                      </a:ext>
                    </a:extLst>
                  </p:cNvPr>
                  <p:cNvSpPr txBox="1"/>
                  <p:nvPr/>
                </p:nvSpPr>
                <p:spPr>
                  <a:xfrm>
                    <a:off x="7038419" y="3479559"/>
                    <a:ext cx="673458" cy="276999"/>
                  </a:xfrm>
                  <a:prstGeom prst="rect">
                    <a:avLst/>
                  </a:prstGeom>
                  <a:noFill/>
                </p:spPr>
                <p:txBody>
                  <a:bodyPr wrap="square" rtlCol="0">
                    <a:spAutoFit/>
                  </a:bodyPr>
                  <a:lstStyle/>
                  <a:p>
                    <a:r>
                      <a:rPr lang="en-US" altLang="zh-CN" sz="1200" dirty="0">
                        <a:solidFill>
                          <a:srgbClr val="FF0000"/>
                        </a:solidFill>
                        <a:latin typeface="Times New Roman" panose="02020603050405020304" pitchFamily="18" charset="0"/>
                        <a:cs typeface="Times New Roman" panose="02020603050405020304" pitchFamily="18" charset="0"/>
                      </a:rPr>
                      <a:t>reading</a:t>
                    </a:r>
                    <a:endParaRPr lang="zh-CN" altLang="en-US" sz="1200" dirty="0">
                      <a:solidFill>
                        <a:srgbClr val="FF0000"/>
                      </a:solidFill>
                      <a:latin typeface="Times New Roman" panose="02020603050405020304" pitchFamily="18" charset="0"/>
                      <a:cs typeface="Times New Roman" panose="02020603050405020304" pitchFamily="18" charset="0"/>
                    </a:endParaRPr>
                  </a:p>
                </p:txBody>
              </p:sp>
            </p:grpSp>
            <p:sp>
              <p:nvSpPr>
                <p:cNvPr id="227" name="矩形 226">
                  <a:extLst>
                    <a:ext uri="{FF2B5EF4-FFF2-40B4-BE49-F238E27FC236}">
                      <a16:creationId xmlns:a16="http://schemas.microsoft.com/office/drawing/2014/main" id="{12FB8C93-8B6B-698D-C96F-701BB6B5E973}"/>
                    </a:ext>
                  </a:extLst>
                </p:cNvPr>
                <p:cNvSpPr/>
                <p:nvPr/>
              </p:nvSpPr>
              <p:spPr>
                <a:xfrm>
                  <a:off x="7182221" y="1570376"/>
                  <a:ext cx="4688573" cy="2967851"/>
                </a:xfrm>
                <a:prstGeom prst="rect">
                  <a:avLst/>
                </a:prstGeom>
                <a:noFill/>
                <a:ln>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9" name="椭圆 218">
                <a:extLst>
                  <a:ext uri="{FF2B5EF4-FFF2-40B4-BE49-F238E27FC236}">
                    <a16:creationId xmlns:a16="http://schemas.microsoft.com/office/drawing/2014/main" id="{26A1CDC9-C5D8-4C47-F2C6-C5881F7382D9}"/>
                  </a:ext>
                </a:extLst>
              </p:cNvPr>
              <p:cNvSpPr/>
              <p:nvPr/>
            </p:nvSpPr>
            <p:spPr>
              <a:xfrm>
                <a:off x="8790363" y="35410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220" name="文本框 219">
                <a:extLst>
                  <a:ext uri="{FF2B5EF4-FFF2-40B4-BE49-F238E27FC236}">
                    <a16:creationId xmlns:a16="http://schemas.microsoft.com/office/drawing/2014/main" id="{EAA08C98-705B-49B2-6F82-E83999F7F20C}"/>
                  </a:ext>
                </a:extLst>
              </p:cNvPr>
              <p:cNvSpPr txBox="1"/>
              <p:nvPr/>
            </p:nvSpPr>
            <p:spPr>
              <a:xfrm>
                <a:off x="8488186" y="3284035"/>
                <a:ext cx="693976" cy="277358"/>
              </a:xfrm>
              <a:prstGeom prst="rect">
                <a:avLst/>
              </a:prstGeom>
              <a:noFill/>
            </p:spPr>
            <p:txBody>
              <a:bodyPr wrap="square" rtlCol="0">
                <a:noAutofit/>
              </a:bodyPr>
              <a:lstStyle/>
              <a:p>
                <a:pPr algn="r"/>
                <a:r>
                  <a:rPr lang="en-US" altLang="zh-CN" sz="1400" b="1" dirty="0">
                    <a:solidFill>
                      <a:srgbClr val="FF0000"/>
                    </a:solidFill>
                    <a:latin typeface="Times New Roman" panose="02020603050405020304" charset="0"/>
                    <a:cs typeface="Times New Roman" panose="02020603050405020304" charset="0"/>
                  </a:rPr>
                  <a:t>park</a:t>
                </a:r>
              </a:p>
            </p:txBody>
          </p:sp>
          <p:sp>
            <p:nvSpPr>
              <p:cNvPr id="221" name="椭圆 220">
                <a:extLst>
                  <a:ext uri="{FF2B5EF4-FFF2-40B4-BE49-F238E27FC236}">
                    <a16:creationId xmlns:a16="http://schemas.microsoft.com/office/drawing/2014/main" id="{6009EC06-8703-B074-A934-E7EDEAB89174}"/>
                  </a:ext>
                </a:extLst>
              </p:cNvPr>
              <p:cNvSpPr/>
              <p:nvPr/>
            </p:nvSpPr>
            <p:spPr>
              <a:xfrm>
                <a:off x="9826186" y="41453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222" name="文本框 221">
                <a:extLst>
                  <a:ext uri="{FF2B5EF4-FFF2-40B4-BE49-F238E27FC236}">
                    <a16:creationId xmlns:a16="http://schemas.microsoft.com/office/drawing/2014/main" id="{08B8213F-A6D4-06B2-4726-37B1F50DC6E9}"/>
                  </a:ext>
                </a:extLst>
              </p:cNvPr>
              <p:cNvSpPr txBox="1"/>
              <p:nvPr/>
            </p:nvSpPr>
            <p:spPr>
              <a:xfrm>
                <a:off x="10013510" y="4102561"/>
                <a:ext cx="113378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background</a:t>
                </a:r>
              </a:p>
            </p:txBody>
          </p:sp>
          <p:cxnSp>
            <p:nvCxnSpPr>
              <p:cNvPr id="223" name="直接箭头连接符 222">
                <a:extLst>
                  <a:ext uri="{FF2B5EF4-FFF2-40B4-BE49-F238E27FC236}">
                    <a16:creationId xmlns:a16="http://schemas.microsoft.com/office/drawing/2014/main" id="{EE0F1B0A-10AE-9E4C-B6DE-CD8078F57EA4}"/>
                  </a:ext>
                </a:extLst>
              </p:cNvPr>
              <p:cNvCxnSpPr>
                <a:cxnSpLocks/>
                <a:stCxn id="219" idx="3"/>
                <a:endCxn id="228" idx="7"/>
              </p:cNvCxnSpPr>
              <p:nvPr/>
            </p:nvCxnSpPr>
            <p:spPr>
              <a:xfrm flipH="1">
                <a:off x="7991321" y="3777824"/>
                <a:ext cx="839294" cy="408046"/>
              </a:xfrm>
              <a:prstGeom prst="straightConnector1">
                <a:avLst/>
              </a:prstGeom>
              <a:ln>
                <a:solidFill>
                  <a:srgbClr val="FF0000"/>
                </a:solidFill>
                <a:tailEnd type="triangle"/>
              </a:ln>
            </p:spPr>
            <p:style>
              <a:lnRef idx="1">
                <a:schemeClr val="accent3"/>
              </a:lnRef>
              <a:fillRef idx="0">
                <a:schemeClr val="accent3"/>
              </a:fillRef>
              <a:effectRef idx="0">
                <a:schemeClr val="accent3"/>
              </a:effectRef>
              <a:fontRef idx="minor">
                <a:schemeClr val="tx1"/>
              </a:fontRef>
            </p:style>
          </p:cxnSp>
          <p:cxnSp>
            <p:nvCxnSpPr>
              <p:cNvPr id="224" name="直接箭头连接符 223">
                <a:extLst>
                  <a:ext uri="{FF2B5EF4-FFF2-40B4-BE49-F238E27FC236}">
                    <a16:creationId xmlns:a16="http://schemas.microsoft.com/office/drawing/2014/main" id="{5044BFF3-112E-FAF4-F530-A8C46CCA1B47}"/>
                  </a:ext>
                </a:extLst>
              </p:cNvPr>
              <p:cNvCxnSpPr>
                <a:cxnSpLocks/>
                <a:stCxn id="219" idx="5"/>
                <a:endCxn id="221" idx="1"/>
              </p:cNvCxnSpPr>
              <p:nvPr/>
            </p:nvCxnSpPr>
            <p:spPr>
              <a:xfrm>
                <a:off x="9024966" y="3777824"/>
                <a:ext cx="841472" cy="40817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25" name="直接箭头连接符 224">
                <a:extLst>
                  <a:ext uri="{FF2B5EF4-FFF2-40B4-BE49-F238E27FC236}">
                    <a16:creationId xmlns:a16="http://schemas.microsoft.com/office/drawing/2014/main" id="{D8E5002C-AE5F-F432-964B-62F2F4272679}"/>
                  </a:ext>
                </a:extLst>
              </p:cNvPr>
              <p:cNvCxnSpPr>
                <a:cxnSpLocks/>
                <a:stCxn id="221" idx="5"/>
                <a:endCxn id="238" idx="0"/>
              </p:cNvCxnSpPr>
              <p:nvPr/>
            </p:nvCxnSpPr>
            <p:spPr>
              <a:xfrm>
                <a:off x="10060789" y="4382124"/>
                <a:ext cx="396934" cy="538377"/>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cxnSp>
          <p:nvCxnSpPr>
            <p:cNvPr id="216" name="直接箭头连接符 215">
              <a:extLst>
                <a:ext uri="{FF2B5EF4-FFF2-40B4-BE49-F238E27FC236}">
                  <a16:creationId xmlns:a16="http://schemas.microsoft.com/office/drawing/2014/main" id="{A16738E3-3812-FA57-4036-8AE1525982B7}"/>
                </a:ext>
              </a:extLst>
            </p:cNvPr>
            <p:cNvCxnSpPr>
              <a:cxnSpLocks/>
              <a:stCxn id="230" idx="5"/>
              <a:endCxn id="237" idx="0"/>
            </p:cNvCxnSpPr>
            <p:nvPr/>
          </p:nvCxnSpPr>
          <p:spPr>
            <a:xfrm>
              <a:off x="6707912" y="5207579"/>
              <a:ext cx="342175" cy="68563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217" name="文本框 216">
              <a:extLst>
                <a:ext uri="{FF2B5EF4-FFF2-40B4-BE49-F238E27FC236}">
                  <a16:creationId xmlns:a16="http://schemas.microsoft.com/office/drawing/2014/main" id="{50120BF6-2FEA-DABE-48F6-4D7E09CEBECB}"/>
                </a:ext>
              </a:extLst>
            </p:cNvPr>
            <p:cNvSpPr txBox="1"/>
            <p:nvPr/>
          </p:nvSpPr>
          <p:spPr>
            <a:xfrm>
              <a:off x="6803333" y="5348299"/>
              <a:ext cx="67345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support</a:t>
              </a:r>
              <a:endParaRPr lang="zh-CN" altLang="en-US" sz="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05408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DDA76-863A-F8CD-14E4-51AC8D93686D}"/>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9693517C-D20F-9FD8-8C8F-7B141332453C}"/>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6.</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评价：判断场景图质量</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83737A50-945F-6686-EFFB-AB93BFEFC854}"/>
              </a:ext>
            </a:extLst>
          </p:cNvPr>
          <p:cNvSpPr txBox="1"/>
          <p:nvPr/>
        </p:nvSpPr>
        <p:spPr>
          <a:xfrm>
            <a:off x="600891" y="1700808"/>
            <a:ext cx="10369154" cy="3957622"/>
          </a:xfrm>
          <a:prstGeom prst="rect">
            <a:avLst/>
          </a:prstGeom>
          <a:noFill/>
        </p:spPr>
        <p:txBody>
          <a:bodyPr wrap="square">
            <a:spAutoFit/>
          </a:bodyPr>
          <a:lstStyle/>
          <a:p>
            <a:pPr marL="800100" lvl="1" indent="-342900" algn="just">
              <a:lnSpc>
                <a:spcPct val="200000"/>
              </a:lnSpc>
              <a:buAutoNum type="arabicPeriod"/>
            </a:pPr>
            <a:r>
              <a:rPr lang="zh-CN" altLang="en-US" sz="1600" b="1" i="0" dirty="0">
                <a:solidFill>
                  <a:srgbClr val="404040"/>
                </a:solidFill>
                <a:effectLst/>
                <a:latin typeface="Microsoft YaHei" panose="020B0503020204020204" pitchFamily="34" charset="-122"/>
                <a:ea typeface="Microsoft YaHei" panose="020B0503020204020204" pitchFamily="34" charset="-122"/>
              </a:rPr>
              <a:t>语义准确性</a:t>
            </a:r>
            <a:r>
              <a:rPr lang="zh-CN" altLang="en-US" sz="1600" i="0" dirty="0">
                <a:solidFill>
                  <a:srgbClr val="404040"/>
                </a:solidFill>
                <a:effectLst/>
                <a:latin typeface="Microsoft YaHei" panose="020B0503020204020204" pitchFamily="34" charset="-122"/>
                <a:ea typeface="Microsoft YaHei" panose="020B0503020204020204" pitchFamily="34" charset="-122"/>
              </a:rPr>
              <a:t>：判断场景图中的每个对象、属性和关系是否真实反映图像内容。</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lvl="1"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例如：图中是“狗</a:t>
            </a:r>
            <a:r>
              <a:rPr lang="en-US" altLang="zh-CN" sz="1600" dirty="0">
                <a:solidFill>
                  <a:srgbClr val="404040"/>
                </a:solidFill>
                <a:latin typeface="Microsoft YaHei" panose="020B0503020204020204" pitchFamily="34" charset="-122"/>
                <a:ea typeface="Microsoft YaHei" panose="020B0503020204020204" pitchFamily="34" charset="-122"/>
              </a:rPr>
              <a:t>-</a:t>
            </a:r>
            <a:r>
              <a:rPr lang="zh-CN" altLang="en-US" sz="1600" dirty="0">
                <a:solidFill>
                  <a:srgbClr val="404040"/>
                </a:solidFill>
                <a:latin typeface="Microsoft YaHei" panose="020B0503020204020204" pitchFamily="34" charset="-122"/>
                <a:ea typeface="Microsoft YaHei" panose="020B0503020204020204" pitchFamily="34" charset="-122"/>
              </a:rPr>
              <a:t>在</a:t>
            </a:r>
            <a:r>
              <a:rPr lang="en-US" altLang="zh-CN" sz="1600" dirty="0">
                <a:solidFill>
                  <a:srgbClr val="404040"/>
                </a:solidFill>
                <a:latin typeface="Microsoft YaHei" panose="020B0503020204020204" pitchFamily="34" charset="-122"/>
                <a:ea typeface="Microsoft YaHei" panose="020B0503020204020204" pitchFamily="34" charset="-122"/>
              </a:rPr>
              <a:t>-</a:t>
            </a:r>
            <a:r>
              <a:rPr lang="zh-CN" altLang="en-US" sz="1600" dirty="0">
                <a:solidFill>
                  <a:srgbClr val="404040"/>
                </a:solidFill>
                <a:latin typeface="Microsoft YaHei" panose="020B0503020204020204" pitchFamily="34" charset="-122"/>
                <a:ea typeface="Microsoft YaHei" panose="020B0503020204020204" pitchFamily="34" charset="-122"/>
              </a:rPr>
              <a:t>睡觉”，而场景图标为“狗</a:t>
            </a:r>
            <a:r>
              <a:rPr lang="en-US" altLang="zh-CN" sz="1600" dirty="0">
                <a:solidFill>
                  <a:srgbClr val="404040"/>
                </a:solidFill>
                <a:latin typeface="Microsoft YaHei" panose="020B0503020204020204" pitchFamily="34" charset="-122"/>
                <a:ea typeface="Microsoft YaHei" panose="020B0503020204020204" pitchFamily="34" charset="-122"/>
              </a:rPr>
              <a:t>-</a:t>
            </a:r>
            <a:r>
              <a:rPr lang="zh-CN" altLang="en-US" sz="1600" dirty="0">
                <a:solidFill>
                  <a:srgbClr val="404040"/>
                </a:solidFill>
                <a:latin typeface="Microsoft YaHei" panose="020B0503020204020204" pitchFamily="34" charset="-122"/>
                <a:ea typeface="Microsoft YaHei" panose="020B0503020204020204" pitchFamily="34" charset="-122"/>
              </a:rPr>
              <a:t>在</a:t>
            </a:r>
            <a:r>
              <a:rPr lang="en-US" altLang="zh-CN" sz="1600" dirty="0">
                <a:solidFill>
                  <a:srgbClr val="404040"/>
                </a:solidFill>
                <a:latin typeface="Microsoft YaHei" panose="020B0503020204020204" pitchFamily="34" charset="-122"/>
                <a:ea typeface="Microsoft YaHei" panose="020B0503020204020204" pitchFamily="34" charset="-122"/>
              </a:rPr>
              <a:t>-</a:t>
            </a:r>
            <a:r>
              <a:rPr lang="zh-CN" altLang="en-US" sz="1600" dirty="0">
                <a:solidFill>
                  <a:srgbClr val="404040"/>
                </a:solidFill>
                <a:latin typeface="Microsoft YaHei" panose="020B0503020204020204" pitchFamily="34" charset="-122"/>
                <a:ea typeface="Microsoft YaHei" panose="020B0503020204020204" pitchFamily="34" charset="-122"/>
              </a:rPr>
              <a:t>车上”，该场景关系判定为语义错误。</a:t>
            </a:r>
            <a:endParaRPr lang="en-US" altLang="zh-CN" sz="1600" dirty="0">
              <a:solidFill>
                <a:srgbClr val="404040"/>
              </a:solidFill>
              <a:latin typeface="Microsoft YaHei" panose="020B0503020204020204" pitchFamily="34" charset="-122"/>
              <a:ea typeface="Microsoft YaHei" panose="020B0503020204020204" pitchFamily="34" charset="-122"/>
            </a:endParaRPr>
          </a:p>
          <a:p>
            <a:pPr lvl="1" algn="just">
              <a:lnSpc>
                <a:spcPct val="200000"/>
              </a:lnSpc>
            </a:pP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marL="800100" lvl="1" indent="-342900" algn="just">
              <a:lnSpc>
                <a:spcPct val="200000"/>
              </a:lnSpc>
              <a:buAutoNum type="arabicPeriod" startAt="2"/>
            </a:pPr>
            <a:r>
              <a:rPr lang="zh-CN" altLang="en-US" sz="1600" b="1" i="0" dirty="0">
                <a:solidFill>
                  <a:srgbClr val="404040"/>
                </a:solidFill>
                <a:effectLst/>
                <a:latin typeface="Microsoft YaHei" panose="020B0503020204020204" pitchFamily="34" charset="-122"/>
                <a:ea typeface="Microsoft YaHei" panose="020B0503020204020204" pitchFamily="34" charset="-122"/>
              </a:rPr>
              <a:t>结构合理性</a:t>
            </a:r>
            <a:r>
              <a:rPr lang="zh-CN" altLang="en-US" sz="1600" i="0" dirty="0">
                <a:solidFill>
                  <a:srgbClr val="404040"/>
                </a:solidFill>
                <a:effectLst/>
                <a:latin typeface="Microsoft YaHei" panose="020B0503020204020204" pitchFamily="34" charset="-122"/>
                <a:ea typeface="Microsoft YaHei" panose="020B0503020204020204" pitchFamily="34" charset="-122"/>
              </a:rPr>
              <a:t>：场景图的层级组织是否清晰，是否存在冗余连接或缺失层次。</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lvl="1" algn="just">
              <a:lnSpc>
                <a:spcPct val="200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例如：场景图中应有“婚礼→前景区→蛋糕”，而非“婚礼↔蛋糕</a:t>
            </a:r>
            <a:r>
              <a:rPr lang="zh-CN" altLang="en-US" sz="1600" dirty="0">
                <a:solidFill>
                  <a:srgbClr val="404040"/>
                </a:solidFill>
                <a:latin typeface="Microsoft YaHei" panose="020B0503020204020204" pitchFamily="34" charset="-122"/>
                <a:ea typeface="Microsoft YaHei" panose="020B0503020204020204" pitchFamily="34" charset="-122"/>
              </a:rPr>
              <a:t>↔</a:t>
            </a:r>
            <a:r>
              <a:rPr lang="zh-CN" altLang="en-US" sz="1600" i="0" dirty="0">
                <a:solidFill>
                  <a:srgbClr val="404040"/>
                </a:solidFill>
                <a:effectLst/>
                <a:latin typeface="Microsoft YaHei" panose="020B0503020204020204" pitchFamily="34" charset="-122"/>
                <a:ea typeface="Microsoft YaHei" panose="020B0503020204020204" pitchFamily="34" charset="-122"/>
              </a:rPr>
              <a:t>天空”。</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lvl="1" algn="just">
              <a:lnSpc>
                <a:spcPct val="200000"/>
              </a:lnSpc>
            </a:pP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marL="800100" lvl="1" indent="-342900" algn="just">
              <a:lnSpc>
                <a:spcPct val="200000"/>
              </a:lnSpc>
              <a:buAutoNum type="arabicPeriod" startAt="3"/>
            </a:pPr>
            <a:r>
              <a:rPr lang="zh-CN" altLang="en-US" sz="1600" b="1" i="0" dirty="0">
                <a:solidFill>
                  <a:srgbClr val="404040"/>
                </a:solidFill>
                <a:effectLst/>
                <a:latin typeface="Microsoft YaHei" panose="020B0503020204020204" pitchFamily="34" charset="-122"/>
                <a:ea typeface="Microsoft YaHei" panose="020B0503020204020204" pitchFamily="34" charset="-122"/>
              </a:rPr>
              <a:t>推理支持性</a:t>
            </a:r>
            <a:r>
              <a:rPr lang="zh-CN" altLang="en-US" sz="1600" i="0" dirty="0">
                <a:solidFill>
                  <a:srgbClr val="404040"/>
                </a:solidFill>
                <a:effectLst/>
                <a:latin typeface="Microsoft YaHei" panose="020B0503020204020204" pitchFamily="34" charset="-122"/>
                <a:ea typeface="Microsoft YaHei" panose="020B0503020204020204" pitchFamily="34" charset="-122"/>
              </a:rPr>
              <a:t>：场景图是否能有效支持下游任务，如视觉问答、对话、交互。</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a:p>
            <a:pPr lvl="1" algn="just">
              <a:lnSpc>
                <a:spcPct val="200000"/>
              </a:lnSpc>
            </a:pPr>
            <a:r>
              <a:rPr lang="zh-CN" altLang="en-US" sz="1600" i="0" dirty="0">
                <a:solidFill>
                  <a:srgbClr val="404040"/>
                </a:solidFill>
                <a:effectLst/>
                <a:latin typeface="Microsoft YaHei" panose="020B0503020204020204" pitchFamily="34" charset="-122"/>
                <a:ea typeface="Microsoft YaHei" panose="020B0503020204020204" pitchFamily="34" charset="-122"/>
              </a:rPr>
              <a:t>例如：如果问“小男孩手上拿着什么颜色的小熊？”，而图中没有“人</a:t>
            </a:r>
            <a:r>
              <a:rPr lang="en-US" altLang="zh-CN" sz="1600" dirty="0">
                <a:solidFill>
                  <a:srgbClr val="404040"/>
                </a:solidFill>
                <a:latin typeface="Microsoft YaHei" panose="020B0503020204020204" pitchFamily="34" charset="-122"/>
                <a:ea typeface="Microsoft YaHei" panose="020B0503020204020204" pitchFamily="34" charset="-122"/>
              </a:rPr>
              <a:t>-</a:t>
            </a:r>
            <a:r>
              <a:rPr lang="zh-CN" altLang="en-US" sz="1600" i="0" dirty="0">
                <a:solidFill>
                  <a:srgbClr val="404040"/>
                </a:solidFill>
                <a:effectLst/>
                <a:latin typeface="Microsoft YaHei" panose="020B0503020204020204" pitchFamily="34" charset="-122"/>
                <a:ea typeface="Microsoft YaHei" panose="020B0503020204020204" pitchFamily="34" charset="-122"/>
              </a:rPr>
              <a:t>拿着</a:t>
            </a:r>
            <a:r>
              <a:rPr lang="en-US" altLang="zh-CN" sz="1600" i="0" dirty="0">
                <a:solidFill>
                  <a:srgbClr val="404040"/>
                </a:solidFill>
                <a:effectLst/>
                <a:latin typeface="Microsoft YaHei" panose="020B0503020204020204" pitchFamily="34" charset="-122"/>
                <a:ea typeface="Microsoft YaHei" panose="020B0503020204020204" pitchFamily="34" charset="-122"/>
              </a:rPr>
              <a:t>-</a:t>
            </a:r>
            <a:r>
              <a:rPr lang="zh-CN" altLang="en-US" sz="1600" dirty="0">
                <a:solidFill>
                  <a:srgbClr val="404040"/>
                </a:solidFill>
                <a:latin typeface="Microsoft YaHei" panose="020B0503020204020204" pitchFamily="34" charset="-122"/>
                <a:ea typeface="Microsoft YaHei" panose="020B0503020204020204" pitchFamily="34" charset="-122"/>
              </a:rPr>
              <a:t>小熊</a:t>
            </a:r>
            <a:r>
              <a:rPr lang="zh-CN" altLang="en-US" sz="1600" i="0" dirty="0">
                <a:solidFill>
                  <a:srgbClr val="404040"/>
                </a:solidFill>
                <a:effectLst/>
                <a:latin typeface="Microsoft YaHei" panose="020B0503020204020204" pitchFamily="34" charset="-122"/>
                <a:ea typeface="Microsoft YaHei" panose="020B0503020204020204" pitchFamily="34" charset="-122"/>
              </a:rPr>
              <a:t>”的连接，则推理失败。</a:t>
            </a:r>
            <a:endParaRPr lang="en-US" altLang="zh-CN" sz="1600" i="0" dirty="0">
              <a:solidFill>
                <a:srgbClr val="404040"/>
              </a:solidFill>
              <a:effectLst/>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AA1407FE-B992-E6B4-A49A-DC022E208DD2}"/>
              </a:ext>
            </a:extLst>
          </p:cNvPr>
          <p:cNvSpPr txBox="1"/>
          <p:nvPr/>
        </p:nvSpPr>
        <p:spPr>
          <a:xfrm>
            <a:off x="600891" y="1182710"/>
            <a:ext cx="2031325" cy="369332"/>
          </a:xfrm>
          <a:prstGeom prst="rect">
            <a:avLst/>
          </a:prstGeom>
          <a:noFill/>
        </p:spPr>
        <p:txBody>
          <a:bodyPr wrap="none" rtlCol="0">
            <a:spAutoFit/>
          </a:bodyPr>
          <a:lstStyle/>
          <a:p>
            <a:r>
              <a:rPr kumimoji="1" lang="zh-CN" altLang="en-US" b="1" dirty="0"/>
              <a:t>判断场景图质量：</a:t>
            </a:r>
          </a:p>
        </p:txBody>
      </p:sp>
      <p:sp>
        <p:nvSpPr>
          <p:cNvPr id="3" name="日期占位符 2">
            <a:extLst>
              <a:ext uri="{FF2B5EF4-FFF2-40B4-BE49-F238E27FC236}">
                <a16:creationId xmlns:a16="http://schemas.microsoft.com/office/drawing/2014/main" id="{FAC88B38-B8A3-7E5E-CB71-DB63F9CB8200}"/>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19EFDFA0-EC4C-6D7B-79D5-C94C503921F1}"/>
              </a:ext>
            </a:extLst>
          </p:cNvPr>
          <p:cNvSpPr>
            <a:spLocks noGrp="1"/>
          </p:cNvSpPr>
          <p:nvPr>
            <p:ph type="sldNum" sz="quarter" idx="12"/>
          </p:nvPr>
        </p:nvSpPr>
        <p:spPr/>
        <p:txBody>
          <a:bodyPr/>
          <a:lstStyle/>
          <a:p>
            <a:fld id="{0C913308-F349-4B6D-A68A-DD1791B4A57B}" type="slidenum">
              <a:rPr lang="zh-CN" altLang="en-US" smtClean="0"/>
              <a:t>8</a:t>
            </a:fld>
            <a:endParaRPr lang="zh-CN" altLang="en-US"/>
          </a:p>
        </p:txBody>
      </p:sp>
    </p:spTree>
    <p:extLst>
      <p:ext uri="{BB962C8B-B14F-4D97-AF65-F5344CB8AC3E}">
        <p14:creationId xmlns:p14="http://schemas.microsoft.com/office/powerpoint/2010/main" val="366449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5064F-1C5C-E4BB-EE66-ECCB5496CE50}"/>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5439A767-B565-E2C4-3A3F-101B4A362701}"/>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7.</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创造：任务实践</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F8D2A8BA-390D-DCC7-140A-FFDC010EEA46}"/>
              </a:ext>
            </a:extLst>
          </p:cNvPr>
          <p:cNvSpPr txBox="1"/>
          <p:nvPr/>
        </p:nvSpPr>
        <p:spPr>
          <a:xfrm>
            <a:off x="606551" y="1276579"/>
            <a:ext cx="5129409" cy="1495409"/>
          </a:xfrm>
          <a:prstGeom prst="rect">
            <a:avLst/>
          </a:prstGeom>
          <a:noFill/>
        </p:spPr>
        <p:txBody>
          <a:bodyPr wrap="square">
            <a:spAutoFit/>
          </a:bodyPr>
          <a:lstStyle/>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最后，让我们通过实际任务来巩固所学的知识。请同学们根据前面学习的“场景图生成”流程，亲自动手</a:t>
            </a:r>
            <a:r>
              <a:rPr lang="zh-CN" altLang="en-US" sz="1600" dirty="0">
                <a:latin typeface="Microsoft YaHei" panose="020B0503020204020204" pitchFamily="34" charset="-122"/>
                <a:ea typeface="Microsoft YaHei" panose="020B0503020204020204" pitchFamily="34" charset="-122"/>
              </a:rPr>
              <a:t>完成场景图的构建。</a:t>
            </a:r>
            <a:endParaRPr lang="zh-CN" altLang="en-US" sz="1600" dirty="0">
              <a:solidFill>
                <a:srgbClr val="404040"/>
              </a:solidFill>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41A886EC-A0C9-B997-0D01-BA79DD19AED7}"/>
              </a:ext>
            </a:extLst>
          </p:cNvPr>
          <p:cNvSpPr txBox="1"/>
          <p:nvPr/>
        </p:nvSpPr>
        <p:spPr>
          <a:xfrm>
            <a:off x="600891" y="1005840"/>
            <a:ext cx="1338828" cy="369332"/>
          </a:xfrm>
          <a:prstGeom prst="rect">
            <a:avLst/>
          </a:prstGeom>
          <a:noFill/>
        </p:spPr>
        <p:txBody>
          <a:bodyPr wrap="none" rtlCol="0">
            <a:spAutoFit/>
          </a:bodyPr>
          <a:lstStyle/>
          <a:p>
            <a:r>
              <a:rPr kumimoji="1" lang="zh-CN" altLang="en-US" b="1" dirty="0"/>
              <a:t>任务实践：</a:t>
            </a:r>
          </a:p>
        </p:txBody>
      </p:sp>
      <p:sp>
        <p:nvSpPr>
          <p:cNvPr id="3" name="日期占位符 2">
            <a:extLst>
              <a:ext uri="{FF2B5EF4-FFF2-40B4-BE49-F238E27FC236}">
                <a16:creationId xmlns:a16="http://schemas.microsoft.com/office/drawing/2014/main" id="{03622390-4F13-548A-911F-E360C42CBCBE}"/>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2A68F0BB-BC0C-D762-A48B-420B2A8FE657}"/>
              </a:ext>
            </a:extLst>
          </p:cNvPr>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19" name="文本框 18">
            <a:extLst>
              <a:ext uri="{FF2B5EF4-FFF2-40B4-BE49-F238E27FC236}">
                <a16:creationId xmlns:a16="http://schemas.microsoft.com/office/drawing/2014/main" id="{E0DFF7AA-9B71-220C-8E57-B0AA83686BB0}"/>
              </a:ext>
            </a:extLst>
          </p:cNvPr>
          <p:cNvSpPr txBox="1"/>
          <p:nvPr/>
        </p:nvSpPr>
        <p:spPr>
          <a:xfrm>
            <a:off x="600891" y="4857729"/>
            <a:ext cx="5019536" cy="1002967"/>
          </a:xfrm>
          <a:prstGeom prst="rect">
            <a:avLst/>
          </a:prstGeom>
          <a:noFill/>
        </p:spPr>
        <p:txBody>
          <a:bodyPr wrap="square">
            <a:spAutoFit/>
          </a:bodyPr>
          <a:lstStyle/>
          <a:p>
            <a:pPr marL="0" lvl="1"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构建完成后，根据之前学到的标准，评价自己构建的场景图质量，并思考如何改进。</a:t>
            </a:r>
          </a:p>
        </p:txBody>
      </p:sp>
      <p:sp>
        <p:nvSpPr>
          <p:cNvPr id="20" name="文本框 19">
            <a:extLst>
              <a:ext uri="{FF2B5EF4-FFF2-40B4-BE49-F238E27FC236}">
                <a16:creationId xmlns:a16="http://schemas.microsoft.com/office/drawing/2014/main" id="{D5603F26-372D-2C63-0B6F-E4B2D8D11A1B}"/>
              </a:ext>
            </a:extLst>
          </p:cNvPr>
          <p:cNvSpPr txBox="1"/>
          <p:nvPr/>
        </p:nvSpPr>
        <p:spPr>
          <a:xfrm>
            <a:off x="600891" y="4581128"/>
            <a:ext cx="1338828" cy="369332"/>
          </a:xfrm>
          <a:prstGeom prst="rect">
            <a:avLst/>
          </a:prstGeom>
          <a:noFill/>
        </p:spPr>
        <p:txBody>
          <a:bodyPr wrap="none" rtlCol="0">
            <a:spAutoFit/>
          </a:bodyPr>
          <a:lstStyle/>
          <a:p>
            <a:r>
              <a:rPr kumimoji="1" lang="zh-CN" altLang="en-US" b="1" dirty="0"/>
              <a:t>任务评价：</a:t>
            </a:r>
          </a:p>
        </p:txBody>
      </p:sp>
      <p:sp>
        <p:nvSpPr>
          <p:cNvPr id="21" name="文本框 20">
            <a:extLst>
              <a:ext uri="{FF2B5EF4-FFF2-40B4-BE49-F238E27FC236}">
                <a16:creationId xmlns:a16="http://schemas.microsoft.com/office/drawing/2014/main" id="{140D9DCB-1446-8711-D9EF-FD903684FAC4}"/>
              </a:ext>
            </a:extLst>
          </p:cNvPr>
          <p:cNvSpPr txBox="1"/>
          <p:nvPr/>
        </p:nvSpPr>
        <p:spPr>
          <a:xfrm>
            <a:off x="602459" y="2681295"/>
            <a:ext cx="2890050" cy="1495409"/>
          </a:xfrm>
          <a:prstGeom prst="rect">
            <a:avLst/>
          </a:prstGeom>
          <a:noFill/>
        </p:spPr>
        <p:txBody>
          <a:bodyPr wrap="square">
            <a:spAutoFit/>
          </a:bodyPr>
          <a:lstStyle/>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第一步：宏观概述。</a:t>
            </a:r>
            <a:endParaRPr lang="en-US" altLang="zh-CN" sz="1600" dirty="0">
              <a:latin typeface="Microsoft YaHei" panose="020B0503020204020204" pitchFamily="34" charset="-122"/>
              <a:ea typeface="Microsoft YaHei" panose="020B0503020204020204" pitchFamily="34" charset="-122"/>
            </a:endParaRPr>
          </a:p>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第二步：核心描述。</a:t>
            </a:r>
            <a:endParaRPr lang="en-US" altLang="zh-CN" sz="1600" dirty="0">
              <a:latin typeface="Microsoft YaHei" panose="020B0503020204020204" pitchFamily="34" charset="-122"/>
              <a:ea typeface="Microsoft YaHei" panose="020B0503020204020204" pitchFamily="34" charset="-122"/>
            </a:endParaRPr>
          </a:p>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第三步：细节补充。</a:t>
            </a:r>
          </a:p>
        </p:txBody>
      </p:sp>
      <p:pic>
        <p:nvPicPr>
          <p:cNvPr id="1026" name="Picture 2">
            <a:extLst>
              <a:ext uri="{FF2B5EF4-FFF2-40B4-BE49-F238E27FC236}">
                <a16:creationId xmlns:a16="http://schemas.microsoft.com/office/drawing/2014/main" id="{3DB78996-72F2-F2EC-AFFC-129A0065BE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6375" y="1747064"/>
            <a:ext cx="5218912" cy="3914184"/>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5119993-A1E9-ADEA-EE14-48C5E42FBCFF}"/>
              </a:ext>
            </a:extLst>
          </p:cNvPr>
          <p:cNvSpPr txBox="1"/>
          <p:nvPr/>
        </p:nvSpPr>
        <p:spPr>
          <a:xfrm>
            <a:off x="5902044" y="1091913"/>
            <a:ext cx="1107996" cy="369332"/>
          </a:xfrm>
          <a:prstGeom prst="rect">
            <a:avLst/>
          </a:prstGeom>
          <a:noFill/>
        </p:spPr>
        <p:txBody>
          <a:bodyPr wrap="none" rtlCol="0">
            <a:spAutoFit/>
          </a:bodyPr>
          <a:lstStyle/>
          <a:p>
            <a:r>
              <a:rPr kumimoji="1" lang="zh-CN" altLang="en-US" b="1" dirty="0"/>
              <a:t>任务一：</a:t>
            </a:r>
          </a:p>
        </p:txBody>
      </p:sp>
    </p:spTree>
    <p:extLst>
      <p:ext uri="{BB962C8B-B14F-4D97-AF65-F5344CB8AC3E}">
        <p14:creationId xmlns:p14="http://schemas.microsoft.com/office/powerpoint/2010/main" val="2685007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297B8-C7ED-3B09-4923-36EDDDAA2C56}"/>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4AB331B2-F3E9-1144-D3C9-F2F2D439AC15}"/>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7.</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创造：任务实践</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6" name="文本框 15">
            <a:extLst>
              <a:ext uri="{FF2B5EF4-FFF2-40B4-BE49-F238E27FC236}">
                <a16:creationId xmlns:a16="http://schemas.microsoft.com/office/drawing/2014/main" id="{CB011EA4-04D0-594A-2BFE-D2C7D895B830}"/>
              </a:ext>
            </a:extLst>
          </p:cNvPr>
          <p:cNvSpPr txBox="1"/>
          <p:nvPr/>
        </p:nvSpPr>
        <p:spPr>
          <a:xfrm>
            <a:off x="623392" y="1154036"/>
            <a:ext cx="2031325" cy="369332"/>
          </a:xfrm>
          <a:prstGeom prst="rect">
            <a:avLst/>
          </a:prstGeom>
          <a:noFill/>
        </p:spPr>
        <p:txBody>
          <a:bodyPr wrap="none" rtlCol="0">
            <a:spAutoFit/>
          </a:bodyPr>
          <a:lstStyle/>
          <a:p>
            <a:r>
              <a:rPr kumimoji="1" lang="zh-CN" altLang="en-US" b="1" dirty="0"/>
              <a:t>任务一参考答案：</a:t>
            </a:r>
          </a:p>
        </p:txBody>
      </p:sp>
      <p:sp>
        <p:nvSpPr>
          <p:cNvPr id="3" name="日期占位符 2">
            <a:extLst>
              <a:ext uri="{FF2B5EF4-FFF2-40B4-BE49-F238E27FC236}">
                <a16:creationId xmlns:a16="http://schemas.microsoft.com/office/drawing/2014/main" id="{9DBE30B6-3101-7D12-BBB3-DB5D52397560}"/>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E2365BF3-9B37-F526-EB7F-3A5354433742}"/>
              </a:ext>
            </a:extLst>
          </p:cNvPr>
          <p:cNvSpPr>
            <a:spLocks noGrp="1"/>
          </p:cNvSpPr>
          <p:nvPr>
            <p:ph type="sldNum" sz="quarter" idx="12"/>
          </p:nvPr>
        </p:nvSpPr>
        <p:spPr/>
        <p:txBody>
          <a:bodyPr/>
          <a:lstStyle/>
          <a:p>
            <a:fld id="{0C913308-F349-4B6D-A68A-DD1791B4A57B}" type="slidenum">
              <a:rPr lang="zh-CN" altLang="en-US" smtClean="0"/>
              <a:t>10</a:t>
            </a:fld>
            <a:endParaRPr lang="zh-CN" altLang="en-US" dirty="0"/>
          </a:p>
        </p:txBody>
      </p:sp>
      <p:pic>
        <p:nvPicPr>
          <p:cNvPr id="74" name="图片 73">
            <a:extLst>
              <a:ext uri="{FF2B5EF4-FFF2-40B4-BE49-F238E27FC236}">
                <a16:creationId xmlns:a16="http://schemas.microsoft.com/office/drawing/2014/main" id="{6E3BAF53-6422-269C-A95F-57CBE430FE73}"/>
              </a:ext>
            </a:extLst>
          </p:cNvPr>
          <p:cNvPicPr>
            <a:picLocks noChangeAspect="1"/>
          </p:cNvPicPr>
          <p:nvPr/>
        </p:nvPicPr>
        <p:blipFill>
          <a:blip r:embed="rId3"/>
          <a:stretch>
            <a:fillRect/>
          </a:stretch>
        </p:blipFill>
        <p:spPr>
          <a:xfrm>
            <a:off x="825413" y="1871309"/>
            <a:ext cx="4173147" cy="3129860"/>
          </a:xfrm>
          <a:prstGeom prst="rect">
            <a:avLst/>
          </a:prstGeom>
        </p:spPr>
      </p:pic>
      <p:grpSp>
        <p:nvGrpSpPr>
          <p:cNvPr id="6" name="组合 5">
            <a:extLst>
              <a:ext uri="{FF2B5EF4-FFF2-40B4-BE49-F238E27FC236}">
                <a16:creationId xmlns:a16="http://schemas.microsoft.com/office/drawing/2014/main" id="{BB3C3918-B17E-60B3-A3C0-BE817346174B}"/>
              </a:ext>
            </a:extLst>
          </p:cNvPr>
          <p:cNvGrpSpPr/>
          <p:nvPr/>
        </p:nvGrpSpPr>
        <p:grpSpPr>
          <a:xfrm>
            <a:off x="5225357" y="1696381"/>
            <a:ext cx="6128443" cy="3593254"/>
            <a:chOff x="5225357" y="1696381"/>
            <a:chExt cx="6128443" cy="3593254"/>
          </a:xfrm>
        </p:grpSpPr>
        <p:grpSp>
          <p:nvGrpSpPr>
            <p:cNvPr id="434" name="组合 433">
              <a:extLst>
                <a:ext uri="{FF2B5EF4-FFF2-40B4-BE49-F238E27FC236}">
                  <a16:creationId xmlns:a16="http://schemas.microsoft.com/office/drawing/2014/main" id="{68065470-B99C-8D97-14B9-48A4668FB233}"/>
                </a:ext>
              </a:extLst>
            </p:cNvPr>
            <p:cNvGrpSpPr/>
            <p:nvPr/>
          </p:nvGrpSpPr>
          <p:grpSpPr>
            <a:xfrm>
              <a:off x="5225357" y="1696381"/>
              <a:ext cx="6128443" cy="3593254"/>
              <a:chOff x="5029391" y="1851970"/>
              <a:chExt cx="6128443" cy="3593254"/>
            </a:xfrm>
          </p:grpSpPr>
          <p:grpSp>
            <p:nvGrpSpPr>
              <p:cNvPr id="220" name="组合 219">
                <a:extLst>
                  <a:ext uri="{FF2B5EF4-FFF2-40B4-BE49-F238E27FC236}">
                    <a16:creationId xmlns:a16="http://schemas.microsoft.com/office/drawing/2014/main" id="{3E7C8E61-AE2E-4ED7-1364-0A07E81E5FC9}"/>
                  </a:ext>
                </a:extLst>
              </p:cNvPr>
              <p:cNvGrpSpPr/>
              <p:nvPr/>
            </p:nvGrpSpPr>
            <p:grpSpPr>
              <a:xfrm>
                <a:off x="5029391" y="1851970"/>
                <a:ext cx="6128443" cy="3593254"/>
                <a:chOff x="4957331" y="1855597"/>
                <a:chExt cx="6128443" cy="3593254"/>
              </a:xfrm>
            </p:grpSpPr>
            <p:sp>
              <p:nvSpPr>
                <p:cNvPr id="186" name="椭圆 185">
                  <a:extLst>
                    <a:ext uri="{FF2B5EF4-FFF2-40B4-BE49-F238E27FC236}">
                      <a16:creationId xmlns:a16="http://schemas.microsoft.com/office/drawing/2014/main" id="{902E04EB-EECC-02E2-1836-F9BF222A33B4}"/>
                    </a:ext>
                  </a:extLst>
                </p:cNvPr>
                <p:cNvSpPr/>
                <p:nvPr/>
              </p:nvSpPr>
              <p:spPr>
                <a:xfrm>
                  <a:off x="7448697" y="3532444"/>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grpSp>
              <p:nvGrpSpPr>
                <p:cNvPr id="11" name="组合 10">
                  <a:extLst>
                    <a:ext uri="{FF2B5EF4-FFF2-40B4-BE49-F238E27FC236}">
                      <a16:creationId xmlns:a16="http://schemas.microsoft.com/office/drawing/2014/main" id="{5241263D-A1F5-BA4D-EF65-CC2E28F9F5AE}"/>
                    </a:ext>
                  </a:extLst>
                </p:cNvPr>
                <p:cNvGrpSpPr/>
                <p:nvPr/>
              </p:nvGrpSpPr>
              <p:grpSpPr>
                <a:xfrm>
                  <a:off x="4957331" y="1855597"/>
                  <a:ext cx="6128443" cy="3593254"/>
                  <a:chOff x="5289199" y="3250365"/>
                  <a:chExt cx="6128443" cy="3593254"/>
                </a:xfrm>
              </p:grpSpPr>
              <p:grpSp>
                <p:nvGrpSpPr>
                  <p:cNvPr id="20" name="组合 19">
                    <a:extLst>
                      <a:ext uri="{FF2B5EF4-FFF2-40B4-BE49-F238E27FC236}">
                        <a16:creationId xmlns:a16="http://schemas.microsoft.com/office/drawing/2014/main" id="{14F7841D-5889-FB5F-D741-C3681C4F15C5}"/>
                      </a:ext>
                    </a:extLst>
                  </p:cNvPr>
                  <p:cNvGrpSpPr/>
                  <p:nvPr/>
                </p:nvGrpSpPr>
                <p:grpSpPr>
                  <a:xfrm>
                    <a:off x="5289199" y="3250365"/>
                    <a:ext cx="6128443" cy="3593254"/>
                    <a:chOff x="6010366" y="1536706"/>
                    <a:chExt cx="6128443" cy="3593254"/>
                  </a:xfrm>
                </p:grpSpPr>
                <p:grpSp>
                  <p:nvGrpSpPr>
                    <p:cNvPr id="38" name="组合 37">
                      <a:extLst>
                        <a:ext uri="{FF2B5EF4-FFF2-40B4-BE49-F238E27FC236}">
                          <a16:creationId xmlns:a16="http://schemas.microsoft.com/office/drawing/2014/main" id="{CE512402-AAC6-66FE-DB78-41191F1D2821}"/>
                        </a:ext>
                      </a:extLst>
                    </p:cNvPr>
                    <p:cNvGrpSpPr/>
                    <p:nvPr/>
                  </p:nvGrpSpPr>
                  <p:grpSpPr>
                    <a:xfrm>
                      <a:off x="6010366" y="2165234"/>
                      <a:ext cx="6128442" cy="2582213"/>
                      <a:chOff x="5786050" y="2148269"/>
                      <a:chExt cx="6128442" cy="2582213"/>
                    </a:xfrm>
                  </p:grpSpPr>
                  <p:sp>
                    <p:nvSpPr>
                      <p:cNvPr id="41" name="椭圆 40">
                        <a:extLst>
                          <a:ext uri="{FF2B5EF4-FFF2-40B4-BE49-F238E27FC236}">
                            <a16:creationId xmlns:a16="http://schemas.microsoft.com/office/drawing/2014/main" id="{2E131989-FA60-E5A5-3ED3-544071A7646B}"/>
                          </a:ext>
                        </a:extLst>
                      </p:cNvPr>
                      <p:cNvSpPr/>
                      <p:nvPr/>
                    </p:nvSpPr>
                    <p:spPr>
                      <a:xfrm>
                        <a:off x="7916826" y="2400941"/>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44" name="文本框 43">
                        <a:extLst>
                          <a:ext uri="{FF2B5EF4-FFF2-40B4-BE49-F238E27FC236}">
                            <a16:creationId xmlns:a16="http://schemas.microsoft.com/office/drawing/2014/main" id="{12E1E2C8-8414-036B-CBEB-5DDD50F85C85}"/>
                          </a:ext>
                        </a:extLst>
                      </p:cNvPr>
                      <p:cNvSpPr txBox="1"/>
                      <p:nvPr/>
                    </p:nvSpPr>
                    <p:spPr>
                      <a:xfrm>
                        <a:off x="7406662" y="2148269"/>
                        <a:ext cx="740096" cy="362651"/>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object</a:t>
                        </a:r>
                      </a:p>
                    </p:txBody>
                  </p:sp>
                  <p:sp>
                    <p:nvSpPr>
                      <p:cNvPr id="46" name="椭圆 45">
                        <a:extLst>
                          <a:ext uri="{FF2B5EF4-FFF2-40B4-BE49-F238E27FC236}">
                            <a16:creationId xmlns:a16="http://schemas.microsoft.com/office/drawing/2014/main" id="{F748AEF5-FAFF-0B60-C447-F266FAAE343D}"/>
                          </a:ext>
                        </a:extLst>
                      </p:cNvPr>
                      <p:cNvSpPr/>
                      <p:nvPr/>
                    </p:nvSpPr>
                    <p:spPr>
                      <a:xfrm>
                        <a:off x="6441971" y="3798285"/>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47" name="椭圆 46">
                        <a:extLst>
                          <a:ext uri="{FF2B5EF4-FFF2-40B4-BE49-F238E27FC236}">
                            <a16:creationId xmlns:a16="http://schemas.microsoft.com/office/drawing/2014/main" id="{6D98A77F-7860-5D57-8ED3-2B3E17CD779D}"/>
                          </a:ext>
                        </a:extLst>
                      </p:cNvPr>
                      <p:cNvSpPr/>
                      <p:nvPr/>
                    </p:nvSpPr>
                    <p:spPr>
                      <a:xfrm>
                        <a:off x="10398666" y="3809949"/>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48" name="文本框 47">
                        <a:extLst>
                          <a:ext uri="{FF2B5EF4-FFF2-40B4-BE49-F238E27FC236}">
                            <a16:creationId xmlns:a16="http://schemas.microsoft.com/office/drawing/2014/main" id="{4597AE2B-FE9E-8F6C-5866-2420BF02731E}"/>
                          </a:ext>
                        </a:extLst>
                      </p:cNvPr>
                      <p:cNvSpPr txBox="1"/>
                      <p:nvPr/>
                    </p:nvSpPr>
                    <p:spPr>
                      <a:xfrm>
                        <a:off x="9992821" y="3953836"/>
                        <a:ext cx="851458" cy="306388"/>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sidewalk</a:t>
                        </a:r>
                      </a:p>
                    </p:txBody>
                  </p:sp>
                  <p:sp>
                    <p:nvSpPr>
                      <p:cNvPr id="54" name="椭圆 53">
                        <a:extLst>
                          <a:ext uri="{FF2B5EF4-FFF2-40B4-BE49-F238E27FC236}">
                            <a16:creationId xmlns:a16="http://schemas.microsoft.com/office/drawing/2014/main" id="{F517622A-B3DE-33AD-25EB-EE670CC2BDA2}"/>
                          </a:ext>
                        </a:extLst>
                      </p:cNvPr>
                      <p:cNvSpPr/>
                      <p:nvPr/>
                    </p:nvSpPr>
                    <p:spPr>
                      <a:xfrm>
                        <a:off x="11586353" y="3202151"/>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55" name="文本框 54">
                        <a:extLst>
                          <a:ext uri="{FF2B5EF4-FFF2-40B4-BE49-F238E27FC236}">
                            <a16:creationId xmlns:a16="http://schemas.microsoft.com/office/drawing/2014/main" id="{0048D262-B124-31F2-BF5D-50A7D6F4E532}"/>
                          </a:ext>
                        </a:extLst>
                      </p:cNvPr>
                      <p:cNvSpPr txBox="1"/>
                      <p:nvPr/>
                    </p:nvSpPr>
                    <p:spPr>
                      <a:xfrm>
                        <a:off x="11468373" y="3325617"/>
                        <a:ext cx="446119" cy="27316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sky</a:t>
                        </a:r>
                      </a:p>
                    </p:txBody>
                  </p:sp>
                  <p:cxnSp>
                    <p:nvCxnSpPr>
                      <p:cNvPr id="59" name="直接箭头连接符 58">
                        <a:extLst>
                          <a:ext uri="{FF2B5EF4-FFF2-40B4-BE49-F238E27FC236}">
                            <a16:creationId xmlns:a16="http://schemas.microsoft.com/office/drawing/2014/main" id="{E5532A5F-1D51-A5CC-8F8E-410051D877F4}"/>
                          </a:ext>
                        </a:extLst>
                      </p:cNvPr>
                      <p:cNvCxnSpPr>
                        <a:cxnSpLocks/>
                        <a:stCxn id="41" idx="4"/>
                        <a:endCxn id="46" idx="0"/>
                      </p:cNvCxnSpPr>
                      <p:nvPr/>
                    </p:nvCxnSpPr>
                    <p:spPr>
                      <a:xfrm flipH="1">
                        <a:off x="6534954" y="2678299"/>
                        <a:ext cx="1519300" cy="111998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61" name="直接箭头连接符 60">
                        <a:extLst>
                          <a:ext uri="{FF2B5EF4-FFF2-40B4-BE49-F238E27FC236}">
                            <a16:creationId xmlns:a16="http://schemas.microsoft.com/office/drawing/2014/main" id="{37B2E4EF-A890-4B92-E789-F8DA2107866D}"/>
                          </a:ext>
                        </a:extLst>
                      </p:cNvPr>
                      <p:cNvCxnSpPr>
                        <a:cxnSpLocks/>
                        <a:stCxn id="26" idx="4"/>
                        <a:endCxn id="47" idx="0"/>
                      </p:cNvCxnSpPr>
                      <p:nvPr/>
                    </p:nvCxnSpPr>
                    <p:spPr>
                      <a:xfrm flipH="1">
                        <a:off x="10491649" y="2681496"/>
                        <a:ext cx="357502" cy="1128453"/>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72" name="文本框 71">
                        <a:extLst>
                          <a:ext uri="{FF2B5EF4-FFF2-40B4-BE49-F238E27FC236}">
                            <a16:creationId xmlns:a16="http://schemas.microsoft.com/office/drawing/2014/main" id="{3439C5D9-C703-F408-DF63-0EF245EF3B30}"/>
                          </a:ext>
                        </a:extLst>
                      </p:cNvPr>
                      <p:cNvSpPr txBox="1"/>
                      <p:nvPr/>
                    </p:nvSpPr>
                    <p:spPr>
                      <a:xfrm>
                        <a:off x="7377298" y="4453483"/>
                        <a:ext cx="71728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crossing</a:t>
                        </a:r>
                        <a:endParaRPr lang="zh-CN" altLang="en-US" sz="1200" dirty="0">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B1C40A81-8003-BC56-DBEF-06417E0532A1}"/>
                          </a:ext>
                        </a:extLst>
                      </p:cNvPr>
                      <p:cNvSpPr txBox="1"/>
                      <p:nvPr/>
                    </p:nvSpPr>
                    <p:spPr>
                      <a:xfrm>
                        <a:off x="8009045" y="3254035"/>
                        <a:ext cx="774491" cy="268726"/>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car1</a:t>
                        </a:r>
                      </a:p>
                      <a:p>
                        <a:pPr algn="ctr"/>
                        <a:r>
                          <a:rPr lang="en-US" altLang="zh-CN" sz="1200" b="1" dirty="0">
                            <a:latin typeface="Times New Roman" panose="02020603050405020304" charset="0"/>
                            <a:cs typeface="Times New Roman" panose="02020603050405020304" charset="0"/>
                          </a:rPr>
                          <a:t>(black)</a:t>
                        </a:r>
                      </a:p>
                    </p:txBody>
                  </p:sp>
                  <p:sp>
                    <p:nvSpPr>
                      <p:cNvPr id="49" name="文本框 48">
                        <a:extLst>
                          <a:ext uri="{FF2B5EF4-FFF2-40B4-BE49-F238E27FC236}">
                            <a16:creationId xmlns:a16="http://schemas.microsoft.com/office/drawing/2014/main" id="{D68828EC-3004-07AE-91A4-474CE27070F0}"/>
                          </a:ext>
                        </a:extLst>
                      </p:cNvPr>
                      <p:cNvSpPr txBox="1"/>
                      <p:nvPr/>
                    </p:nvSpPr>
                    <p:spPr>
                      <a:xfrm>
                        <a:off x="5786050" y="3714872"/>
                        <a:ext cx="1085814"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pedestrian2</a:t>
                        </a:r>
                      </a:p>
                    </p:txBody>
                  </p:sp>
                </p:grpSp>
                <p:sp>
                  <p:nvSpPr>
                    <p:cNvPr id="39" name="矩形 38">
                      <a:extLst>
                        <a:ext uri="{FF2B5EF4-FFF2-40B4-BE49-F238E27FC236}">
                          <a16:creationId xmlns:a16="http://schemas.microsoft.com/office/drawing/2014/main" id="{637614EC-B485-3994-9E10-3AB25BC731A0}"/>
                        </a:ext>
                      </a:extLst>
                    </p:cNvPr>
                    <p:cNvSpPr/>
                    <p:nvPr/>
                  </p:nvSpPr>
                  <p:spPr>
                    <a:xfrm>
                      <a:off x="6010367" y="1536706"/>
                      <a:ext cx="6128442" cy="3593254"/>
                    </a:xfrm>
                    <a:prstGeom prst="rect">
                      <a:avLst/>
                    </a:prstGeom>
                    <a:noFill/>
                    <a:ln>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椭圆 20">
                    <a:extLst>
                      <a:ext uri="{FF2B5EF4-FFF2-40B4-BE49-F238E27FC236}">
                        <a16:creationId xmlns:a16="http://schemas.microsoft.com/office/drawing/2014/main" id="{9F05CB28-CFD1-74A8-974F-67E6E3F50483}"/>
                      </a:ext>
                    </a:extLst>
                  </p:cNvPr>
                  <p:cNvSpPr/>
                  <p:nvPr/>
                </p:nvSpPr>
                <p:spPr>
                  <a:xfrm>
                    <a:off x="8790363" y="35410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25" name="文本框 24">
                    <a:extLst>
                      <a:ext uri="{FF2B5EF4-FFF2-40B4-BE49-F238E27FC236}">
                        <a16:creationId xmlns:a16="http://schemas.microsoft.com/office/drawing/2014/main" id="{F98751F1-5356-4E3A-77F6-3F6B24AEE8E6}"/>
                      </a:ext>
                    </a:extLst>
                  </p:cNvPr>
                  <p:cNvSpPr txBox="1"/>
                  <p:nvPr/>
                </p:nvSpPr>
                <p:spPr>
                  <a:xfrm>
                    <a:off x="8403040" y="3250365"/>
                    <a:ext cx="104636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streetscape</a:t>
                    </a:r>
                  </a:p>
                </p:txBody>
              </p:sp>
              <p:sp>
                <p:nvSpPr>
                  <p:cNvPr id="26" name="椭圆 25">
                    <a:extLst>
                      <a:ext uri="{FF2B5EF4-FFF2-40B4-BE49-F238E27FC236}">
                        <a16:creationId xmlns:a16="http://schemas.microsoft.com/office/drawing/2014/main" id="{2D9FD471-FD16-F123-6F2E-7F16EF9CFCB8}"/>
                      </a:ext>
                    </a:extLst>
                  </p:cNvPr>
                  <p:cNvSpPr/>
                  <p:nvPr/>
                </p:nvSpPr>
                <p:spPr>
                  <a:xfrm>
                    <a:off x="10214872" y="4134762"/>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33" name="文本框 32">
                    <a:extLst>
                      <a:ext uri="{FF2B5EF4-FFF2-40B4-BE49-F238E27FC236}">
                        <a16:creationId xmlns:a16="http://schemas.microsoft.com/office/drawing/2014/main" id="{BA4D7E29-B98F-40B5-187E-EA6CA6CD1AD9}"/>
                      </a:ext>
                    </a:extLst>
                  </p:cNvPr>
                  <p:cNvSpPr txBox="1"/>
                  <p:nvPr/>
                </p:nvSpPr>
                <p:spPr>
                  <a:xfrm>
                    <a:off x="10230522" y="3877228"/>
                    <a:ext cx="113378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background</a:t>
                    </a:r>
                  </a:p>
                </p:txBody>
              </p:sp>
              <p:cxnSp>
                <p:nvCxnSpPr>
                  <p:cNvPr id="35" name="直接箭头连接符 34">
                    <a:extLst>
                      <a:ext uri="{FF2B5EF4-FFF2-40B4-BE49-F238E27FC236}">
                        <a16:creationId xmlns:a16="http://schemas.microsoft.com/office/drawing/2014/main" id="{C87475EF-84C7-E42E-DD59-B198D727E932}"/>
                      </a:ext>
                    </a:extLst>
                  </p:cNvPr>
                  <p:cNvCxnSpPr>
                    <a:cxnSpLocks/>
                    <a:stCxn id="21" idx="3"/>
                    <a:endCxn id="41" idx="7"/>
                  </p:cNvCxnSpPr>
                  <p:nvPr/>
                </p:nvCxnSpPr>
                <p:spPr>
                  <a:xfrm flipH="1">
                    <a:off x="7654578" y="3777824"/>
                    <a:ext cx="1176037" cy="39435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6" name="直接箭头连接符 35">
                    <a:extLst>
                      <a:ext uri="{FF2B5EF4-FFF2-40B4-BE49-F238E27FC236}">
                        <a16:creationId xmlns:a16="http://schemas.microsoft.com/office/drawing/2014/main" id="{18F51179-88B2-9872-33B3-AA6021761221}"/>
                      </a:ext>
                    </a:extLst>
                  </p:cNvPr>
                  <p:cNvCxnSpPr>
                    <a:cxnSpLocks/>
                    <a:stCxn id="21" idx="5"/>
                    <a:endCxn id="26" idx="1"/>
                  </p:cNvCxnSpPr>
                  <p:nvPr/>
                </p:nvCxnSpPr>
                <p:spPr>
                  <a:xfrm>
                    <a:off x="9024966" y="3777824"/>
                    <a:ext cx="1230158" cy="39755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7" name="直接箭头连接符 36">
                    <a:extLst>
                      <a:ext uri="{FF2B5EF4-FFF2-40B4-BE49-F238E27FC236}">
                        <a16:creationId xmlns:a16="http://schemas.microsoft.com/office/drawing/2014/main" id="{F16F370D-D499-868E-3F84-000F0CA4FA6A}"/>
                      </a:ext>
                    </a:extLst>
                  </p:cNvPr>
                  <p:cNvCxnSpPr>
                    <a:cxnSpLocks/>
                    <a:stCxn id="26" idx="5"/>
                    <a:endCxn id="54" idx="0"/>
                  </p:cNvCxnSpPr>
                  <p:nvPr/>
                </p:nvCxnSpPr>
                <p:spPr>
                  <a:xfrm>
                    <a:off x="10449475" y="4371502"/>
                    <a:ext cx="733010" cy="561273"/>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sp>
              <p:nvSpPr>
                <p:cNvPr id="75" name="椭圆 74">
                  <a:extLst>
                    <a:ext uri="{FF2B5EF4-FFF2-40B4-BE49-F238E27FC236}">
                      <a16:creationId xmlns:a16="http://schemas.microsoft.com/office/drawing/2014/main" id="{193DAB78-22C4-2510-A1AD-374371681E71}"/>
                    </a:ext>
                  </a:extLst>
                </p:cNvPr>
                <p:cNvSpPr/>
                <p:nvPr/>
              </p:nvSpPr>
              <p:spPr>
                <a:xfrm>
                  <a:off x="10484112" y="4134141"/>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76" name="直接箭头连接符 75">
                  <a:extLst>
                    <a:ext uri="{FF2B5EF4-FFF2-40B4-BE49-F238E27FC236}">
                      <a16:creationId xmlns:a16="http://schemas.microsoft.com/office/drawing/2014/main" id="{3910E284-AAEB-C6AE-3375-EE5C3679753F}"/>
                    </a:ext>
                  </a:extLst>
                </p:cNvPr>
                <p:cNvCxnSpPr>
                  <a:cxnSpLocks/>
                  <a:stCxn id="26" idx="4"/>
                  <a:endCxn id="75" idx="0"/>
                </p:cNvCxnSpPr>
                <p:nvPr/>
              </p:nvCxnSpPr>
              <p:spPr>
                <a:xfrm>
                  <a:off x="10020432" y="3017352"/>
                  <a:ext cx="556663" cy="111678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77" name="文本框 76">
                  <a:extLst>
                    <a:ext uri="{FF2B5EF4-FFF2-40B4-BE49-F238E27FC236}">
                      <a16:creationId xmlns:a16="http://schemas.microsoft.com/office/drawing/2014/main" id="{4E810371-8A56-DE13-0BCC-9A6A22D97972}"/>
                    </a:ext>
                  </a:extLst>
                </p:cNvPr>
                <p:cNvSpPr txBox="1"/>
                <p:nvPr/>
              </p:nvSpPr>
              <p:spPr>
                <a:xfrm>
                  <a:off x="10347983" y="4265712"/>
                  <a:ext cx="516949" cy="22324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tree</a:t>
                  </a:r>
                </a:p>
              </p:txBody>
            </p:sp>
            <p:sp>
              <p:nvSpPr>
                <p:cNvPr id="78" name="椭圆 77">
                  <a:extLst>
                    <a:ext uri="{FF2B5EF4-FFF2-40B4-BE49-F238E27FC236}">
                      <a16:creationId xmlns:a16="http://schemas.microsoft.com/office/drawing/2014/main" id="{98C75502-3909-9441-C087-00538A7597CE}"/>
                    </a:ext>
                  </a:extLst>
                </p:cNvPr>
                <p:cNvSpPr/>
                <p:nvPr/>
              </p:nvSpPr>
              <p:spPr>
                <a:xfrm>
                  <a:off x="9995840" y="353669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79" name="直接箭头连接符 78">
                  <a:extLst>
                    <a:ext uri="{FF2B5EF4-FFF2-40B4-BE49-F238E27FC236}">
                      <a16:creationId xmlns:a16="http://schemas.microsoft.com/office/drawing/2014/main" id="{08248A6A-0960-F922-86BD-E38DF662D20B}"/>
                    </a:ext>
                  </a:extLst>
                </p:cNvPr>
                <p:cNvCxnSpPr>
                  <a:cxnSpLocks/>
                  <a:stCxn id="26" idx="4"/>
                  <a:endCxn id="78" idx="0"/>
                </p:cNvCxnSpPr>
                <p:nvPr/>
              </p:nvCxnSpPr>
              <p:spPr>
                <a:xfrm>
                  <a:off x="10020432" y="3017352"/>
                  <a:ext cx="68391" cy="519344"/>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80" name="文本框 79">
                  <a:extLst>
                    <a:ext uri="{FF2B5EF4-FFF2-40B4-BE49-F238E27FC236}">
                      <a16:creationId xmlns:a16="http://schemas.microsoft.com/office/drawing/2014/main" id="{32D1F67E-5428-DC23-197F-14D63922FF6A}"/>
                    </a:ext>
                  </a:extLst>
                </p:cNvPr>
                <p:cNvSpPr txBox="1"/>
                <p:nvPr/>
              </p:nvSpPr>
              <p:spPr>
                <a:xfrm>
                  <a:off x="9692161" y="3665222"/>
                  <a:ext cx="818458"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building</a:t>
                  </a:r>
                </a:p>
              </p:txBody>
            </p:sp>
            <p:sp>
              <p:nvSpPr>
                <p:cNvPr id="97" name="椭圆 96">
                  <a:extLst>
                    <a:ext uri="{FF2B5EF4-FFF2-40B4-BE49-F238E27FC236}">
                      <a16:creationId xmlns:a16="http://schemas.microsoft.com/office/drawing/2014/main" id="{B4FC73CA-8037-9ADE-A614-DDFBEFCA259F}"/>
                    </a:ext>
                  </a:extLst>
                </p:cNvPr>
                <p:cNvSpPr/>
                <p:nvPr/>
              </p:nvSpPr>
              <p:spPr>
                <a:xfrm>
                  <a:off x="7136997" y="4143389"/>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98" name="文本框 97">
                  <a:extLst>
                    <a:ext uri="{FF2B5EF4-FFF2-40B4-BE49-F238E27FC236}">
                      <a16:creationId xmlns:a16="http://schemas.microsoft.com/office/drawing/2014/main" id="{ED85F231-C205-ED0C-CF4F-47BF0BC8C671}"/>
                    </a:ext>
                  </a:extLst>
                </p:cNvPr>
                <p:cNvSpPr txBox="1"/>
                <p:nvPr/>
              </p:nvSpPr>
              <p:spPr>
                <a:xfrm>
                  <a:off x="6974649" y="4259818"/>
                  <a:ext cx="1041549" cy="27316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traffic</a:t>
                  </a:r>
                  <a:r>
                    <a:rPr lang="en-US" altLang="zh-CN" sz="1400" dirty="0"/>
                    <a:t> </a:t>
                  </a:r>
                  <a:r>
                    <a:rPr lang="en-US" altLang="zh-CN" sz="1400" b="1" dirty="0">
                      <a:latin typeface="Times New Roman" panose="02020603050405020304" charset="0"/>
                      <a:cs typeface="Times New Roman" panose="02020603050405020304" charset="0"/>
                    </a:rPr>
                    <a:t>light</a:t>
                  </a:r>
                </a:p>
                <a:p>
                  <a:pPr algn="ctr"/>
                  <a:r>
                    <a:rPr lang="en-US" altLang="zh-CN" sz="1200" b="1" dirty="0">
                      <a:solidFill>
                        <a:srgbClr val="FF0000"/>
                      </a:solidFill>
                      <a:latin typeface="Times New Roman" panose="02020603050405020304" charset="0"/>
                      <a:cs typeface="Times New Roman" panose="02020603050405020304" charset="0"/>
                    </a:rPr>
                    <a:t>(red)</a:t>
                  </a:r>
                </a:p>
              </p:txBody>
            </p:sp>
            <p:cxnSp>
              <p:nvCxnSpPr>
                <p:cNvPr id="99" name="直接箭头连接符 98">
                  <a:extLst>
                    <a:ext uri="{FF2B5EF4-FFF2-40B4-BE49-F238E27FC236}">
                      <a16:creationId xmlns:a16="http://schemas.microsoft.com/office/drawing/2014/main" id="{674B16BE-C6DC-B549-56CA-CFE1B4FFDC72}"/>
                    </a:ext>
                  </a:extLst>
                </p:cNvPr>
                <p:cNvCxnSpPr>
                  <a:cxnSpLocks/>
                  <a:stCxn id="41" idx="4"/>
                  <a:endCxn id="97" idx="0"/>
                </p:cNvCxnSpPr>
                <p:nvPr/>
              </p:nvCxnSpPr>
              <p:spPr>
                <a:xfrm>
                  <a:off x="7225535" y="3014155"/>
                  <a:ext cx="4445" cy="1129234"/>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19" name="椭圆 118">
                  <a:extLst>
                    <a:ext uri="{FF2B5EF4-FFF2-40B4-BE49-F238E27FC236}">
                      <a16:creationId xmlns:a16="http://schemas.microsoft.com/office/drawing/2014/main" id="{0A95D264-145F-1B28-D12B-01FDFD87DF39}"/>
                    </a:ext>
                  </a:extLst>
                </p:cNvPr>
                <p:cNvSpPr/>
                <p:nvPr/>
              </p:nvSpPr>
              <p:spPr>
                <a:xfrm>
                  <a:off x="8152815" y="3533419"/>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121" name="直接箭头连接符 120">
                  <a:extLst>
                    <a:ext uri="{FF2B5EF4-FFF2-40B4-BE49-F238E27FC236}">
                      <a16:creationId xmlns:a16="http://schemas.microsoft.com/office/drawing/2014/main" id="{680F7AAF-434F-4CC8-45A1-7F1A51929D65}"/>
                    </a:ext>
                  </a:extLst>
                </p:cNvPr>
                <p:cNvCxnSpPr>
                  <a:cxnSpLocks/>
                  <a:stCxn id="41" idx="4"/>
                  <a:endCxn id="119" idx="0"/>
                </p:cNvCxnSpPr>
                <p:nvPr/>
              </p:nvCxnSpPr>
              <p:spPr>
                <a:xfrm>
                  <a:off x="7225535" y="3014155"/>
                  <a:ext cx="1020263" cy="519264"/>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69" name="椭圆 168">
                  <a:extLst>
                    <a:ext uri="{FF2B5EF4-FFF2-40B4-BE49-F238E27FC236}">
                      <a16:creationId xmlns:a16="http://schemas.microsoft.com/office/drawing/2014/main" id="{74C3F907-C3CA-CD3B-32F3-9D2676FC0F1B}"/>
                    </a:ext>
                  </a:extLst>
                </p:cNvPr>
                <p:cNvSpPr/>
                <p:nvPr/>
              </p:nvSpPr>
              <p:spPr>
                <a:xfrm>
                  <a:off x="6415127" y="4134141"/>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170" name="直接箭头连接符 169">
                  <a:extLst>
                    <a:ext uri="{FF2B5EF4-FFF2-40B4-BE49-F238E27FC236}">
                      <a16:creationId xmlns:a16="http://schemas.microsoft.com/office/drawing/2014/main" id="{8F1E1A4F-1D05-9FDD-EECF-60E13492347A}"/>
                    </a:ext>
                  </a:extLst>
                </p:cNvPr>
                <p:cNvCxnSpPr>
                  <a:cxnSpLocks/>
                  <a:stCxn id="41" idx="4"/>
                  <a:endCxn id="169" idx="0"/>
                </p:cNvCxnSpPr>
                <p:nvPr/>
              </p:nvCxnSpPr>
              <p:spPr>
                <a:xfrm flipH="1">
                  <a:off x="6508110" y="3014155"/>
                  <a:ext cx="717425" cy="111998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87" name="文本框 186">
                  <a:extLst>
                    <a:ext uri="{FF2B5EF4-FFF2-40B4-BE49-F238E27FC236}">
                      <a16:creationId xmlns:a16="http://schemas.microsoft.com/office/drawing/2014/main" id="{2E669208-7C61-3081-A16E-224587370D09}"/>
                    </a:ext>
                  </a:extLst>
                </p:cNvPr>
                <p:cNvSpPr txBox="1"/>
                <p:nvPr/>
              </p:nvSpPr>
              <p:spPr>
                <a:xfrm>
                  <a:off x="7867617" y="3595455"/>
                  <a:ext cx="774491" cy="268726"/>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car2</a:t>
                  </a:r>
                </a:p>
                <a:p>
                  <a:pPr algn="ctr"/>
                  <a:r>
                    <a:rPr lang="en-US" altLang="zh-CN" sz="1200" b="1" dirty="0">
                      <a:solidFill>
                        <a:schemeClr val="bg1">
                          <a:lumMod val="75000"/>
                        </a:schemeClr>
                      </a:solidFill>
                      <a:latin typeface="Times New Roman" panose="02020603050405020304" charset="0"/>
                      <a:cs typeface="Times New Roman" panose="02020603050405020304" charset="0"/>
                    </a:rPr>
                    <a:t>(white)</a:t>
                  </a:r>
                </a:p>
              </p:txBody>
            </p:sp>
            <p:cxnSp>
              <p:nvCxnSpPr>
                <p:cNvPr id="188" name="直接箭头连接符 187">
                  <a:extLst>
                    <a:ext uri="{FF2B5EF4-FFF2-40B4-BE49-F238E27FC236}">
                      <a16:creationId xmlns:a16="http://schemas.microsoft.com/office/drawing/2014/main" id="{26EF1951-2963-FC02-5EAF-DE386EF8B1E8}"/>
                    </a:ext>
                  </a:extLst>
                </p:cNvPr>
                <p:cNvCxnSpPr>
                  <a:cxnSpLocks/>
                  <a:stCxn id="41" idx="4"/>
                  <a:endCxn id="186" idx="0"/>
                </p:cNvCxnSpPr>
                <p:nvPr/>
              </p:nvCxnSpPr>
              <p:spPr>
                <a:xfrm>
                  <a:off x="7225535" y="3014155"/>
                  <a:ext cx="316145" cy="51828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68" name="文本框 167">
                  <a:extLst>
                    <a:ext uri="{FF2B5EF4-FFF2-40B4-BE49-F238E27FC236}">
                      <a16:creationId xmlns:a16="http://schemas.microsoft.com/office/drawing/2014/main" id="{7D4B1C2E-0E22-02DE-3FBB-C780D1BDC38C}"/>
                    </a:ext>
                  </a:extLst>
                </p:cNvPr>
                <p:cNvSpPr txBox="1"/>
                <p:nvPr/>
              </p:nvSpPr>
              <p:spPr>
                <a:xfrm>
                  <a:off x="5929401" y="4061055"/>
                  <a:ext cx="1085814"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pedestrian1</a:t>
                  </a:r>
                </a:p>
              </p:txBody>
            </p:sp>
          </p:grpSp>
          <p:sp>
            <p:nvSpPr>
              <p:cNvPr id="221" name="椭圆 220">
                <a:extLst>
                  <a:ext uri="{FF2B5EF4-FFF2-40B4-BE49-F238E27FC236}">
                    <a16:creationId xmlns:a16="http://schemas.microsoft.com/office/drawing/2014/main" id="{24A120DE-DEA7-77D1-7A53-D08FFA8CF001}"/>
                  </a:ext>
                </a:extLst>
              </p:cNvPr>
              <p:cNvSpPr/>
              <p:nvPr/>
            </p:nvSpPr>
            <p:spPr>
              <a:xfrm>
                <a:off x="9266642" y="3531353"/>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222" name="文本框 221">
                <a:extLst>
                  <a:ext uri="{FF2B5EF4-FFF2-40B4-BE49-F238E27FC236}">
                    <a16:creationId xmlns:a16="http://schemas.microsoft.com/office/drawing/2014/main" id="{A40F5DED-BF22-41CC-1031-D709F7108305}"/>
                  </a:ext>
                </a:extLst>
              </p:cNvPr>
              <p:cNvSpPr txBox="1"/>
              <p:nvPr/>
            </p:nvSpPr>
            <p:spPr>
              <a:xfrm>
                <a:off x="9335837" y="3415885"/>
                <a:ext cx="675697" cy="306388"/>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street</a:t>
                </a:r>
              </a:p>
            </p:txBody>
          </p:sp>
          <p:cxnSp>
            <p:nvCxnSpPr>
              <p:cNvPr id="223" name="直接箭头连接符 222">
                <a:extLst>
                  <a:ext uri="{FF2B5EF4-FFF2-40B4-BE49-F238E27FC236}">
                    <a16:creationId xmlns:a16="http://schemas.microsoft.com/office/drawing/2014/main" id="{254B435B-2C51-8C64-89D8-98BB7B12C82A}"/>
                  </a:ext>
                </a:extLst>
              </p:cNvPr>
              <p:cNvCxnSpPr>
                <a:cxnSpLocks/>
                <a:stCxn id="26" idx="3"/>
                <a:endCxn id="221" idx="0"/>
              </p:cNvCxnSpPr>
              <p:nvPr/>
            </p:nvCxnSpPr>
            <p:spPr>
              <a:xfrm flipH="1">
                <a:off x="9359625" y="2973107"/>
                <a:ext cx="635691" cy="55824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231" name="直接箭头连接符 230">
                <a:extLst>
                  <a:ext uri="{FF2B5EF4-FFF2-40B4-BE49-F238E27FC236}">
                    <a16:creationId xmlns:a16="http://schemas.microsoft.com/office/drawing/2014/main" id="{46C2601A-ADD4-2BDA-7332-7D760EE9B868}"/>
                  </a:ext>
                </a:extLst>
              </p:cNvPr>
              <p:cNvCxnSpPr>
                <a:cxnSpLocks/>
                <a:stCxn id="47" idx="0"/>
                <a:endCxn id="221" idx="4"/>
              </p:cNvCxnSpPr>
              <p:nvPr/>
            </p:nvCxnSpPr>
            <p:spPr>
              <a:xfrm flipH="1" flipV="1">
                <a:off x="9359625" y="3715491"/>
                <a:ext cx="375365" cy="426687"/>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235" name="文本框 234">
                <a:extLst>
                  <a:ext uri="{FF2B5EF4-FFF2-40B4-BE49-F238E27FC236}">
                    <a16:creationId xmlns:a16="http://schemas.microsoft.com/office/drawing/2014/main" id="{3166556A-776E-7FFC-08F2-E1EBE20EAC6C}"/>
                  </a:ext>
                </a:extLst>
              </p:cNvPr>
              <p:cNvSpPr txBox="1"/>
              <p:nvPr/>
            </p:nvSpPr>
            <p:spPr>
              <a:xfrm rot="21440655">
                <a:off x="9299621" y="3813532"/>
                <a:ext cx="375124"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on</a:t>
                </a:r>
                <a:endParaRPr lang="zh-CN" altLang="en-US" sz="1200" dirty="0">
                  <a:latin typeface="Times New Roman" panose="02020603050405020304" pitchFamily="18" charset="0"/>
                  <a:cs typeface="Times New Roman" panose="02020603050405020304" pitchFamily="18" charset="0"/>
                </a:endParaRPr>
              </a:p>
            </p:txBody>
          </p:sp>
          <p:cxnSp>
            <p:nvCxnSpPr>
              <p:cNvPr id="335" name="直接箭头连接符 334">
                <a:extLst>
                  <a:ext uri="{FF2B5EF4-FFF2-40B4-BE49-F238E27FC236}">
                    <a16:creationId xmlns:a16="http://schemas.microsoft.com/office/drawing/2014/main" id="{FB13257A-6486-BE0D-8773-19DC6275BC44}"/>
                  </a:ext>
                </a:extLst>
              </p:cNvPr>
              <p:cNvCxnSpPr>
                <a:cxnSpLocks/>
                <a:stCxn id="119" idx="6"/>
                <a:endCxn id="221" idx="2"/>
              </p:cNvCxnSpPr>
              <p:nvPr/>
            </p:nvCxnSpPr>
            <p:spPr>
              <a:xfrm>
                <a:off x="8410840" y="3621861"/>
                <a:ext cx="855802" cy="156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39" name="直接箭头连接符 338">
                <a:extLst>
                  <a:ext uri="{FF2B5EF4-FFF2-40B4-BE49-F238E27FC236}">
                    <a16:creationId xmlns:a16="http://schemas.microsoft.com/office/drawing/2014/main" id="{9E684B80-934F-1E30-4CF2-9816187CA2F0}"/>
                  </a:ext>
                </a:extLst>
              </p:cNvPr>
              <p:cNvCxnSpPr>
                <a:cxnSpLocks/>
                <a:stCxn id="186" idx="6"/>
                <a:endCxn id="119" idx="2"/>
              </p:cNvCxnSpPr>
              <p:nvPr/>
            </p:nvCxnSpPr>
            <p:spPr>
              <a:xfrm>
                <a:off x="7706722" y="3620886"/>
                <a:ext cx="518153" cy="97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345" name="文本框 344">
                <a:extLst>
                  <a:ext uri="{FF2B5EF4-FFF2-40B4-BE49-F238E27FC236}">
                    <a16:creationId xmlns:a16="http://schemas.microsoft.com/office/drawing/2014/main" id="{22273B65-5E18-76F0-11FE-7E38BBC84A03}"/>
                  </a:ext>
                </a:extLst>
              </p:cNvPr>
              <p:cNvSpPr txBox="1"/>
              <p:nvPr/>
            </p:nvSpPr>
            <p:spPr>
              <a:xfrm>
                <a:off x="7630653" y="3398394"/>
                <a:ext cx="599094"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behind</a:t>
                </a:r>
                <a:endParaRPr lang="zh-CN" altLang="en-US" sz="1200" dirty="0">
                  <a:latin typeface="Times New Roman" panose="02020603050405020304" pitchFamily="18" charset="0"/>
                  <a:cs typeface="Times New Roman" panose="02020603050405020304" pitchFamily="18" charset="0"/>
                </a:endParaRPr>
              </a:p>
            </p:txBody>
          </p:sp>
          <p:sp>
            <p:nvSpPr>
              <p:cNvPr id="346" name="文本框 345">
                <a:extLst>
                  <a:ext uri="{FF2B5EF4-FFF2-40B4-BE49-F238E27FC236}">
                    <a16:creationId xmlns:a16="http://schemas.microsoft.com/office/drawing/2014/main" id="{E595C409-75F2-53FA-404E-30AD28C7426C}"/>
                  </a:ext>
                </a:extLst>
              </p:cNvPr>
              <p:cNvSpPr txBox="1"/>
              <p:nvPr/>
            </p:nvSpPr>
            <p:spPr>
              <a:xfrm>
                <a:off x="8410286" y="3388341"/>
                <a:ext cx="945693"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driving on</a:t>
                </a:r>
                <a:endParaRPr lang="zh-CN" altLang="en-US" sz="1200" dirty="0">
                  <a:latin typeface="Times New Roman" panose="02020603050405020304" pitchFamily="18" charset="0"/>
                  <a:cs typeface="Times New Roman" panose="02020603050405020304" pitchFamily="18" charset="0"/>
                </a:endParaRPr>
              </a:p>
            </p:txBody>
          </p:sp>
          <p:cxnSp>
            <p:nvCxnSpPr>
              <p:cNvPr id="423" name="直接箭头连接符 422">
                <a:extLst>
                  <a:ext uri="{FF2B5EF4-FFF2-40B4-BE49-F238E27FC236}">
                    <a16:creationId xmlns:a16="http://schemas.microsoft.com/office/drawing/2014/main" id="{FAAAA476-B7EB-26CB-FCED-BEC65D5A7017}"/>
                  </a:ext>
                </a:extLst>
              </p:cNvPr>
              <p:cNvCxnSpPr>
                <a:cxnSpLocks/>
                <a:stCxn id="97" idx="6"/>
                <a:endCxn id="47" idx="2"/>
              </p:cNvCxnSpPr>
              <p:nvPr/>
            </p:nvCxnSpPr>
            <p:spPr>
              <a:xfrm>
                <a:off x="7395022" y="4231831"/>
                <a:ext cx="2246985" cy="241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433" name="文本框 432">
                <a:extLst>
                  <a:ext uri="{FF2B5EF4-FFF2-40B4-BE49-F238E27FC236}">
                    <a16:creationId xmlns:a16="http://schemas.microsoft.com/office/drawing/2014/main" id="{AF2F3DC4-8FC0-5227-E1B7-87356EEBC2BA}"/>
                  </a:ext>
                </a:extLst>
              </p:cNvPr>
              <p:cNvSpPr txBox="1"/>
              <p:nvPr/>
            </p:nvSpPr>
            <p:spPr>
              <a:xfrm>
                <a:off x="8172790" y="4013672"/>
                <a:ext cx="945693"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next to</a:t>
                </a:r>
                <a:endParaRPr lang="zh-CN" altLang="en-US" sz="1200" dirty="0">
                  <a:latin typeface="Times New Roman" panose="02020603050405020304" pitchFamily="18" charset="0"/>
                  <a:cs typeface="Times New Roman" panose="02020603050405020304" pitchFamily="18" charset="0"/>
                </a:endParaRPr>
              </a:p>
            </p:txBody>
          </p:sp>
        </p:grpSp>
        <p:sp>
          <p:nvSpPr>
            <p:cNvPr id="2" name="矩形 1">
              <a:extLst>
                <a:ext uri="{FF2B5EF4-FFF2-40B4-BE49-F238E27FC236}">
                  <a16:creationId xmlns:a16="http://schemas.microsoft.com/office/drawing/2014/main" id="{CC9B349C-0C42-2772-4212-33A2C815134A}"/>
                </a:ext>
              </a:extLst>
            </p:cNvPr>
            <p:cNvSpPr/>
            <p:nvPr/>
          </p:nvSpPr>
          <p:spPr>
            <a:xfrm>
              <a:off x="5310818" y="3891512"/>
              <a:ext cx="1927412" cy="329576"/>
            </a:xfrm>
            <a:prstGeom prst="rect">
              <a:avLst/>
            </a:prstGeom>
            <a:noFill/>
            <a:ln w="635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任意多边形: 形状 4">
              <a:extLst>
                <a:ext uri="{FF2B5EF4-FFF2-40B4-BE49-F238E27FC236}">
                  <a16:creationId xmlns:a16="http://schemas.microsoft.com/office/drawing/2014/main" id="{D4F946A0-BA77-8A71-1075-EF457AA8AC0C}"/>
                </a:ext>
              </a:extLst>
            </p:cNvPr>
            <p:cNvSpPr/>
            <p:nvPr/>
          </p:nvSpPr>
          <p:spPr>
            <a:xfrm>
              <a:off x="6233160" y="4160520"/>
              <a:ext cx="3672840" cy="785122"/>
            </a:xfrm>
            <a:custGeom>
              <a:avLst/>
              <a:gdLst>
                <a:gd name="connsiteX0" fmla="*/ 0 w 3672840"/>
                <a:gd name="connsiteY0" fmla="*/ 68580 h 785122"/>
                <a:gd name="connsiteX1" fmla="*/ 883920 w 3672840"/>
                <a:gd name="connsiteY1" fmla="*/ 784860 h 785122"/>
                <a:gd name="connsiteX2" fmla="*/ 3672840 w 3672840"/>
                <a:gd name="connsiteY2" fmla="*/ 0 h 785122"/>
              </a:gdLst>
              <a:ahLst/>
              <a:cxnLst>
                <a:cxn ang="0">
                  <a:pos x="connsiteX0" y="connsiteY0"/>
                </a:cxn>
                <a:cxn ang="0">
                  <a:pos x="connsiteX1" y="connsiteY1"/>
                </a:cxn>
                <a:cxn ang="0">
                  <a:pos x="connsiteX2" y="connsiteY2"/>
                </a:cxn>
              </a:cxnLst>
              <a:rect l="l" t="t" r="r" b="b"/>
              <a:pathLst>
                <a:path w="3672840" h="785122">
                  <a:moveTo>
                    <a:pt x="0" y="68580"/>
                  </a:moveTo>
                  <a:cubicBezTo>
                    <a:pt x="135890" y="432435"/>
                    <a:pt x="271780" y="796290"/>
                    <a:pt x="883920" y="784860"/>
                  </a:cubicBezTo>
                  <a:cubicBezTo>
                    <a:pt x="1496060" y="773430"/>
                    <a:pt x="3167380" y="144780"/>
                    <a:pt x="3672840" y="0"/>
                  </a:cubicBezTo>
                </a:path>
              </a:pathLst>
            </a:cu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394074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A95C-1A9A-C7B9-9584-06A38CA4B850}"/>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8424CC31-9D51-420A-1AA6-DF6634898AFF}"/>
              </a:ext>
            </a:extLst>
          </p:cNvPr>
          <p:cNvPicPr>
            <a:picLocks noChangeAspect="1"/>
          </p:cNvPicPr>
          <p:nvPr/>
        </p:nvPicPr>
        <p:blipFill>
          <a:blip r:embed="rId3"/>
          <a:stretch>
            <a:fillRect/>
          </a:stretch>
        </p:blipFill>
        <p:spPr>
          <a:xfrm>
            <a:off x="6229350" y="1747064"/>
            <a:ext cx="5220854" cy="3915641"/>
          </a:xfrm>
          <a:prstGeom prst="rect">
            <a:avLst/>
          </a:prstGeom>
        </p:spPr>
      </p:pic>
      <p:sp>
        <p:nvSpPr>
          <p:cNvPr id="13" name="标题 2">
            <a:extLst>
              <a:ext uri="{FF2B5EF4-FFF2-40B4-BE49-F238E27FC236}">
                <a16:creationId xmlns:a16="http://schemas.microsoft.com/office/drawing/2014/main" id="{0D4F4BB0-BDE0-BD80-A3A0-FF8C12FE2977}"/>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7.</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创造：任务实践</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178CBCBA-2BCF-07CA-0ED5-67069D36C1BC}"/>
              </a:ext>
            </a:extLst>
          </p:cNvPr>
          <p:cNvSpPr txBox="1"/>
          <p:nvPr/>
        </p:nvSpPr>
        <p:spPr>
          <a:xfrm>
            <a:off x="606551" y="1276579"/>
            <a:ext cx="5129409" cy="1495409"/>
          </a:xfrm>
          <a:prstGeom prst="rect">
            <a:avLst/>
          </a:prstGeom>
          <a:noFill/>
        </p:spPr>
        <p:txBody>
          <a:bodyPr wrap="square">
            <a:spAutoFit/>
          </a:bodyPr>
          <a:lstStyle/>
          <a:p>
            <a:pPr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最后，让我们通过实际任务来巩固所学的知识。请同学们根据前面学习的“场景图生成”流程，亲自动手</a:t>
            </a:r>
            <a:r>
              <a:rPr lang="zh-CN" altLang="en-US" sz="1600" dirty="0">
                <a:latin typeface="Microsoft YaHei" panose="020B0503020204020204" pitchFamily="34" charset="-122"/>
                <a:ea typeface="Microsoft YaHei" panose="020B0503020204020204" pitchFamily="34" charset="-122"/>
              </a:rPr>
              <a:t>完成场景图的构建。</a:t>
            </a:r>
            <a:endParaRPr lang="zh-CN" altLang="en-US" sz="1600" dirty="0">
              <a:solidFill>
                <a:srgbClr val="404040"/>
              </a:solidFill>
              <a:latin typeface="Microsoft YaHei" panose="020B0503020204020204" pitchFamily="34" charset="-122"/>
              <a:ea typeface="Microsoft YaHei" panose="020B0503020204020204" pitchFamily="34" charset="-122"/>
            </a:endParaRPr>
          </a:p>
        </p:txBody>
      </p:sp>
      <p:sp>
        <p:nvSpPr>
          <p:cNvPr id="16" name="文本框 15">
            <a:extLst>
              <a:ext uri="{FF2B5EF4-FFF2-40B4-BE49-F238E27FC236}">
                <a16:creationId xmlns:a16="http://schemas.microsoft.com/office/drawing/2014/main" id="{9EAD3AD7-B23B-F171-20EC-45C4FE9EC5D3}"/>
              </a:ext>
            </a:extLst>
          </p:cNvPr>
          <p:cNvSpPr txBox="1"/>
          <p:nvPr/>
        </p:nvSpPr>
        <p:spPr>
          <a:xfrm>
            <a:off x="600891" y="1005840"/>
            <a:ext cx="1338828" cy="369332"/>
          </a:xfrm>
          <a:prstGeom prst="rect">
            <a:avLst/>
          </a:prstGeom>
          <a:noFill/>
        </p:spPr>
        <p:txBody>
          <a:bodyPr wrap="none" rtlCol="0">
            <a:spAutoFit/>
          </a:bodyPr>
          <a:lstStyle/>
          <a:p>
            <a:r>
              <a:rPr kumimoji="1" lang="zh-CN" altLang="en-US" b="1" dirty="0"/>
              <a:t>任务实践：</a:t>
            </a:r>
          </a:p>
        </p:txBody>
      </p:sp>
      <p:sp>
        <p:nvSpPr>
          <p:cNvPr id="3" name="日期占位符 2">
            <a:extLst>
              <a:ext uri="{FF2B5EF4-FFF2-40B4-BE49-F238E27FC236}">
                <a16:creationId xmlns:a16="http://schemas.microsoft.com/office/drawing/2014/main" id="{8A8C95C5-EE82-1547-9779-CE9FB4549B1C}"/>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4DAA6EF7-687D-37BA-8731-C250268DA72F}"/>
              </a:ext>
            </a:extLst>
          </p:cNvPr>
          <p:cNvSpPr>
            <a:spLocks noGrp="1"/>
          </p:cNvSpPr>
          <p:nvPr>
            <p:ph type="sldNum" sz="quarter" idx="12"/>
          </p:nvPr>
        </p:nvSpPr>
        <p:spPr/>
        <p:txBody>
          <a:bodyPr/>
          <a:lstStyle/>
          <a:p>
            <a:fld id="{0C913308-F349-4B6D-A68A-DD1791B4A57B}" type="slidenum">
              <a:rPr lang="zh-CN" altLang="en-US" smtClean="0"/>
              <a:t>11</a:t>
            </a:fld>
            <a:endParaRPr lang="zh-CN" altLang="en-US"/>
          </a:p>
        </p:txBody>
      </p:sp>
      <p:sp>
        <p:nvSpPr>
          <p:cNvPr id="19" name="文本框 18">
            <a:extLst>
              <a:ext uri="{FF2B5EF4-FFF2-40B4-BE49-F238E27FC236}">
                <a16:creationId xmlns:a16="http://schemas.microsoft.com/office/drawing/2014/main" id="{D2E96C2A-2E59-2183-CF87-377596A2F967}"/>
              </a:ext>
            </a:extLst>
          </p:cNvPr>
          <p:cNvSpPr txBox="1"/>
          <p:nvPr/>
        </p:nvSpPr>
        <p:spPr>
          <a:xfrm>
            <a:off x="600891" y="4857729"/>
            <a:ext cx="5019536" cy="1002967"/>
          </a:xfrm>
          <a:prstGeom prst="rect">
            <a:avLst/>
          </a:prstGeom>
          <a:noFill/>
        </p:spPr>
        <p:txBody>
          <a:bodyPr wrap="square">
            <a:spAutoFit/>
          </a:bodyPr>
          <a:lstStyle/>
          <a:p>
            <a:pPr marL="0" lvl="1" indent="457200" algn="just">
              <a:lnSpc>
                <a:spcPct val="200000"/>
              </a:lnSpc>
            </a:pPr>
            <a:r>
              <a:rPr lang="zh-CN" altLang="en-US" sz="1600" dirty="0">
                <a:solidFill>
                  <a:srgbClr val="404040"/>
                </a:solidFill>
                <a:latin typeface="Microsoft YaHei" panose="020B0503020204020204" pitchFamily="34" charset="-122"/>
                <a:ea typeface="Microsoft YaHei" panose="020B0503020204020204" pitchFamily="34" charset="-122"/>
              </a:rPr>
              <a:t>构建完成后，根据之前学到的标准，评价自己构建的场景图质量，并思考如何改进。</a:t>
            </a:r>
          </a:p>
        </p:txBody>
      </p:sp>
      <p:sp>
        <p:nvSpPr>
          <p:cNvPr id="20" name="文本框 19">
            <a:extLst>
              <a:ext uri="{FF2B5EF4-FFF2-40B4-BE49-F238E27FC236}">
                <a16:creationId xmlns:a16="http://schemas.microsoft.com/office/drawing/2014/main" id="{96519ED8-E3EA-C5E5-4E6C-6699C7FB7231}"/>
              </a:ext>
            </a:extLst>
          </p:cNvPr>
          <p:cNvSpPr txBox="1"/>
          <p:nvPr/>
        </p:nvSpPr>
        <p:spPr>
          <a:xfrm>
            <a:off x="600891" y="4581128"/>
            <a:ext cx="1338828" cy="369332"/>
          </a:xfrm>
          <a:prstGeom prst="rect">
            <a:avLst/>
          </a:prstGeom>
          <a:noFill/>
        </p:spPr>
        <p:txBody>
          <a:bodyPr wrap="none" rtlCol="0">
            <a:spAutoFit/>
          </a:bodyPr>
          <a:lstStyle/>
          <a:p>
            <a:r>
              <a:rPr kumimoji="1" lang="zh-CN" altLang="en-US" b="1" dirty="0"/>
              <a:t>任务评价：</a:t>
            </a:r>
          </a:p>
        </p:txBody>
      </p:sp>
      <p:sp>
        <p:nvSpPr>
          <p:cNvPr id="21" name="文本框 20">
            <a:extLst>
              <a:ext uri="{FF2B5EF4-FFF2-40B4-BE49-F238E27FC236}">
                <a16:creationId xmlns:a16="http://schemas.microsoft.com/office/drawing/2014/main" id="{3E8E5715-8E07-7A60-9A07-3A2E4626EA44}"/>
              </a:ext>
            </a:extLst>
          </p:cNvPr>
          <p:cNvSpPr txBox="1"/>
          <p:nvPr/>
        </p:nvSpPr>
        <p:spPr>
          <a:xfrm>
            <a:off x="602459" y="2681295"/>
            <a:ext cx="2890050" cy="1495409"/>
          </a:xfrm>
          <a:prstGeom prst="rect">
            <a:avLst/>
          </a:prstGeom>
          <a:noFill/>
        </p:spPr>
        <p:txBody>
          <a:bodyPr wrap="square">
            <a:spAutoFit/>
          </a:bodyPr>
          <a:lstStyle/>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第一步：宏观概述。</a:t>
            </a:r>
            <a:endParaRPr lang="en-US" altLang="zh-CN" sz="1600" dirty="0">
              <a:latin typeface="Microsoft YaHei" panose="020B0503020204020204" pitchFamily="34" charset="-122"/>
              <a:ea typeface="Microsoft YaHei" panose="020B0503020204020204" pitchFamily="34" charset="-122"/>
            </a:endParaRPr>
          </a:p>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第二步：核心描述。</a:t>
            </a:r>
            <a:endParaRPr lang="en-US" altLang="zh-CN" sz="1600" dirty="0">
              <a:latin typeface="Microsoft YaHei" panose="020B0503020204020204" pitchFamily="34" charset="-122"/>
              <a:ea typeface="Microsoft YaHei" panose="020B0503020204020204" pitchFamily="34" charset="-122"/>
            </a:endParaRPr>
          </a:p>
          <a:p>
            <a:pPr indent="457200" algn="just">
              <a:lnSpc>
                <a:spcPct val="200000"/>
              </a:lnSpc>
            </a:pPr>
            <a:r>
              <a:rPr lang="zh-CN" altLang="en-US" sz="1600" dirty="0">
                <a:latin typeface="Microsoft YaHei" panose="020B0503020204020204" pitchFamily="34" charset="-122"/>
                <a:ea typeface="Microsoft YaHei" panose="020B0503020204020204" pitchFamily="34" charset="-122"/>
              </a:rPr>
              <a:t>第三步：细节补充。</a:t>
            </a:r>
          </a:p>
        </p:txBody>
      </p:sp>
      <p:sp>
        <p:nvSpPr>
          <p:cNvPr id="2" name="文本框 1">
            <a:extLst>
              <a:ext uri="{FF2B5EF4-FFF2-40B4-BE49-F238E27FC236}">
                <a16:creationId xmlns:a16="http://schemas.microsoft.com/office/drawing/2014/main" id="{E11D8D5A-1979-8A33-84FC-ADE4FBB14D3A}"/>
              </a:ext>
            </a:extLst>
          </p:cNvPr>
          <p:cNvSpPr txBox="1"/>
          <p:nvPr/>
        </p:nvSpPr>
        <p:spPr>
          <a:xfrm>
            <a:off x="5902044" y="1091913"/>
            <a:ext cx="1107996" cy="369332"/>
          </a:xfrm>
          <a:prstGeom prst="rect">
            <a:avLst/>
          </a:prstGeom>
          <a:noFill/>
        </p:spPr>
        <p:txBody>
          <a:bodyPr wrap="none" rtlCol="0">
            <a:spAutoFit/>
          </a:bodyPr>
          <a:lstStyle/>
          <a:p>
            <a:r>
              <a:rPr kumimoji="1" lang="zh-CN" altLang="en-US" b="1" dirty="0"/>
              <a:t>任务二：</a:t>
            </a:r>
          </a:p>
        </p:txBody>
      </p:sp>
    </p:spTree>
    <p:extLst>
      <p:ext uri="{BB962C8B-B14F-4D97-AF65-F5344CB8AC3E}">
        <p14:creationId xmlns:p14="http://schemas.microsoft.com/office/powerpoint/2010/main" val="1300789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5EC43-BC1B-9031-BCA6-EFEF54D30200}"/>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4BDA949A-E9B0-8181-C2F4-A37FB94E3F68}"/>
              </a:ext>
            </a:extLst>
          </p:cNvPr>
          <p:cNvPicPr>
            <a:picLocks noChangeAspect="1"/>
          </p:cNvPicPr>
          <p:nvPr/>
        </p:nvPicPr>
        <p:blipFill>
          <a:blip r:embed="rId3"/>
          <a:stretch>
            <a:fillRect/>
          </a:stretch>
        </p:blipFill>
        <p:spPr>
          <a:xfrm>
            <a:off x="838200" y="1872039"/>
            <a:ext cx="4152554" cy="3114416"/>
          </a:xfrm>
          <a:prstGeom prst="rect">
            <a:avLst/>
          </a:prstGeom>
        </p:spPr>
      </p:pic>
      <p:sp>
        <p:nvSpPr>
          <p:cNvPr id="13" name="标题 2">
            <a:extLst>
              <a:ext uri="{FF2B5EF4-FFF2-40B4-BE49-F238E27FC236}">
                <a16:creationId xmlns:a16="http://schemas.microsoft.com/office/drawing/2014/main" id="{366A1F56-E365-19C9-2B12-BF8ED69A3090}"/>
              </a:ext>
            </a:extLst>
          </p:cNvPr>
          <p:cNvSpPr txBox="1">
            <a:spLocks/>
          </p:cNvSpPr>
          <p:nvPr/>
        </p:nvSpPr>
        <p:spPr>
          <a:xfrm>
            <a:off x="3791744" y="0"/>
            <a:ext cx="8282136" cy="8060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7.</a:t>
            </a:r>
            <a:r>
              <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创造：任务实践</a:t>
            </a:r>
            <a:r>
              <a:rPr lang="en-US" altLang="zh-CN"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rPr>
              <a:t> </a:t>
            </a:r>
            <a:endParaRPr lang="zh-CN" altLang="en-US" sz="3200" b="1" dirty="0">
              <a:solidFill>
                <a:schemeClr val="bg1"/>
              </a:solidFill>
              <a:latin typeface="Times New Roman" panose="02020603050405020304" pitchFamily="18" charset="0"/>
              <a:ea typeface="SimHei" panose="02010609060101010101" pitchFamily="49" charset="-122"/>
              <a:cs typeface="Times New Roman" panose="02020603050405020304" pitchFamily="18" charset="0"/>
            </a:endParaRPr>
          </a:p>
        </p:txBody>
      </p:sp>
      <p:sp>
        <p:nvSpPr>
          <p:cNvPr id="16" name="文本框 15">
            <a:extLst>
              <a:ext uri="{FF2B5EF4-FFF2-40B4-BE49-F238E27FC236}">
                <a16:creationId xmlns:a16="http://schemas.microsoft.com/office/drawing/2014/main" id="{04937E7D-0E41-295F-AB41-78C7B1D7079A}"/>
              </a:ext>
            </a:extLst>
          </p:cNvPr>
          <p:cNvSpPr txBox="1"/>
          <p:nvPr/>
        </p:nvSpPr>
        <p:spPr>
          <a:xfrm>
            <a:off x="623392" y="1154036"/>
            <a:ext cx="2031325" cy="369332"/>
          </a:xfrm>
          <a:prstGeom prst="rect">
            <a:avLst/>
          </a:prstGeom>
          <a:noFill/>
        </p:spPr>
        <p:txBody>
          <a:bodyPr wrap="none" rtlCol="0">
            <a:spAutoFit/>
          </a:bodyPr>
          <a:lstStyle/>
          <a:p>
            <a:r>
              <a:rPr kumimoji="1" lang="zh-CN" altLang="en-US" b="1" dirty="0"/>
              <a:t>任务二参考答案：</a:t>
            </a:r>
          </a:p>
        </p:txBody>
      </p:sp>
      <p:sp>
        <p:nvSpPr>
          <p:cNvPr id="3" name="日期占位符 2">
            <a:extLst>
              <a:ext uri="{FF2B5EF4-FFF2-40B4-BE49-F238E27FC236}">
                <a16:creationId xmlns:a16="http://schemas.microsoft.com/office/drawing/2014/main" id="{59938FBD-A5C9-EFD3-4040-3537DC276AE6}"/>
              </a:ext>
            </a:extLst>
          </p:cNvPr>
          <p:cNvSpPr>
            <a:spLocks noGrp="1"/>
          </p:cNvSpPr>
          <p:nvPr>
            <p:ph type="dt" sz="half" idx="10"/>
          </p:nvPr>
        </p:nvSpPr>
        <p:spPr/>
        <p:txBody>
          <a:bodyPr/>
          <a:lstStyle/>
          <a:p>
            <a:fld id="{F6E9EDFA-D2BC-C047-8158-A2573099E1AD}" type="datetime1">
              <a:rPr lang="zh-CN" altLang="en-US" smtClean="0"/>
              <a:t>2025/8/11</a:t>
            </a:fld>
            <a:endParaRPr lang="zh-CN" altLang="en-US"/>
          </a:p>
        </p:txBody>
      </p:sp>
      <p:sp>
        <p:nvSpPr>
          <p:cNvPr id="4" name="灯片编号占位符 3">
            <a:extLst>
              <a:ext uri="{FF2B5EF4-FFF2-40B4-BE49-F238E27FC236}">
                <a16:creationId xmlns:a16="http://schemas.microsoft.com/office/drawing/2014/main" id="{921E88F1-6700-4906-5A09-56DC3A28CFB0}"/>
              </a:ext>
            </a:extLst>
          </p:cNvPr>
          <p:cNvSpPr>
            <a:spLocks noGrp="1"/>
          </p:cNvSpPr>
          <p:nvPr>
            <p:ph type="sldNum" sz="quarter" idx="12"/>
          </p:nvPr>
        </p:nvSpPr>
        <p:spPr/>
        <p:txBody>
          <a:bodyPr/>
          <a:lstStyle/>
          <a:p>
            <a:fld id="{0C913308-F349-4B6D-A68A-DD1791B4A57B}" type="slidenum">
              <a:rPr lang="zh-CN" altLang="en-US" smtClean="0"/>
              <a:t>12</a:t>
            </a:fld>
            <a:endParaRPr lang="zh-CN" altLang="en-US" dirty="0"/>
          </a:p>
        </p:txBody>
      </p:sp>
      <p:grpSp>
        <p:nvGrpSpPr>
          <p:cNvPr id="118" name="组合 117">
            <a:extLst>
              <a:ext uri="{FF2B5EF4-FFF2-40B4-BE49-F238E27FC236}">
                <a16:creationId xmlns:a16="http://schemas.microsoft.com/office/drawing/2014/main" id="{EC8611EA-7ECB-55F4-59C0-9C88C0869775}"/>
              </a:ext>
            </a:extLst>
          </p:cNvPr>
          <p:cNvGrpSpPr/>
          <p:nvPr/>
        </p:nvGrpSpPr>
        <p:grpSpPr>
          <a:xfrm>
            <a:off x="5083749" y="1872039"/>
            <a:ext cx="6278849" cy="3114416"/>
            <a:chOff x="5021617" y="1701728"/>
            <a:chExt cx="6278849" cy="3114416"/>
          </a:xfrm>
        </p:grpSpPr>
        <p:grpSp>
          <p:nvGrpSpPr>
            <p:cNvPr id="434" name="组合 433">
              <a:extLst>
                <a:ext uri="{FF2B5EF4-FFF2-40B4-BE49-F238E27FC236}">
                  <a16:creationId xmlns:a16="http://schemas.microsoft.com/office/drawing/2014/main" id="{D934C617-1306-F078-E522-EF96C89949EB}"/>
                </a:ext>
              </a:extLst>
            </p:cNvPr>
            <p:cNvGrpSpPr/>
            <p:nvPr/>
          </p:nvGrpSpPr>
          <p:grpSpPr>
            <a:xfrm>
              <a:off x="5021617" y="1701728"/>
              <a:ext cx="6278849" cy="3114416"/>
              <a:chOff x="4825651" y="1857317"/>
              <a:chExt cx="6278849" cy="3114416"/>
            </a:xfrm>
          </p:grpSpPr>
          <p:grpSp>
            <p:nvGrpSpPr>
              <p:cNvPr id="220" name="组合 219">
                <a:extLst>
                  <a:ext uri="{FF2B5EF4-FFF2-40B4-BE49-F238E27FC236}">
                    <a16:creationId xmlns:a16="http://schemas.microsoft.com/office/drawing/2014/main" id="{9D2D951F-BED5-0FF0-730C-073D0F1D545F}"/>
                  </a:ext>
                </a:extLst>
              </p:cNvPr>
              <p:cNvGrpSpPr/>
              <p:nvPr/>
            </p:nvGrpSpPr>
            <p:grpSpPr>
              <a:xfrm>
                <a:off x="4825651" y="1857317"/>
                <a:ext cx="6278849" cy="3114416"/>
                <a:chOff x="4753591" y="1860944"/>
                <a:chExt cx="6278849" cy="3114416"/>
              </a:xfrm>
            </p:grpSpPr>
            <p:sp>
              <p:nvSpPr>
                <p:cNvPr id="186" name="椭圆 185">
                  <a:extLst>
                    <a:ext uri="{FF2B5EF4-FFF2-40B4-BE49-F238E27FC236}">
                      <a16:creationId xmlns:a16="http://schemas.microsoft.com/office/drawing/2014/main" id="{26AABA77-927C-DF61-4759-59AB40D28959}"/>
                    </a:ext>
                  </a:extLst>
                </p:cNvPr>
                <p:cNvSpPr/>
                <p:nvPr/>
              </p:nvSpPr>
              <p:spPr>
                <a:xfrm>
                  <a:off x="7664786" y="358821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grpSp>
              <p:nvGrpSpPr>
                <p:cNvPr id="11" name="组合 10">
                  <a:extLst>
                    <a:ext uri="{FF2B5EF4-FFF2-40B4-BE49-F238E27FC236}">
                      <a16:creationId xmlns:a16="http://schemas.microsoft.com/office/drawing/2014/main" id="{C09A3C3F-FCFD-41AB-AF35-958C80CC5C81}"/>
                    </a:ext>
                  </a:extLst>
                </p:cNvPr>
                <p:cNvGrpSpPr/>
                <p:nvPr/>
              </p:nvGrpSpPr>
              <p:grpSpPr>
                <a:xfrm>
                  <a:off x="4846507" y="1860944"/>
                  <a:ext cx="6185933" cy="3114416"/>
                  <a:chOff x="5178375" y="3255712"/>
                  <a:chExt cx="6185933" cy="3114416"/>
                </a:xfrm>
              </p:grpSpPr>
              <p:grpSp>
                <p:nvGrpSpPr>
                  <p:cNvPr id="20" name="组合 19">
                    <a:extLst>
                      <a:ext uri="{FF2B5EF4-FFF2-40B4-BE49-F238E27FC236}">
                        <a16:creationId xmlns:a16="http://schemas.microsoft.com/office/drawing/2014/main" id="{9AA1BD26-5484-C348-B377-D01665137C65}"/>
                      </a:ext>
                    </a:extLst>
                  </p:cNvPr>
                  <p:cNvGrpSpPr/>
                  <p:nvPr/>
                </p:nvGrpSpPr>
                <p:grpSpPr>
                  <a:xfrm>
                    <a:off x="5178375" y="3255712"/>
                    <a:ext cx="6128442" cy="3114416"/>
                    <a:chOff x="5899542" y="1542053"/>
                    <a:chExt cx="6128442" cy="3114416"/>
                  </a:xfrm>
                </p:grpSpPr>
                <p:grpSp>
                  <p:nvGrpSpPr>
                    <p:cNvPr id="38" name="组合 37">
                      <a:extLst>
                        <a:ext uri="{FF2B5EF4-FFF2-40B4-BE49-F238E27FC236}">
                          <a16:creationId xmlns:a16="http://schemas.microsoft.com/office/drawing/2014/main" id="{F0169F53-8B54-9BDA-E3C5-2D167A2288B8}"/>
                        </a:ext>
                      </a:extLst>
                    </p:cNvPr>
                    <p:cNvGrpSpPr/>
                    <p:nvPr/>
                  </p:nvGrpSpPr>
                  <p:grpSpPr>
                    <a:xfrm>
                      <a:off x="6205672" y="2165234"/>
                      <a:ext cx="5780290" cy="1463515"/>
                      <a:chOff x="5981356" y="2148269"/>
                      <a:chExt cx="5780290" cy="1463515"/>
                    </a:xfrm>
                  </p:grpSpPr>
                  <p:sp>
                    <p:nvSpPr>
                      <p:cNvPr id="41" name="椭圆 40">
                        <a:extLst>
                          <a:ext uri="{FF2B5EF4-FFF2-40B4-BE49-F238E27FC236}">
                            <a16:creationId xmlns:a16="http://schemas.microsoft.com/office/drawing/2014/main" id="{563CEA37-1118-F175-D613-8B52130F25AE}"/>
                          </a:ext>
                        </a:extLst>
                      </p:cNvPr>
                      <p:cNvSpPr/>
                      <p:nvPr/>
                    </p:nvSpPr>
                    <p:spPr>
                      <a:xfrm>
                        <a:off x="7916826" y="2400941"/>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44" name="文本框 43">
                        <a:extLst>
                          <a:ext uri="{FF2B5EF4-FFF2-40B4-BE49-F238E27FC236}">
                            <a16:creationId xmlns:a16="http://schemas.microsoft.com/office/drawing/2014/main" id="{5FBBC4F0-4080-F30B-6E45-5C511D49E7D0}"/>
                          </a:ext>
                        </a:extLst>
                      </p:cNvPr>
                      <p:cNvSpPr txBox="1"/>
                      <p:nvPr/>
                    </p:nvSpPr>
                    <p:spPr>
                      <a:xfrm>
                        <a:off x="7406662" y="2148269"/>
                        <a:ext cx="740096" cy="362651"/>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object</a:t>
                        </a:r>
                      </a:p>
                    </p:txBody>
                  </p:sp>
                  <p:sp>
                    <p:nvSpPr>
                      <p:cNvPr id="46" name="椭圆 45">
                        <a:extLst>
                          <a:ext uri="{FF2B5EF4-FFF2-40B4-BE49-F238E27FC236}">
                            <a16:creationId xmlns:a16="http://schemas.microsoft.com/office/drawing/2014/main" id="{F18FE6BC-4812-7D90-0D2E-60123B5B3D1A}"/>
                          </a:ext>
                        </a:extLst>
                      </p:cNvPr>
                      <p:cNvSpPr/>
                      <p:nvPr/>
                    </p:nvSpPr>
                    <p:spPr>
                      <a:xfrm>
                        <a:off x="5981356" y="3253289"/>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54" name="椭圆 53">
                        <a:extLst>
                          <a:ext uri="{FF2B5EF4-FFF2-40B4-BE49-F238E27FC236}">
                            <a16:creationId xmlns:a16="http://schemas.microsoft.com/office/drawing/2014/main" id="{537B65BF-BCB5-F7CF-4B28-3CC91D38D7E2}"/>
                          </a:ext>
                        </a:extLst>
                      </p:cNvPr>
                      <p:cNvSpPr/>
                      <p:nvPr/>
                    </p:nvSpPr>
                    <p:spPr>
                      <a:xfrm>
                        <a:off x="11038515" y="326981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55" name="文本框 54">
                        <a:extLst>
                          <a:ext uri="{FF2B5EF4-FFF2-40B4-BE49-F238E27FC236}">
                            <a16:creationId xmlns:a16="http://schemas.microsoft.com/office/drawing/2014/main" id="{B84DC676-6533-5313-8BD3-743282EFC09B}"/>
                          </a:ext>
                        </a:extLst>
                      </p:cNvPr>
                      <p:cNvSpPr txBox="1"/>
                      <p:nvPr/>
                    </p:nvSpPr>
                    <p:spPr>
                      <a:xfrm>
                        <a:off x="11209771" y="3150752"/>
                        <a:ext cx="551875" cy="27316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wall</a:t>
                        </a:r>
                      </a:p>
                    </p:txBody>
                  </p:sp>
                  <p:cxnSp>
                    <p:nvCxnSpPr>
                      <p:cNvPr id="59" name="直接箭头连接符 58">
                        <a:extLst>
                          <a:ext uri="{FF2B5EF4-FFF2-40B4-BE49-F238E27FC236}">
                            <a16:creationId xmlns:a16="http://schemas.microsoft.com/office/drawing/2014/main" id="{896E71E9-F5D6-FB69-E208-392FC5C973FB}"/>
                          </a:ext>
                        </a:extLst>
                      </p:cNvPr>
                      <p:cNvCxnSpPr>
                        <a:cxnSpLocks/>
                        <a:stCxn id="41" idx="4"/>
                        <a:endCxn id="46" idx="0"/>
                      </p:cNvCxnSpPr>
                      <p:nvPr/>
                    </p:nvCxnSpPr>
                    <p:spPr>
                      <a:xfrm flipH="1">
                        <a:off x="6074339" y="2678299"/>
                        <a:ext cx="1979915" cy="57499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50" name="文本框 49">
                        <a:extLst>
                          <a:ext uri="{FF2B5EF4-FFF2-40B4-BE49-F238E27FC236}">
                            <a16:creationId xmlns:a16="http://schemas.microsoft.com/office/drawing/2014/main" id="{EC76189B-E1C8-F036-1345-60EB8A8DFED4}"/>
                          </a:ext>
                        </a:extLst>
                      </p:cNvPr>
                      <p:cNvSpPr txBox="1"/>
                      <p:nvPr/>
                    </p:nvSpPr>
                    <p:spPr>
                      <a:xfrm>
                        <a:off x="8258015" y="3343058"/>
                        <a:ext cx="673459" cy="268726"/>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sofa1</a:t>
                        </a:r>
                      </a:p>
                    </p:txBody>
                  </p:sp>
                  <p:sp>
                    <p:nvSpPr>
                      <p:cNvPr id="49" name="文本框 48">
                        <a:extLst>
                          <a:ext uri="{FF2B5EF4-FFF2-40B4-BE49-F238E27FC236}">
                            <a16:creationId xmlns:a16="http://schemas.microsoft.com/office/drawing/2014/main" id="{0B41AED7-7D1A-5076-CFFE-9FCE9A6E52E8}"/>
                          </a:ext>
                        </a:extLst>
                      </p:cNvPr>
                      <p:cNvSpPr txBox="1"/>
                      <p:nvPr/>
                    </p:nvSpPr>
                    <p:spPr>
                      <a:xfrm>
                        <a:off x="6416365" y="3321715"/>
                        <a:ext cx="643026" cy="273163"/>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sofa2</a:t>
                        </a:r>
                      </a:p>
                    </p:txBody>
                  </p:sp>
                </p:grpSp>
                <p:sp>
                  <p:nvSpPr>
                    <p:cNvPr id="39" name="矩形 38">
                      <a:extLst>
                        <a:ext uri="{FF2B5EF4-FFF2-40B4-BE49-F238E27FC236}">
                          <a16:creationId xmlns:a16="http://schemas.microsoft.com/office/drawing/2014/main" id="{1C6085F2-4F18-AAB1-9216-7EDAE58500F3}"/>
                        </a:ext>
                      </a:extLst>
                    </p:cNvPr>
                    <p:cNvSpPr/>
                    <p:nvPr/>
                  </p:nvSpPr>
                  <p:spPr>
                    <a:xfrm>
                      <a:off x="5899542" y="1542053"/>
                      <a:ext cx="6128442" cy="3114416"/>
                    </a:xfrm>
                    <a:prstGeom prst="rect">
                      <a:avLst/>
                    </a:prstGeom>
                    <a:noFill/>
                    <a:ln>
                      <a:solidFill>
                        <a:schemeClr val="accent2">
                          <a:lumMod val="20000"/>
                          <a:lumOff val="8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椭圆 20">
                    <a:extLst>
                      <a:ext uri="{FF2B5EF4-FFF2-40B4-BE49-F238E27FC236}">
                        <a16:creationId xmlns:a16="http://schemas.microsoft.com/office/drawing/2014/main" id="{15F7617B-C877-DA69-A10E-8A0C1EB4AC86}"/>
                      </a:ext>
                    </a:extLst>
                  </p:cNvPr>
                  <p:cNvSpPr/>
                  <p:nvPr/>
                </p:nvSpPr>
                <p:spPr>
                  <a:xfrm>
                    <a:off x="8790363" y="3541084"/>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25" name="文本框 24">
                    <a:extLst>
                      <a:ext uri="{FF2B5EF4-FFF2-40B4-BE49-F238E27FC236}">
                        <a16:creationId xmlns:a16="http://schemas.microsoft.com/office/drawing/2014/main" id="{06A48F72-2BBF-96A7-9D18-26DDA88ECDFA}"/>
                      </a:ext>
                    </a:extLst>
                  </p:cNvPr>
                  <p:cNvSpPr txBox="1"/>
                  <p:nvPr/>
                </p:nvSpPr>
                <p:spPr>
                  <a:xfrm>
                    <a:off x="8586730" y="3270584"/>
                    <a:ext cx="709130" cy="277358"/>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indoor</a:t>
                    </a:r>
                  </a:p>
                  <a:p>
                    <a:pPr algn="r"/>
                    <a:endParaRPr lang="en-US" altLang="zh-CN" sz="1400" b="1" dirty="0">
                      <a:latin typeface="Times New Roman" panose="02020603050405020304" charset="0"/>
                      <a:cs typeface="Times New Roman" panose="02020603050405020304" charset="0"/>
                    </a:endParaRPr>
                  </a:p>
                </p:txBody>
              </p:sp>
              <p:sp>
                <p:nvSpPr>
                  <p:cNvPr id="26" name="椭圆 25">
                    <a:extLst>
                      <a:ext uri="{FF2B5EF4-FFF2-40B4-BE49-F238E27FC236}">
                        <a16:creationId xmlns:a16="http://schemas.microsoft.com/office/drawing/2014/main" id="{38B03DFD-21CC-C7D3-FD7E-C9B44B5E89FB}"/>
                      </a:ext>
                    </a:extLst>
                  </p:cNvPr>
                  <p:cNvSpPr/>
                  <p:nvPr/>
                </p:nvSpPr>
                <p:spPr>
                  <a:xfrm>
                    <a:off x="10214872" y="4134762"/>
                    <a:ext cx="274855" cy="277358"/>
                  </a:xfrm>
                  <a:prstGeom prst="ellipse">
                    <a:avLst/>
                  </a:prstGeom>
                  <a:gradFill flip="none">
                    <a:gsLst>
                      <a:gs pos="50000">
                        <a:schemeClr val="accent2">
                          <a:alpha val="100000"/>
                        </a:schemeClr>
                      </a:gs>
                      <a:gs pos="0">
                        <a:schemeClr val="accent2">
                          <a:lumMod val="25000"/>
                          <a:lumOff val="75000"/>
                        </a:schemeClr>
                      </a:gs>
                      <a:gs pos="100000">
                        <a:schemeClr val="accent2">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auto"/>
                    <a:endParaRPr lang="zh-CN" altLang="en-US" sz="1400" strike="noStrike" noProof="1"/>
                  </a:p>
                </p:txBody>
              </p:sp>
              <p:sp>
                <p:nvSpPr>
                  <p:cNvPr id="33" name="文本框 32">
                    <a:extLst>
                      <a:ext uri="{FF2B5EF4-FFF2-40B4-BE49-F238E27FC236}">
                        <a16:creationId xmlns:a16="http://schemas.microsoft.com/office/drawing/2014/main" id="{6EA85D2F-A09C-2251-B50A-BC5613757328}"/>
                      </a:ext>
                    </a:extLst>
                  </p:cNvPr>
                  <p:cNvSpPr txBox="1"/>
                  <p:nvPr/>
                </p:nvSpPr>
                <p:spPr>
                  <a:xfrm>
                    <a:off x="10230522" y="3877228"/>
                    <a:ext cx="1133786" cy="277358"/>
                  </a:xfrm>
                  <a:prstGeom prst="rect">
                    <a:avLst/>
                  </a:prstGeom>
                  <a:noFill/>
                </p:spPr>
                <p:txBody>
                  <a:bodyPr wrap="square" rtlCol="0">
                    <a:noAutofit/>
                  </a:bodyPr>
                  <a:lstStyle/>
                  <a:p>
                    <a:pPr algn="r"/>
                    <a:r>
                      <a:rPr lang="en-US" altLang="zh-CN" sz="1400" b="1" dirty="0">
                        <a:latin typeface="Times New Roman" panose="02020603050405020304" charset="0"/>
                        <a:cs typeface="Times New Roman" panose="02020603050405020304" charset="0"/>
                      </a:rPr>
                      <a:t>background</a:t>
                    </a:r>
                  </a:p>
                </p:txBody>
              </p:sp>
              <p:cxnSp>
                <p:nvCxnSpPr>
                  <p:cNvPr id="35" name="直接箭头连接符 34">
                    <a:extLst>
                      <a:ext uri="{FF2B5EF4-FFF2-40B4-BE49-F238E27FC236}">
                        <a16:creationId xmlns:a16="http://schemas.microsoft.com/office/drawing/2014/main" id="{651C9B3F-16CA-4522-EB8C-82A882669C8F}"/>
                      </a:ext>
                    </a:extLst>
                  </p:cNvPr>
                  <p:cNvCxnSpPr>
                    <a:cxnSpLocks/>
                    <a:stCxn id="21" idx="3"/>
                    <a:endCxn id="41" idx="7"/>
                  </p:cNvCxnSpPr>
                  <p:nvPr/>
                </p:nvCxnSpPr>
                <p:spPr>
                  <a:xfrm flipH="1">
                    <a:off x="7654578" y="3777824"/>
                    <a:ext cx="1176037" cy="394359"/>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6" name="直接箭头连接符 35">
                    <a:extLst>
                      <a:ext uri="{FF2B5EF4-FFF2-40B4-BE49-F238E27FC236}">
                        <a16:creationId xmlns:a16="http://schemas.microsoft.com/office/drawing/2014/main" id="{47405403-8CBF-0AB7-6A60-F3AA4F2D9F21}"/>
                      </a:ext>
                    </a:extLst>
                  </p:cNvPr>
                  <p:cNvCxnSpPr>
                    <a:cxnSpLocks/>
                    <a:stCxn id="21" idx="5"/>
                    <a:endCxn id="26" idx="1"/>
                  </p:cNvCxnSpPr>
                  <p:nvPr/>
                </p:nvCxnSpPr>
                <p:spPr>
                  <a:xfrm>
                    <a:off x="9024966" y="3777824"/>
                    <a:ext cx="1230158" cy="39755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7" name="直接箭头连接符 36">
                    <a:extLst>
                      <a:ext uri="{FF2B5EF4-FFF2-40B4-BE49-F238E27FC236}">
                        <a16:creationId xmlns:a16="http://schemas.microsoft.com/office/drawing/2014/main" id="{CBA7ACD8-2584-AD60-DD43-95BF94854D07}"/>
                      </a:ext>
                    </a:extLst>
                  </p:cNvPr>
                  <p:cNvCxnSpPr>
                    <a:cxnSpLocks/>
                    <a:stCxn id="26" idx="5"/>
                    <a:endCxn id="54" idx="0"/>
                  </p:cNvCxnSpPr>
                  <p:nvPr/>
                </p:nvCxnSpPr>
                <p:spPr>
                  <a:xfrm>
                    <a:off x="10449475" y="4371502"/>
                    <a:ext cx="185172" cy="62893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grpSp>
            <p:sp>
              <p:nvSpPr>
                <p:cNvPr id="75" name="椭圆 74">
                  <a:extLst>
                    <a:ext uri="{FF2B5EF4-FFF2-40B4-BE49-F238E27FC236}">
                      <a16:creationId xmlns:a16="http://schemas.microsoft.com/office/drawing/2014/main" id="{6FEE2929-F5F3-9D17-41B3-0CA778C84FF8}"/>
                    </a:ext>
                  </a:extLst>
                </p:cNvPr>
                <p:cNvSpPr/>
                <p:nvPr/>
              </p:nvSpPr>
              <p:spPr>
                <a:xfrm>
                  <a:off x="9647222" y="358821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76" name="直接箭头连接符 75">
                  <a:extLst>
                    <a:ext uri="{FF2B5EF4-FFF2-40B4-BE49-F238E27FC236}">
                      <a16:creationId xmlns:a16="http://schemas.microsoft.com/office/drawing/2014/main" id="{47ECF054-ACF7-8652-51F4-C808C89B4E59}"/>
                    </a:ext>
                  </a:extLst>
                </p:cNvPr>
                <p:cNvCxnSpPr>
                  <a:cxnSpLocks/>
                  <a:stCxn id="26" idx="3"/>
                  <a:endCxn id="75" idx="0"/>
                </p:cNvCxnSpPr>
                <p:nvPr/>
              </p:nvCxnSpPr>
              <p:spPr>
                <a:xfrm flipH="1">
                  <a:off x="9740205" y="2976734"/>
                  <a:ext cx="183051" cy="61148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77" name="文本框 76">
                  <a:extLst>
                    <a:ext uri="{FF2B5EF4-FFF2-40B4-BE49-F238E27FC236}">
                      <a16:creationId xmlns:a16="http://schemas.microsoft.com/office/drawing/2014/main" id="{DBD945B9-11BF-84C8-FDD2-8A1F93E6889C}"/>
                    </a:ext>
                  </a:extLst>
                </p:cNvPr>
                <p:cNvSpPr txBox="1"/>
                <p:nvPr/>
              </p:nvSpPr>
              <p:spPr>
                <a:xfrm>
                  <a:off x="9266149" y="3681399"/>
                  <a:ext cx="851458" cy="299982"/>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window</a:t>
                  </a:r>
                </a:p>
              </p:txBody>
            </p:sp>
            <p:sp>
              <p:nvSpPr>
                <p:cNvPr id="97" name="椭圆 96">
                  <a:extLst>
                    <a:ext uri="{FF2B5EF4-FFF2-40B4-BE49-F238E27FC236}">
                      <a16:creationId xmlns:a16="http://schemas.microsoft.com/office/drawing/2014/main" id="{B71FA4AA-70F4-D4D1-2F96-DB5B3250FBCF}"/>
                    </a:ext>
                  </a:extLst>
                </p:cNvPr>
                <p:cNvSpPr/>
                <p:nvPr/>
              </p:nvSpPr>
              <p:spPr>
                <a:xfrm>
                  <a:off x="6709899" y="3588216"/>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98" name="文本框 97">
                  <a:extLst>
                    <a:ext uri="{FF2B5EF4-FFF2-40B4-BE49-F238E27FC236}">
                      <a16:creationId xmlns:a16="http://schemas.microsoft.com/office/drawing/2014/main" id="{9AD82EF6-3DD3-1083-2BBA-55D8F44425C0}"/>
                    </a:ext>
                  </a:extLst>
                </p:cNvPr>
                <p:cNvSpPr txBox="1"/>
                <p:nvPr/>
              </p:nvSpPr>
              <p:spPr>
                <a:xfrm>
                  <a:off x="6295864" y="3619013"/>
                  <a:ext cx="529240" cy="27316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man</a:t>
                  </a:r>
                </a:p>
              </p:txBody>
            </p:sp>
            <p:cxnSp>
              <p:nvCxnSpPr>
                <p:cNvPr id="99" name="直接箭头连接符 98">
                  <a:extLst>
                    <a:ext uri="{FF2B5EF4-FFF2-40B4-BE49-F238E27FC236}">
                      <a16:creationId xmlns:a16="http://schemas.microsoft.com/office/drawing/2014/main" id="{E55FD229-01DE-1D5C-5415-CE58B8FB002D}"/>
                    </a:ext>
                  </a:extLst>
                </p:cNvPr>
                <p:cNvCxnSpPr>
                  <a:cxnSpLocks/>
                  <a:stCxn id="41" idx="4"/>
                  <a:endCxn id="97" idx="0"/>
                </p:cNvCxnSpPr>
                <p:nvPr/>
              </p:nvCxnSpPr>
              <p:spPr>
                <a:xfrm flipH="1">
                  <a:off x="6802882" y="3014155"/>
                  <a:ext cx="422653" cy="57406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19" name="椭圆 118">
                  <a:extLst>
                    <a:ext uri="{FF2B5EF4-FFF2-40B4-BE49-F238E27FC236}">
                      <a16:creationId xmlns:a16="http://schemas.microsoft.com/office/drawing/2014/main" id="{0C7500A7-0318-EC92-7C87-75D1DDE58196}"/>
                    </a:ext>
                  </a:extLst>
                </p:cNvPr>
                <p:cNvSpPr/>
                <p:nvPr/>
              </p:nvSpPr>
              <p:spPr>
                <a:xfrm>
                  <a:off x="8380344" y="3575633"/>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121" name="直接箭头连接符 120">
                  <a:extLst>
                    <a:ext uri="{FF2B5EF4-FFF2-40B4-BE49-F238E27FC236}">
                      <a16:creationId xmlns:a16="http://schemas.microsoft.com/office/drawing/2014/main" id="{C66AFADD-5E68-837B-91E5-A3A58F6B1424}"/>
                    </a:ext>
                  </a:extLst>
                </p:cNvPr>
                <p:cNvCxnSpPr>
                  <a:cxnSpLocks/>
                  <a:stCxn id="41" idx="4"/>
                  <a:endCxn id="119" idx="0"/>
                </p:cNvCxnSpPr>
                <p:nvPr/>
              </p:nvCxnSpPr>
              <p:spPr>
                <a:xfrm>
                  <a:off x="7225535" y="3014155"/>
                  <a:ext cx="1247792" cy="561478"/>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69" name="椭圆 168">
                  <a:extLst>
                    <a:ext uri="{FF2B5EF4-FFF2-40B4-BE49-F238E27FC236}">
                      <a16:creationId xmlns:a16="http://schemas.microsoft.com/office/drawing/2014/main" id="{5739380C-F8E3-DF76-0F30-4E820B97B740}"/>
                    </a:ext>
                  </a:extLst>
                </p:cNvPr>
                <p:cNvSpPr/>
                <p:nvPr/>
              </p:nvSpPr>
              <p:spPr>
                <a:xfrm>
                  <a:off x="5902463" y="3576898"/>
                  <a:ext cx="185965" cy="184138"/>
                </a:xfrm>
                <a:prstGeom prst="ellipse">
                  <a:avLst/>
                </a:prstGeom>
                <a:gradFill>
                  <a:gsLst>
                    <a:gs pos="50000">
                      <a:schemeClr val="accent3"/>
                    </a:gs>
                    <a:gs pos="0">
                      <a:schemeClr val="accent3">
                        <a:lumMod val="25000"/>
                        <a:lumOff val="75000"/>
                      </a:schemeClr>
                    </a:gs>
                    <a:gs pos="100000">
                      <a:schemeClr val="accent3">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170" name="直接箭头连接符 169">
                  <a:extLst>
                    <a:ext uri="{FF2B5EF4-FFF2-40B4-BE49-F238E27FC236}">
                      <a16:creationId xmlns:a16="http://schemas.microsoft.com/office/drawing/2014/main" id="{5BFE9A15-A893-19A6-CC8C-CCF215587D19}"/>
                    </a:ext>
                  </a:extLst>
                </p:cNvPr>
                <p:cNvCxnSpPr>
                  <a:cxnSpLocks/>
                  <a:stCxn id="41" idx="4"/>
                  <a:endCxn id="169" idx="0"/>
                </p:cNvCxnSpPr>
                <p:nvPr/>
              </p:nvCxnSpPr>
              <p:spPr>
                <a:xfrm flipH="1">
                  <a:off x="5995446" y="3014155"/>
                  <a:ext cx="1230089" cy="562743"/>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188" name="直接箭头连接符 187">
                  <a:extLst>
                    <a:ext uri="{FF2B5EF4-FFF2-40B4-BE49-F238E27FC236}">
                      <a16:creationId xmlns:a16="http://schemas.microsoft.com/office/drawing/2014/main" id="{F9899796-C202-936F-2C9C-00D22851AE43}"/>
                    </a:ext>
                  </a:extLst>
                </p:cNvPr>
                <p:cNvCxnSpPr>
                  <a:cxnSpLocks/>
                  <a:stCxn id="41" idx="4"/>
                  <a:endCxn id="186" idx="0"/>
                </p:cNvCxnSpPr>
                <p:nvPr/>
              </p:nvCxnSpPr>
              <p:spPr>
                <a:xfrm>
                  <a:off x="7225535" y="3014155"/>
                  <a:ext cx="532234" cy="574061"/>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68" name="文本框 167">
                  <a:extLst>
                    <a:ext uri="{FF2B5EF4-FFF2-40B4-BE49-F238E27FC236}">
                      <a16:creationId xmlns:a16="http://schemas.microsoft.com/office/drawing/2014/main" id="{DC7EAAD1-8A5A-3DD0-2507-F869A5468873}"/>
                    </a:ext>
                  </a:extLst>
                </p:cNvPr>
                <p:cNvSpPr txBox="1"/>
                <p:nvPr/>
              </p:nvSpPr>
              <p:spPr>
                <a:xfrm>
                  <a:off x="4753591" y="3360757"/>
                  <a:ext cx="636529" cy="273163"/>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table</a:t>
                  </a:r>
                </a:p>
              </p:txBody>
            </p:sp>
            <p:sp>
              <p:nvSpPr>
                <p:cNvPr id="187" name="文本框 186">
                  <a:extLst>
                    <a:ext uri="{FF2B5EF4-FFF2-40B4-BE49-F238E27FC236}">
                      <a16:creationId xmlns:a16="http://schemas.microsoft.com/office/drawing/2014/main" id="{E444D1F5-B042-D637-4130-735B4780A6E9}"/>
                    </a:ext>
                  </a:extLst>
                </p:cNvPr>
                <p:cNvSpPr txBox="1"/>
                <p:nvPr/>
              </p:nvSpPr>
              <p:spPr>
                <a:xfrm>
                  <a:off x="8063116" y="3667702"/>
                  <a:ext cx="980993" cy="268726"/>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paintings</a:t>
                  </a:r>
                </a:p>
              </p:txBody>
            </p:sp>
          </p:grpSp>
          <p:cxnSp>
            <p:nvCxnSpPr>
              <p:cNvPr id="335" name="直接箭头连接符 334">
                <a:extLst>
                  <a:ext uri="{FF2B5EF4-FFF2-40B4-BE49-F238E27FC236}">
                    <a16:creationId xmlns:a16="http://schemas.microsoft.com/office/drawing/2014/main" id="{C0EF1D81-1DCA-ACA4-7ACE-6790CF2BF671}"/>
                  </a:ext>
                </a:extLst>
              </p:cNvPr>
              <p:cNvCxnSpPr>
                <a:cxnSpLocks/>
                <a:stCxn id="119" idx="6"/>
                <a:endCxn id="75" idx="2"/>
              </p:cNvCxnSpPr>
              <p:nvPr/>
            </p:nvCxnSpPr>
            <p:spPr>
              <a:xfrm>
                <a:off x="8638369" y="3664075"/>
                <a:ext cx="1080913" cy="12583"/>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cxnSp>
            <p:nvCxnSpPr>
              <p:cNvPr id="339" name="直接箭头连接符 338">
                <a:extLst>
                  <a:ext uri="{FF2B5EF4-FFF2-40B4-BE49-F238E27FC236}">
                    <a16:creationId xmlns:a16="http://schemas.microsoft.com/office/drawing/2014/main" id="{45E7F277-F25E-719A-941F-F6332D66C58F}"/>
                  </a:ext>
                </a:extLst>
              </p:cNvPr>
              <p:cNvCxnSpPr>
                <a:cxnSpLocks/>
                <a:stCxn id="97" idx="6"/>
                <a:endCxn id="186" idx="2"/>
              </p:cNvCxnSpPr>
              <p:nvPr/>
            </p:nvCxnSpPr>
            <p:spPr>
              <a:xfrm>
                <a:off x="6967924" y="3676658"/>
                <a:ext cx="768922" cy="0"/>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346" name="文本框 345">
                <a:extLst>
                  <a:ext uri="{FF2B5EF4-FFF2-40B4-BE49-F238E27FC236}">
                    <a16:creationId xmlns:a16="http://schemas.microsoft.com/office/drawing/2014/main" id="{C5F3DF55-0371-A203-14BD-C8B57EC47CB5}"/>
                  </a:ext>
                </a:extLst>
              </p:cNvPr>
              <p:cNvSpPr txBox="1"/>
              <p:nvPr/>
            </p:nvSpPr>
            <p:spPr>
              <a:xfrm>
                <a:off x="6908981" y="3440991"/>
                <a:ext cx="83061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sitting on</a:t>
                </a:r>
                <a:endParaRPr lang="zh-CN" altLang="en-US" sz="1200" dirty="0">
                  <a:latin typeface="Times New Roman" panose="02020603050405020304" pitchFamily="18" charset="0"/>
                  <a:cs typeface="Times New Roman" panose="02020603050405020304" pitchFamily="18" charset="0"/>
                </a:endParaRPr>
              </a:p>
            </p:txBody>
          </p:sp>
          <p:sp>
            <p:nvSpPr>
              <p:cNvPr id="345" name="文本框 344">
                <a:extLst>
                  <a:ext uri="{FF2B5EF4-FFF2-40B4-BE49-F238E27FC236}">
                    <a16:creationId xmlns:a16="http://schemas.microsoft.com/office/drawing/2014/main" id="{3E8D5506-1BAF-4566-EA63-27DAA7770BF3}"/>
                  </a:ext>
                </a:extLst>
              </p:cNvPr>
              <p:cNvSpPr txBox="1"/>
              <p:nvPr/>
            </p:nvSpPr>
            <p:spPr>
              <a:xfrm>
                <a:off x="8829288" y="3440991"/>
                <a:ext cx="699075"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next to</a:t>
                </a:r>
              </a:p>
            </p:txBody>
          </p:sp>
        </p:grpSp>
        <p:sp>
          <p:nvSpPr>
            <p:cNvPr id="10" name="椭圆 9">
              <a:extLst>
                <a:ext uri="{FF2B5EF4-FFF2-40B4-BE49-F238E27FC236}">
                  <a16:creationId xmlns:a16="http://schemas.microsoft.com/office/drawing/2014/main" id="{896BDEEA-6B17-6E9C-3EB0-A29C3B78B2BA}"/>
                </a:ext>
              </a:extLst>
            </p:cNvPr>
            <p:cNvSpPr/>
            <p:nvPr/>
          </p:nvSpPr>
          <p:spPr>
            <a:xfrm>
              <a:off x="6413668" y="435524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12" name="文本框 11">
              <a:extLst>
                <a:ext uri="{FF2B5EF4-FFF2-40B4-BE49-F238E27FC236}">
                  <a16:creationId xmlns:a16="http://schemas.microsoft.com/office/drawing/2014/main" id="{42E2AC3E-24D3-B007-79A1-1E3DC5411C2A}"/>
                </a:ext>
              </a:extLst>
            </p:cNvPr>
            <p:cNvSpPr txBox="1"/>
            <p:nvPr/>
          </p:nvSpPr>
          <p:spPr>
            <a:xfrm>
              <a:off x="5224968" y="4398223"/>
              <a:ext cx="524589" cy="221187"/>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cup</a:t>
              </a:r>
            </a:p>
          </p:txBody>
        </p:sp>
        <p:cxnSp>
          <p:nvCxnSpPr>
            <p:cNvPr id="14" name="直接箭头连接符 13">
              <a:extLst>
                <a:ext uri="{FF2B5EF4-FFF2-40B4-BE49-F238E27FC236}">
                  <a16:creationId xmlns:a16="http://schemas.microsoft.com/office/drawing/2014/main" id="{425AFE4C-8080-AF30-6ABA-9AA13D09D0E6}"/>
                </a:ext>
              </a:extLst>
            </p:cNvPr>
            <p:cNvCxnSpPr>
              <a:cxnSpLocks/>
              <a:stCxn id="97" idx="4"/>
              <a:endCxn id="10" idx="0"/>
            </p:cNvCxnSpPr>
            <p:nvPr/>
          </p:nvCxnSpPr>
          <p:spPr>
            <a:xfrm flipH="1">
              <a:off x="6484429" y="3613138"/>
              <a:ext cx="586479" cy="74210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5" name="文本框 14">
              <a:extLst>
                <a:ext uri="{FF2B5EF4-FFF2-40B4-BE49-F238E27FC236}">
                  <a16:creationId xmlns:a16="http://schemas.microsoft.com/office/drawing/2014/main" id="{E947EF0C-975E-33BC-60E2-0E9A285B0F28}"/>
                </a:ext>
              </a:extLst>
            </p:cNvPr>
            <p:cNvSpPr txBox="1"/>
            <p:nvPr/>
          </p:nvSpPr>
          <p:spPr>
            <a:xfrm>
              <a:off x="5456096" y="3726277"/>
              <a:ext cx="67345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support</a:t>
              </a:r>
              <a:endParaRPr lang="zh-CN" altLang="en-US" sz="1200" dirty="0">
                <a:latin typeface="Times New Roman" panose="02020603050405020304" pitchFamily="18" charset="0"/>
                <a:cs typeface="Times New Roman" panose="02020603050405020304" pitchFamily="18" charset="0"/>
              </a:endParaRPr>
            </a:p>
          </p:txBody>
        </p:sp>
        <p:cxnSp>
          <p:nvCxnSpPr>
            <p:cNvPr id="66" name="直接箭头连接符 65">
              <a:extLst>
                <a:ext uri="{FF2B5EF4-FFF2-40B4-BE49-F238E27FC236}">
                  <a16:creationId xmlns:a16="http://schemas.microsoft.com/office/drawing/2014/main" id="{00EA26C7-ECFA-7B63-E6F4-449AC2E7C565}"/>
                </a:ext>
              </a:extLst>
            </p:cNvPr>
            <p:cNvCxnSpPr>
              <a:cxnSpLocks/>
              <a:stCxn id="97" idx="4"/>
              <a:endCxn id="70" idx="0"/>
            </p:cNvCxnSpPr>
            <p:nvPr/>
          </p:nvCxnSpPr>
          <p:spPr>
            <a:xfrm>
              <a:off x="7070908" y="3613138"/>
              <a:ext cx="633674" cy="738862"/>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69" name="椭圆 68">
              <a:extLst>
                <a:ext uri="{FF2B5EF4-FFF2-40B4-BE49-F238E27FC236}">
                  <a16:creationId xmlns:a16="http://schemas.microsoft.com/office/drawing/2014/main" id="{B05E38CB-71C7-DA71-94E5-9064C599E53D}"/>
                </a:ext>
              </a:extLst>
            </p:cNvPr>
            <p:cNvSpPr/>
            <p:nvPr/>
          </p:nvSpPr>
          <p:spPr>
            <a:xfrm>
              <a:off x="5435712" y="4359643"/>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sp>
          <p:nvSpPr>
            <p:cNvPr id="70" name="椭圆 69">
              <a:extLst>
                <a:ext uri="{FF2B5EF4-FFF2-40B4-BE49-F238E27FC236}">
                  <a16:creationId xmlns:a16="http://schemas.microsoft.com/office/drawing/2014/main" id="{178FCE84-5AEF-9334-67CB-700C51225959}"/>
                </a:ext>
              </a:extLst>
            </p:cNvPr>
            <p:cNvSpPr/>
            <p:nvPr/>
          </p:nvSpPr>
          <p:spPr>
            <a:xfrm>
              <a:off x="7633821" y="4352000"/>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83" name="直接箭头连接符 82">
              <a:extLst>
                <a:ext uri="{FF2B5EF4-FFF2-40B4-BE49-F238E27FC236}">
                  <a16:creationId xmlns:a16="http://schemas.microsoft.com/office/drawing/2014/main" id="{B4B9A8C5-F511-2FB6-4C70-F771EA4492B0}"/>
                </a:ext>
              </a:extLst>
            </p:cNvPr>
            <p:cNvCxnSpPr>
              <a:cxnSpLocks/>
              <a:stCxn id="46" idx="4"/>
              <a:endCxn id="69" idx="0"/>
            </p:cNvCxnSpPr>
            <p:nvPr/>
          </p:nvCxnSpPr>
          <p:spPr>
            <a:xfrm flipH="1">
              <a:off x="5506473" y="3614067"/>
              <a:ext cx="7173" cy="745576"/>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88" name="文本框 87">
              <a:extLst>
                <a:ext uri="{FF2B5EF4-FFF2-40B4-BE49-F238E27FC236}">
                  <a16:creationId xmlns:a16="http://schemas.microsoft.com/office/drawing/2014/main" id="{DF867CD9-D7AA-188F-4D92-D939B06D48BF}"/>
                </a:ext>
              </a:extLst>
            </p:cNvPr>
            <p:cNvSpPr txBox="1"/>
            <p:nvPr/>
          </p:nvSpPr>
          <p:spPr>
            <a:xfrm flipH="1">
              <a:off x="6792177" y="4405055"/>
              <a:ext cx="669662" cy="159777"/>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beer</a:t>
              </a:r>
            </a:p>
          </p:txBody>
        </p:sp>
        <p:sp>
          <p:nvSpPr>
            <p:cNvPr id="89" name="文本框 88">
              <a:extLst>
                <a:ext uri="{FF2B5EF4-FFF2-40B4-BE49-F238E27FC236}">
                  <a16:creationId xmlns:a16="http://schemas.microsoft.com/office/drawing/2014/main" id="{4BB3A649-4208-19B4-47BF-8B19E6C7F061}"/>
                </a:ext>
              </a:extLst>
            </p:cNvPr>
            <p:cNvSpPr txBox="1"/>
            <p:nvPr/>
          </p:nvSpPr>
          <p:spPr>
            <a:xfrm>
              <a:off x="7451232" y="4397473"/>
              <a:ext cx="1381777" cy="141556"/>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remote control</a:t>
              </a:r>
            </a:p>
          </p:txBody>
        </p:sp>
        <p:sp>
          <p:nvSpPr>
            <p:cNvPr id="90" name="文本框 89">
              <a:extLst>
                <a:ext uri="{FF2B5EF4-FFF2-40B4-BE49-F238E27FC236}">
                  <a16:creationId xmlns:a16="http://schemas.microsoft.com/office/drawing/2014/main" id="{7EA57849-45DE-8597-C82E-7FBA467FE395}"/>
                </a:ext>
              </a:extLst>
            </p:cNvPr>
            <p:cNvSpPr txBox="1"/>
            <p:nvPr/>
          </p:nvSpPr>
          <p:spPr>
            <a:xfrm>
              <a:off x="7000148" y="3915928"/>
              <a:ext cx="673458"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holding</a:t>
              </a:r>
              <a:endParaRPr lang="zh-CN" altLang="en-US" sz="1200" dirty="0">
                <a:latin typeface="Times New Roman" panose="02020603050405020304" pitchFamily="18" charset="0"/>
                <a:cs typeface="Times New Roman" panose="02020603050405020304" pitchFamily="18" charset="0"/>
              </a:endParaRPr>
            </a:p>
          </p:txBody>
        </p:sp>
        <p:sp>
          <p:nvSpPr>
            <p:cNvPr id="102" name="文本框 101">
              <a:extLst>
                <a:ext uri="{FF2B5EF4-FFF2-40B4-BE49-F238E27FC236}">
                  <a16:creationId xmlns:a16="http://schemas.microsoft.com/office/drawing/2014/main" id="{936F3AC7-6555-63D3-C5E4-49A651F2956B}"/>
                </a:ext>
              </a:extLst>
            </p:cNvPr>
            <p:cNvSpPr txBox="1"/>
            <p:nvPr/>
          </p:nvSpPr>
          <p:spPr>
            <a:xfrm>
              <a:off x="8960256" y="2693157"/>
              <a:ext cx="950276"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hanging on</a:t>
              </a:r>
            </a:p>
          </p:txBody>
        </p:sp>
        <p:sp>
          <p:nvSpPr>
            <p:cNvPr id="109" name="椭圆 108">
              <a:extLst>
                <a:ext uri="{FF2B5EF4-FFF2-40B4-BE49-F238E27FC236}">
                  <a16:creationId xmlns:a16="http://schemas.microsoft.com/office/drawing/2014/main" id="{A180B7DE-2966-F99F-7648-EDDC1C6B1006}"/>
                </a:ext>
              </a:extLst>
            </p:cNvPr>
            <p:cNvSpPr/>
            <p:nvPr/>
          </p:nvSpPr>
          <p:spPr>
            <a:xfrm>
              <a:off x="7016883" y="4359643"/>
              <a:ext cx="141521" cy="141556"/>
            </a:xfrm>
            <a:prstGeom prst="ellipse">
              <a:avLst/>
            </a:prstGeom>
            <a:gradFill>
              <a:gsLst>
                <a:gs pos="50000">
                  <a:schemeClr val="accent4"/>
                </a:gs>
                <a:gs pos="0">
                  <a:schemeClr val="accent4">
                    <a:lumMod val="25000"/>
                    <a:lumOff val="75000"/>
                  </a:schemeClr>
                </a:gs>
                <a:gs pos="100000">
                  <a:schemeClr val="accent4">
                    <a:lumMod val="85000"/>
                  </a:schemeClr>
                </a:gs>
              </a:gsLst>
              <a:path path="circle">
                <a:fillToRect l="50000" t="50000" r="50000" b="50000"/>
              </a:path>
              <a:tileRect/>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fontAlgn="auto">
                <a:buClrTx/>
                <a:buSzTx/>
                <a:buFontTx/>
              </a:pPr>
              <a:endParaRPr lang="zh-CN" altLang="en-US" sz="2000" strike="noStrike" noProof="1">
                <a:sym typeface="+mn-ea"/>
              </a:endParaRPr>
            </a:p>
          </p:txBody>
        </p:sp>
        <p:cxnSp>
          <p:nvCxnSpPr>
            <p:cNvPr id="110" name="直接箭头连接符 109">
              <a:extLst>
                <a:ext uri="{FF2B5EF4-FFF2-40B4-BE49-F238E27FC236}">
                  <a16:creationId xmlns:a16="http://schemas.microsoft.com/office/drawing/2014/main" id="{D46A6993-D738-BEB7-9566-79ECB97C6D62}"/>
                </a:ext>
              </a:extLst>
            </p:cNvPr>
            <p:cNvCxnSpPr>
              <a:cxnSpLocks/>
              <a:stCxn id="97" idx="4"/>
              <a:endCxn id="109" idx="0"/>
            </p:cNvCxnSpPr>
            <p:nvPr/>
          </p:nvCxnSpPr>
          <p:spPr>
            <a:xfrm>
              <a:off x="7070908" y="3613138"/>
              <a:ext cx="16736" cy="746505"/>
            </a:xfrm>
            <a:prstGeom prst="straightConnector1">
              <a:avLst/>
            </a:prstGeom>
            <a:ln>
              <a:solidFill>
                <a:schemeClr val="tx1"/>
              </a:solidFill>
              <a:tailEnd type="triangle"/>
            </a:ln>
          </p:spPr>
          <p:style>
            <a:lnRef idx="1">
              <a:schemeClr val="accent3"/>
            </a:lnRef>
            <a:fillRef idx="0">
              <a:schemeClr val="accent3"/>
            </a:fillRef>
            <a:effectRef idx="0">
              <a:schemeClr val="accent3"/>
            </a:effectRef>
            <a:fontRef idx="minor">
              <a:schemeClr val="tx1"/>
            </a:fontRef>
          </p:style>
        </p:cxnSp>
        <p:sp>
          <p:nvSpPr>
            <p:cNvPr id="111" name="文本框 110">
              <a:extLst>
                <a:ext uri="{FF2B5EF4-FFF2-40B4-BE49-F238E27FC236}">
                  <a16:creationId xmlns:a16="http://schemas.microsoft.com/office/drawing/2014/main" id="{69025E3C-F7AF-9985-6B27-D7754022D434}"/>
                </a:ext>
              </a:extLst>
            </p:cNvPr>
            <p:cNvSpPr txBox="1"/>
            <p:nvPr/>
          </p:nvSpPr>
          <p:spPr>
            <a:xfrm flipH="1">
              <a:off x="5925870" y="4412885"/>
              <a:ext cx="941414" cy="221187"/>
            </a:xfrm>
            <a:prstGeom prst="rect">
              <a:avLst/>
            </a:prstGeom>
            <a:noFill/>
          </p:spPr>
          <p:txBody>
            <a:bodyPr wrap="square" rtlCol="0">
              <a:noAutofit/>
            </a:bodyPr>
            <a:lstStyle/>
            <a:p>
              <a:pPr algn="ctr"/>
              <a:r>
                <a:rPr lang="en-US" altLang="zh-CN" sz="1400" b="1" dirty="0">
                  <a:latin typeface="Times New Roman" panose="02020603050405020304" charset="0"/>
                  <a:cs typeface="Times New Roman" panose="02020603050405020304" charset="0"/>
                </a:rPr>
                <a:t>eyeglass</a:t>
              </a:r>
            </a:p>
          </p:txBody>
        </p:sp>
        <p:sp>
          <p:nvSpPr>
            <p:cNvPr id="115" name="文本框 114">
              <a:extLst>
                <a:ext uri="{FF2B5EF4-FFF2-40B4-BE49-F238E27FC236}">
                  <a16:creationId xmlns:a16="http://schemas.microsoft.com/office/drawing/2014/main" id="{CFA2DEC2-C6FA-5279-94D6-816644AA31FB}"/>
                </a:ext>
              </a:extLst>
            </p:cNvPr>
            <p:cNvSpPr txBox="1"/>
            <p:nvPr/>
          </p:nvSpPr>
          <p:spPr>
            <a:xfrm>
              <a:off x="6155052" y="3845486"/>
              <a:ext cx="774336"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wearing</a:t>
              </a:r>
              <a:endParaRPr lang="zh-CN" altLang="en-US" sz="1200" dirty="0">
                <a:latin typeface="Times New Roman" panose="02020603050405020304" pitchFamily="18" charset="0"/>
                <a:cs typeface="Times New Roman" panose="02020603050405020304" pitchFamily="18" charset="0"/>
              </a:endParaRPr>
            </a:p>
          </p:txBody>
        </p:sp>
        <p:sp>
          <p:nvSpPr>
            <p:cNvPr id="117" name="任意多边形: 形状 116">
              <a:extLst>
                <a:ext uri="{FF2B5EF4-FFF2-40B4-BE49-F238E27FC236}">
                  <a16:creationId xmlns:a16="http://schemas.microsoft.com/office/drawing/2014/main" id="{5B4AE2B2-EC41-061A-CE64-AC825EC4D273}"/>
                </a:ext>
              </a:extLst>
            </p:cNvPr>
            <p:cNvSpPr/>
            <p:nvPr/>
          </p:nvSpPr>
          <p:spPr>
            <a:xfrm>
              <a:off x="8753856" y="3602736"/>
              <a:ext cx="1828800" cy="548712"/>
            </a:xfrm>
            <a:custGeom>
              <a:avLst/>
              <a:gdLst>
                <a:gd name="connsiteX0" fmla="*/ 0 w 1828800"/>
                <a:gd name="connsiteY0" fmla="*/ 0 h 548712"/>
                <a:gd name="connsiteX1" fmla="*/ 359664 w 1828800"/>
                <a:gd name="connsiteY1" fmla="*/ 548640 h 548712"/>
                <a:gd name="connsiteX2" fmla="*/ 1828800 w 1828800"/>
                <a:gd name="connsiteY2" fmla="*/ 30480 h 548712"/>
              </a:gdLst>
              <a:ahLst/>
              <a:cxnLst>
                <a:cxn ang="0">
                  <a:pos x="connsiteX0" y="connsiteY0"/>
                </a:cxn>
                <a:cxn ang="0">
                  <a:pos x="connsiteX1" y="connsiteY1"/>
                </a:cxn>
                <a:cxn ang="0">
                  <a:pos x="connsiteX2" y="connsiteY2"/>
                </a:cxn>
              </a:cxnLst>
              <a:rect l="l" t="t" r="r" b="b"/>
              <a:pathLst>
                <a:path w="1828800" h="548712">
                  <a:moveTo>
                    <a:pt x="0" y="0"/>
                  </a:moveTo>
                  <a:cubicBezTo>
                    <a:pt x="27432" y="271780"/>
                    <a:pt x="54864" y="543560"/>
                    <a:pt x="359664" y="548640"/>
                  </a:cubicBezTo>
                  <a:cubicBezTo>
                    <a:pt x="664464" y="553720"/>
                    <a:pt x="1246632" y="292100"/>
                    <a:pt x="1828800" y="30480"/>
                  </a:cubicBezTo>
                </a:path>
              </a:pathLst>
            </a:cu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1334961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E350-8208-EE9C-6356-D38FBE1C6C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A8FFCC1-1D9C-EBC3-7CEB-B1A6A0815FA4}"/>
              </a:ext>
            </a:extLst>
          </p:cNvPr>
          <p:cNvSpPr>
            <a:spLocks noGrp="1"/>
          </p:cNvSpPr>
          <p:nvPr>
            <p:ph type="ctrTitle"/>
          </p:nvPr>
        </p:nvSpPr>
        <p:spPr>
          <a:xfrm>
            <a:off x="1415480" y="2564904"/>
            <a:ext cx="8712968" cy="2426206"/>
          </a:xfrm>
        </p:spPr>
        <p:txBody>
          <a:bodyPr>
            <a:noAutofit/>
          </a:bodyPr>
          <a:lstStyle/>
          <a:p>
            <a:pPr>
              <a:lnSpc>
                <a:spcPct val="200000"/>
              </a:lnSpc>
            </a:pPr>
            <a:r>
              <a:rPr lang="zh-CN" altLang="en-US" sz="4400" b="1" dirty="0">
                <a:latin typeface="微软雅黑" panose="020B0503020204020204" charset="-122"/>
                <a:ea typeface="微软雅黑" panose="020B0503020204020204" charset="-122"/>
              </a:rPr>
              <a:t>谢谢观看</a:t>
            </a:r>
            <a:br>
              <a:rPr lang="en-US" altLang="zh-CN" sz="4400" b="1" dirty="0">
                <a:latin typeface="微软雅黑" panose="020B0503020204020204" charset="-122"/>
                <a:ea typeface="微软雅黑" panose="020B0503020204020204" charset="-122"/>
              </a:rPr>
            </a:br>
            <a:endParaRPr lang="zh-CN" altLang="en-US" sz="4400" b="1" dirty="0">
              <a:solidFill>
                <a:srgbClr val="C00000"/>
              </a:solidFill>
              <a:latin typeface="微软雅黑" panose="020B0503020204020204" charset="-122"/>
              <a:ea typeface="微软雅黑" panose="020B0503020204020204" charset="-122"/>
            </a:endParaRPr>
          </a:p>
        </p:txBody>
      </p:sp>
      <p:sp>
        <p:nvSpPr>
          <p:cNvPr id="4" name="灯片编号占位符 1">
            <a:extLst>
              <a:ext uri="{FF2B5EF4-FFF2-40B4-BE49-F238E27FC236}">
                <a16:creationId xmlns:a16="http://schemas.microsoft.com/office/drawing/2014/main" id="{D3564372-7CBC-2448-CD9B-C072BC4B6375}"/>
              </a:ext>
            </a:extLst>
          </p:cNvPr>
          <p:cNvSpPr>
            <a:spLocks noGrp="1"/>
          </p:cNvSpPr>
          <p:nvPr>
            <p:ph type="sldNum" sz="quarter" idx="12"/>
          </p:nvPr>
        </p:nvSpPr>
        <p:spPr>
          <a:xfrm>
            <a:off x="8077200" y="6356355"/>
            <a:ext cx="2133600" cy="365125"/>
          </a:xfrm>
        </p:spPr>
        <p:txBody>
          <a:bodyPr/>
          <a:lstStyle/>
          <a:p>
            <a:fld id="{0C913308-F349-4B6D-A68A-DD1791B4A57B}" type="slidenum">
              <a:rPr lang="zh-CN" altLang="en-US" smtClean="0">
                <a:solidFill>
                  <a:prstClr val="black">
                    <a:tint val="75000"/>
                  </a:prstClr>
                </a:solidFill>
                <a:latin typeface="微软雅黑" panose="020B0503020204020204" charset="-122"/>
                <a:ea typeface="微软雅黑" panose="020B0503020204020204" charset="-122"/>
              </a:rPr>
              <a:t>13</a:t>
            </a:fld>
            <a:endParaRPr lang="zh-CN" altLang="en-US" dirty="0">
              <a:solidFill>
                <a:prstClr val="black">
                  <a:tint val="75000"/>
                </a:prstClr>
              </a:solidFill>
              <a:latin typeface="微软雅黑" panose="020B0503020204020204" charset="-122"/>
              <a:ea typeface="微软雅黑" panose="020B0503020204020204" charset="-122"/>
            </a:endParaRPr>
          </a:p>
        </p:txBody>
      </p:sp>
      <p:sp>
        <p:nvSpPr>
          <p:cNvPr id="5" name="矩形 4">
            <a:extLst>
              <a:ext uri="{FF2B5EF4-FFF2-40B4-BE49-F238E27FC236}">
                <a16:creationId xmlns:a16="http://schemas.microsoft.com/office/drawing/2014/main" id="{081CE3EF-D1AD-54BC-F54F-2A43CEB11975}"/>
              </a:ext>
            </a:extLst>
          </p:cNvPr>
          <p:cNvSpPr/>
          <p:nvPr/>
        </p:nvSpPr>
        <p:spPr>
          <a:xfrm>
            <a:off x="0" y="6444044"/>
            <a:ext cx="12192000" cy="413956"/>
          </a:xfrm>
          <a:prstGeom prst="rect">
            <a:avLst/>
          </a:prstGeom>
          <a:solidFill>
            <a:srgbClr val="BA40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7" name="文本框 6">
            <a:extLst>
              <a:ext uri="{FF2B5EF4-FFF2-40B4-BE49-F238E27FC236}">
                <a16:creationId xmlns:a16="http://schemas.microsoft.com/office/drawing/2014/main" id="{FA590A4C-ECE4-858A-E9ED-2369D6A38314}"/>
              </a:ext>
            </a:extLst>
          </p:cNvPr>
          <p:cNvSpPr txBox="1"/>
          <p:nvPr/>
        </p:nvSpPr>
        <p:spPr>
          <a:xfrm>
            <a:off x="4003948" y="6484176"/>
            <a:ext cx="3715430" cy="368300"/>
          </a:xfrm>
          <a:prstGeom prst="rect">
            <a:avLst/>
          </a:prstGeom>
          <a:noFill/>
        </p:spPr>
        <p:txBody>
          <a:bodyPr wrap="square" rtlCol="0">
            <a:spAutoFit/>
          </a:bodyPr>
          <a:lstStyle/>
          <a:p>
            <a:pPr algn="ctr"/>
            <a:r>
              <a:rPr lang="zh-CN" altLang="en-US" b="1" dirty="0">
                <a:solidFill>
                  <a:schemeClr val="bg1"/>
                </a:solidFill>
                <a:latin typeface="微软雅黑" panose="020B0503020204020204" charset="-122"/>
                <a:ea typeface="微软雅黑" panose="020B0503020204020204" charset="-122"/>
              </a:rPr>
              <a:t>西安电子科技大学广州研究院</a:t>
            </a:r>
          </a:p>
        </p:txBody>
      </p:sp>
      <p:sp>
        <p:nvSpPr>
          <p:cNvPr id="6" name="日期占位符 5">
            <a:extLst>
              <a:ext uri="{FF2B5EF4-FFF2-40B4-BE49-F238E27FC236}">
                <a16:creationId xmlns:a16="http://schemas.microsoft.com/office/drawing/2014/main" id="{6CE7E292-5EBA-33FC-AA94-933705DA7AD7}"/>
              </a:ext>
            </a:extLst>
          </p:cNvPr>
          <p:cNvSpPr>
            <a:spLocks noGrp="1"/>
          </p:cNvSpPr>
          <p:nvPr>
            <p:ph type="dt" sz="half" idx="10"/>
          </p:nvPr>
        </p:nvSpPr>
        <p:spPr/>
        <p:txBody>
          <a:bodyPr/>
          <a:lstStyle/>
          <a:p>
            <a:fld id="{D7C9EA45-5445-EC41-B3BF-9FA454E966C9}" type="datetime1">
              <a:rPr lang="zh-CN" altLang="en-US" smtClean="0"/>
              <a:t>2025/8/11</a:t>
            </a:fld>
            <a:endParaRPr lang="zh-CN" altLang="en-US"/>
          </a:p>
        </p:txBody>
      </p:sp>
    </p:spTree>
    <p:extLst>
      <p:ext uri="{BB962C8B-B14F-4D97-AF65-F5344CB8AC3E}">
        <p14:creationId xmlns:p14="http://schemas.microsoft.com/office/powerpoint/2010/main" val="29507520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Y0OWQyYTMyOTcwYjQ3YThmMmM5NzViY2IwYmU5YzQifQ=="/>
  <p:tag name="KSO_WPP_MARK_KEY" val="89ff04a7-6394-4f1d-9427-f913765f578f"/>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10013</TotalTime>
  <Words>2472</Words>
  <Application>Microsoft Office PowerPoint</Application>
  <PresentationFormat>宽屏</PresentationFormat>
  <Paragraphs>253</Paragraphs>
  <Slides>13</Slides>
  <Notes>13</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13</vt:i4>
      </vt:variant>
    </vt:vector>
  </HeadingPairs>
  <TitlesOfParts>
    <vt:vector size="25" baseType="lpstr">
      <vt:lpstr>Qualcomm Office Regular</vt:lpstr>
      <vt:lpstr>Microsoft YaHei</vt:lpstr>
      <vt:lpstr>Microsoft YaHei</vt:lpstr>
      <vt:lpstr>Arial</vt:lpstr>
      <vt:lpstr>Calibri</vt:lpstr>
      <vt:lpstr>Calibri Light</vt:lpstr>
      <vt:lpstr>Times New Roman</vt:lpstr>
      <vt:lpstr>Wingdings</vt:lpstr>
      <vt:lpstr>1_Office 主题</vt:lpstr>
      <vt:lpstr>2_Office 主题</vt:lpstr>
      <vt:lpstr>3_Office 主题</vt:lpstr>
      <vt:lpstr>4_Office 主题</vt:lpstr>
      <vt:lpstr>视觉场景图生成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dc:creator>
  <cp:lastModifiedBy>晋瑶 周</cp:lastModifiedBy>
  <cp:revision>1720</cp:revision>
  <dcterms:created xsi:type="dcterms:W3CDTF">2014-10-06T02:03:00Z</dcterms:created>
  <dcterms:modified xsi:type="dcterms:W3CDTF">2025-08-11T02:23:11Z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4F29A1F9DBCB45458DFC1F9114D2D22B_13</vt:lpwstr>
  </property>
</Properties>
</file>